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Lovelo" charset="1" panose="02000000000000000000"/>
      <p:regular r:id="rId44"/>
    </p:embeddedFont>
    <p:embeddedFont>
      <p:font typeface="Montserrat Bold" charset="1" panose="00000800000000000000"/>
      <p:regular r:id="rId45"/>
    </p:embeddedFont>
    <p:embeddedFont>
      <p:font typeface="Montserrat" charset="1" panose="0000050000000000000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notesMasters/notesMaster1.xml" Type="http://schemas.openxmlformats.org/officeDocument/2006/relationships/notesMaster"/><Relationship Id="rId42" Target="theme/theme2.xml" Type="http://schemas.openxmlformats.org/officeDocument/2006/relationships/theme"/><Relationship Id="rId43" Target="notesSlides/notesSlide1.xml" Type="http://schemas.openxmlformats.org/officeDocument/2006/relationships/notesSlide"/><Relationship Id="rId44" Target="fonts/font44.fntdata" Type="http://schemas.openxmlformats.org/officeDocument/2006/relationships/font"/><Relationship Id="rId45" Target="fonts/font45.fntdata" Type="http://schemas.openxmlformats.org/officeDocument/2006/relationships/font"/><Relationship Id="rId46" Target="notesSlides/notesSlide2.xml" Type="http://schemas.openxmlformats.org/officeDocument/2006/relationships/notesSlide"/><Relationship Id="rId47" Target="fonts/font47.fntdata" Type="http://schemas.openxmlformats.org/officeDocument/2006/relationships/font"/><Relationship Id="rId48" Target="notesSlides/notesSlide3.xml" Type="http://schemas.openxmlformats.org/officeDocument/2006/relationships/notesSlide"/><Relationship Id="rId49" Target="notesSlides/notesSlide4.xml" Type="http://schemas.openxmlformats.org/officeDocument/2006/relationships/notesSlide"/><Relationship Id="rId5" Target="tableStyles.xml" Type="http://schemas.openxmlformats.org/officeDocument/2006/relationships/tableStyles"/><Relationship Id="rId50" Target="notesSlides/notesSlide5.xml" Type="http://schemas.openxmlformats.org/officeDocument/2006/relationships/notesSlide"/><Relationship Id="rId51" Target="notesSlides/notesSlide6.xml" Type="http://schemas.openxmlformats.org/officeDocument/2006/relationships/notesSlide"/><Relationship Id="rId52" Target="notesSlides/notesSlide7.xml" Type="http://schemas.openxmlformats.org/officeDocument/2006/relationships/notesSlide"/><Relationship Id="rId53" Target="notesSlides/notesSlide8.xml" Type="http://schemas.openxmlformats.org/officeDocument/2006/relationships/notesSlide"/><Relationship Id="rId54" Target="notesSlides/notesSlide9.xml" Type="http://schemas.openxmlformats.org/officeDocument/2006/relationships/notesSlide"/><Relationship Id="rId55" Target="notesSlides/notesSlide10.xml" Type="http://schemas.openxmlformats.org/officeDocument/2006/relationships/notesSlide"/><Relationship Id="rId56" Target="notesSlides/notesSlide11.xml" Type="http://schemas.openxmlformats.org/officeDocument/2006/relationships/notesSlide"/><Relationship Id="rId57" Target="notesSlides/notesSlide12.xml" Type="http://schemas.openxmlformats.org/officeDocument/2006/relationships/notesSlide"/><Relationship Id="rId58" Target="notesSlides/notesSlide13.xml" Type="http://schemas.openxmlformats.org/officeDocument/2006/relationships/notesSlide"/><Relationship Id="rId59" Target="notesSlides/notesSlide14.xml" Type="http://schemas.openxmlformats.org/officeDocument/2006/relationships/notesSlide"/><Relationship Id="rId6" Target="slides/slide1.xml" Type="http://schemas.openxmlformats.org/officeDocument/2006/relationships/slide"/><Relationship Id="rId60" Target="notesSlides/notesSlide15.xml" Type="http://schemas.openxmlformats.org/officeDocument/2006/relationships/notesSlide"/><Relationship Id="rId61" Target="notesSlides/notesSlide16.xml" Type="http://schemas.openxmlformats.org/officeDocument/2006/relationships/notesSlide"/><Relationship Id="rId62" Target="notesSlides/notesSlide17.xml" Type="http://schemas.openxmlformats.org/officeDocument/2006/relationships/notesSlide"/><Relationship Id="rId63" Target="notesSlides/notesSlide18.xml" Type="http://schemas.openxmlformats.org/officeDocument/2006/relationships/notesSlide"/><Relationship Id="rId64" Target="notesSlides/notesSlide19.xml" Type="http://schemas.openxmlformats.org/officeDocument/2006/relationships/notesSlide"/><Relationship Id="rId65" Target="notesSlides/notesSlide20.xml" Type="http://schemas.openxmlformats.org/officeDocument/2006/relationships/notesSlide"/><Relationship Id="rId66" Target="notesSlides/notesSlide21.xml" Type="http://schemas.openxmlformats.org/officeDocument/2006/relationships/notesSlide"/><Relationship Id="rId67" Target="notesSlides/notesSlide22.xml" Type="http://schemas.openxmlformats.org/officeDocument/2006/relationships/notesSlide"/><Relationship Id="rId68" Target="notesSlides/notesSlide23.xml" Type="http://schemas.openxmlformats.org/officeDocument/2006/relationships/notesSlide"/><Relationship Id="rId69" Target="notesSlides/notesSlide24.xml" Type="http://schemas.openxmlformats.org/officeDocument/2006/relationships/notesSlide"/><Relationship Id="rId7" Target="slides/slide2.xml" Type="http://schemas.openxmlformats.org/officeDocument/2006/relationships/slide"/><Relationship Id="rId70" Target="notesSlides/notesSlide25.xml" Type="http://schemas.openxmlformats.org/officeDocument/2006/relationships/notesSlide"/><Relationship Id="rId71" Target="notesSlides/notesSlide26.xml" Type="http://schemas.openxmlformats.org/officeDocument/2006/relationships/notesSlide"/><Relationship Id="rId72" Target="notesSlides/notesSlide27.xml" Type="http://schemas.openxmlformats.org/officeDocument/2006/relationships/notesSlide"/><Relationship Id="rId73" Target="notesSlides/notesSlide28.xml" Type="http://schemas.openxmlformats.org/officeDocument/2006/relationships/notesSlide"/><Relationship Id="rId74" Target="notesSlides/notesSlide29.xml" Type="http://schemas.openxmlformats.org/officeDocument/2006/relationships/notesSlide"/><Relationship Id="rId75" Target="notesSlides/notesSlide30.xml" Type="http://schemas.openxmlformats.org/officeDocument/2006/relationships/notesSlide"/><Relationship Id="rId76" Target="notesSlides/notesSlide31.xml" Type="http://schemas.openxmlformats.org/officeDocument/2006/relationships/notesSlide"/><Relationship Id="rId77" Target="notesSlides/notesSlide32.xml" Type="http://schemas.openxmlformats.org/officeDocument/2006/relationships/notesSlide"/><Relationship Id="rId78" Target="notesSlides/notesSlide33.xml" Type="http://schemas.openxmlformats.org/officeDocument/2006/relationships/notesSlide"/><Relationship Id="rId79" Target="notesSlides/notesSlide34.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בוקר טוב לכולםם, אנחנו עומר, אליה ונעה ואנחנו נציג בפניכם היום את הסדנה שלנו "fact or fiction", שעוסקת בזיהוי פייק ניוז ברשת בעזרת כלים של בינה מלאכותית.</a:t>
            </a:r>
          </a:p>
          <a:p>
            <a:r>
              <a:rPr lang="en-US"/>
              <a:t>במהלך העבודה, ניסינו להבין איך בכלל אפשר לזהות חדשות מזויפות, בחנו כלים קיימים, וגם ניסינו בעצמנו כמה אלגוריתמים של למידת מכונה – חלקם מסורתיים – כדי לבדוק מה עובד יותר טוב ומה פחות.</a:t>
            </a:r>
          </a:p>
          <a:p>
            <a:r>
              <a:rPr lang="en-US"/>
              <a:t>זה לא תמיד פשוט לזהות פייק ניוז כי לפעמים זה יכול להיראות ממש אמין, וזה בעצם מה שגרם לנו לרצות לחקור את הנושא יותר לעומק.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פייק ניוז, או חדשות מזויפות, זה בעצם מידע שקרי או מידע מטעה – אבל שמוצג כאילו הוא חדשות לגיטימיות.</a:t>
            </a:r>
          </a:p>
          <a:p>
            <a:r>
              <a:rPr lang="en-US"/>
              <a:t/>
            </a:r>
          </a:p>
          <a:p>
            <a:r>
              <a:rPr lang="en-US"/>
              <a:t>זה יכול להיות כל מיני סוגים של תכנים, למשל:</a:t>
            </a:r>
          </a:p>
          <a:p>
            <a:r>
              <a:rPr lang="en-US"/>
              <a:t>1. סיפורים מומצאים לגמרי, שאין להם קשר למציאות</a:t>
            </a:r>
          </a:p>
          <a:p>
            <a:r>
              <a:rPr lang="en-US"/>
              <a:t/>
            </a:r>
          </a:p>
          <a:p>
            <a:r>
              <a:rPr lang="en-US"/>
              <a:t>2. כותרות דרמטיות או מטעות שלא באמת משקפות את מה שכתוב בכתבה</a:t>
            </a:r>
          </a:p>
          <a:p>
            <a:r>
              <a:rPr lang="en-US"/>
              <a:t/>
            </a:r>
          </a:p>
          <a:p>
            <a:r>
              <a:rPr lang="en-US"/>
              <a:t>3. או אפילו תוכן שהוא אמיתי, אבל מוצא מההקשר שלו – ככה שזה יוצר רושם שונה ממה שבאמת קרה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נכון להיום, רוב הגילוי והזיהוי של פייק ניוז עדיין נעשה בצורה ידנית.</a:t>
            </a:r>
          </a:p>
          <a:p>
            <a:r>
              <a:rPr lang="en-US"/>
              <a:t>יש למשל את NewsGuard – זו חברה אמריקאית שבודקת את האמינות של אתרי חדשות לפי קריטריונים עיתונאיים, כמו שקיפות, דיוק וכו'. המטרה שלהם היא בעצם לעזור לאנשים להבין איזה מקור חדשותי אפשר לסמוך עליו ועל איזה פחות.</a:t>
            </a:r>
          </a:p>
          <a:p>
            <a:r>
              <a:rPr lang="en-US"/>
              <a:t>בצד הישראלי, יש את FakeReporter – שזה גוף פיקוח שמתעסק בדיסאינפורמציה (הפצת מידע כוזב במכוון) שמופצת אונליין. הם מתמקדים במיוחד בתכנים שמכוונים לקהל דובר עברית. הם משתפים פעולה עם עיתונאים, חוקרים, וגם עם גופי ביטחון – ומשתמשים גם בכלים דיגיטליים וגם במיקור המונים (כמו דיווחים מהציבור) כדי לאתר ולהפיץ מידע אמין.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הכלים האלה באמת עושים עבודה חשובה, אבל חשוב להבין שגם להם יש את המגבלות שלהם:</a:t>
            </a:r>
          </a:p>
          <a:p>
            <a:r>
              <a:rPr lang="en-US"/>
              <a:t>1. עבודה ידנית:</a:t>
            </a:r>
          </a:p>
          <a:p>
            <a:r>
              <a:rPr lang="en-US"/>
              <a:t>הרבה פעמים הם מסתמכים על מומחים אנושיים, וזה תהליך שלוקח זמן ועולה לא מעט כסף. לא תמיד מעשי בקצב שבו מתפשט פייק ניוז היום.</a:t>
            </a:r>
          </a:p>
          <a:p>
            <a:r>
              <a:rPr lang="en-US"/>
              <a:t/>
            </a:r>
          </a:p>
          <a:p>
            <a:r>
              <a:rPr lang="en-US"/>
              <a:t>2. שיפוט סובייקטיבי:</a:t>
            </a:r>
          </a:p>
          <a:p>
            <a:r>
              <a:rPr lang="en-US"/>
              <a:t>כשבני אדם מדרגים או בודקים – זה עלול להיות מושפע מהדעה האישית שלהם, וזה עלול ליצור חוסר עקביות או הטיה בשיקול הדעת.</a:t>
            </a:r>
          </a:p>
          <a:p>
            <a:r>
              <a:rPr lang="en-US"/>
              <a:t/>
            </a:r>
          </a:p>
          <a:p>
            <a:r>
              <a:rPr lang="en-US"/>
              <a:t>3. כיסוי לא מלא:</a:t>
            </a:r>
          </a:p>
          <a:p>
            <a:r>
              <a:rPr lang="en-US"/>
              <a:t>המערכות האלו לא תמיד מספיקות לעבור על כל המקורות, במיוחד כשמדובר באתרים חדשים או כאלה שפחות מוכרים.</a:t>
            </a:r>
          </a:p>
          <a:p>
            <a:r>
              <a:rPr lang="en-US"/>
              <a:t/>
            </a:r>
          </a:p>
          <a:p>
            <a:r>
              <a:rPr lang="en-US"/>
              <a:t>4. לא מספיק מעודכנים:</a:t>
            </a:r>
          </a:p>
          <a:p>
            <a:r>
              <a:rPr lang="en-US"/>
              <a:t>פייק ניוז מתפשט מהר מאוד, והעדכונים של המערכות לפעמים פשוט לא מצליחים לעמוד בקצב הזה.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מתוך כך הגדרנו שתי מטרות שהנחו אותנו - </a:t>
            </a:r>
          </a:p>
          <a:p>
            <a:r>
              <a:rPr lang="en-US"/>
              <a:t>הראשונה והמרכזית פה היא לפתח כלי אוטומטי, שמבוסס על עיבוד שפה טבעית – ככה שנוכל לזהות פייק ניוז ממש מהר. הרעיון הוא לצמצם את התלות במומחים שצריכים לבדוק כל דבר ידנית.</a:t>
            </a:r>
          </a:p>
          <a:p>
            <a:r>
              <a:rPr lang="en-US"/>
              <a:t>המטרה המשנית והחשובה לא פחות היא - לנתח את הסימנים הטקסטואליים שמאפיינים בדרך כלל פייק ניוז – דברים כמו מבנה המשפטים, השפה שבה משתמשים, ועוד כל מיני דפוסים – כדי לעזור לכלי שלנו ללמוד ולזהות את זה לבד בצורה יותר חכמה.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לקחנו דאטה סט מקאגל שהכיל שני קבצים - אוסף של פייק ניוז ואוסף של חדשתות אמיתיות. הוא הכיל 4 עמודות של טקסט, טייטל, נושא ותאריך.</a:t>
            </a:r>
          </a:p>
          <a:p>
            <a:r>
              <a:rPr lang="en-US"/>
              <a:t>הדאטה סט היה די מאוזן </a:t>
            </a:r>
          </a:p>
          <a:p>
            <a:r>
              <a:rPr lang="en-US"/>
              <a:t/>
            </a:r>
          </a:p>
          <a:p>
            <a:r>
              <a:rPr lang="en-US"/>
              <a:t>--עוברים למחברת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אחרי ניקוי ראשוני ומינימלי של הטקסט כדי להוריד רווחים מיותרים ולפרמט את כל הכתבות לפורמט אחיד</a:t>
            </a:r>
          </a:p>
          <a:p>
            <a:r>
              <a:rPr lang="en-US"/>
              <a:t/>
            </a:r>
          </a:p>
          <a:p>
            <a:r>
              <a:rPr lang="en-US"/>
              <a:t>הוצאנו word clouds כדי לראות אילו מילים חוזרות על עצמן בדאטה בהקשר של פייק וריל ניוז </a:t>
            </a:r>
          </a:p>
          <a:p>
            <a:r>
              <a:rPr lang="en-US"/>
              <a:t/>
            </a:r>
          </a:p>
          <a:p>
            <a:r>
              <a:rPr lang="en-US"/>
              <a:t>אפשר לראות שבשניהם יש מילים דומות כמו טראמפ ואמר אבל אפשר גם לראות שהמילים שבענן של הפייק הם יותר מילים שקשורות לרגשות כמו like, want| לעומת המילים בענן של הריל שהן מילים יותר עובדתיות כמו government ו- state.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הוצאנו גם את ההתפלגות של אורכי הטקסטים והכותרות וזה מה שגילינו:</a:t>
            </a:r>
          </a:p>
          <a:p>
            <a:r>
              <a:rPr lang="en-US"/>
              <a:t/>
            </a:r>
          </a:p>
          <a:p>
            <a:r>
              <a:rPr lang="en-US"/>
              <a:t>1. טקסטים לגיטימיים (real news) הם ארוכים יותר (כנראה גם אינפורמטיביים יותר) ורוב הכתבות כוללות עד 1000 מילים. אפשר לראות גם כתבות ארוכות יותר עד 5000 מילים אבל רוב המסה של הגרף היא עד 1000</a:t>
            </a:r>
          </a:p>
          <a:p>
            <a:r>
              <a:rPr lang="en-US"/>
              <a:t>2. טקסטים שהם fake news הם קצרים יותר, רוב המסה נמצאת עד 800 מילים, עם כמה כתבות עד 1000 מילים ואחריו יש זנב ארוך שלא רואים פה בתמונה אבל מגיע עד ל8000 מילים.</a:t>
            </a:r>
          </a:p>
          <a:p>
            <a:r>
              <a:rPr lang="en-US"/>
              <a:t/>
            </a:r>
          </a:p>
          <a:p>
            <a:r>
              <a:rPr lang="en-US"/>
              <a:t>אם מסתכלים על אורך הכותרות המגמה הפוכה - </a:t>
            </a:r>
          </a:p>
          <a:p>
            <a:r>
              <a:rPr lang="en-US"/>
              <a:t>טקסטים אמיתיים הם עם כותרות קצרות יותר, בממוצע 9-10 מילים ולא יותר מ-18 מילים. </a:t>
            </a:r>
          </a:p>
          <a:p>
            <a:r>
              <a:rPr lang="en-US"/>
              <a:t>טקסטים מזויפים הם עם ארוכות יותר - בממוצע 12-15 מילים ויכול להגיע אפילו ל40 מילים.</a:t>
            </a:r>
          </a:p>
          <a:p>
            <a:r>
              <a:rPr lang="en-US"/>
              <a:t/>
            </a:r>
          </a:p>
          <a:p>
            <a:r>
              <a:rPr lang="en-US"/>
              <a:t>לסיכום - כותרת ארוכה + טקסט קצר מאפיין יותר פייק ניוז לפי איך שזה נראה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במהלך ה-EDA מצאנו שיש בעיה של אי-תאימות בין הנושאים שיש לפייק ניוז ובין הנושאים שיש לחדשות האמיתיות, מה שיכול לגרום למודל ללמוד מהנושאים ושיהיה bias .</a:t>
            </a:r>
          </a:p>
          <a:p>
            <a:r>
              <a:rPr lang="en-US"/>
              <a:t>מה שעשינו זה לקחנו את כל הנושאים ומיפינו אותם לשתי קטגוריות - חדשות פוליטיות וחדשות על העולם.</a:t>
            </a:r>
          </a:p>
          <a:p>
            <a:r>
              <a:rPr lang="en-US"/>
              <a:t/>
            </a:r>
          </a:p>
          <a:p>
            <a:r>
              <a:rPr lang="en-US"/>
              <a:t>יצא לנו שהדאטה החדש מאוזן יחסית בין הקלאסים ואין סיכון להטייה בגלל הנושא.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עוד שתי בעיות שנתקלנו בהן זה שהתאריכים לא בפורמט אחיד - את זה תיקנו בעזרת רגקס וגם שהתאריכים לא חופפים לגמרי בין שני הדאטה סטים. אז אחרי שתיקנו את העניין עם התאריכים שלא ניתנים לפרסור, יכולנו לבחור את קטע הזמן החופף בין שתי הדטאות ולקחנו רק אותו כדי שלא תהיה פה הטייה.</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אחרי התיקונים שעשינו, עשינו פיצ'ר אנג'נירינג ושלפנו פיצ'רים מתוך הדאטה. </a:t>
            </a:r>
          </a:p>
          <a:p>
            <a:r>
              <a:rPr lang="en-US"/>
              <a:t>1. בדקנו את כמות סימני הפיסוק שמופיעים בדאטה, כמה פעמים הם מופיעים.</a:t>
            </a:r>
          </a:p>
          <a:p>
            <a:r>
              <a:rPr lang="en-US"/>
              <a:t>2. בדקנו כמה אותיות גדולות מופיעות בטקסט ועפ"י זה חישבנו ratio - כמה אותיות קטנות מופיעות לכל אות גדולה.</a:t>
            </a:r>
          </a:p>
          <a:p>
            <a:r>
              <a:rPr lang="en-US"/>
              <a:t>3. בדקנו את היחס בין כל אחד מחלקי הדיבר לשאר הטקסט כדי להבין את סגנון הכתיבה - אולי הכותב משתמש בהרבה שמות תואר?</a:t>
            </a:r>
          </a:p>
          <a:p>
            <a:r>
              <a:rPr lang="en-US"/>
              <a:t>4. עשינו סנטימנט אנליסיס בעזרת חבילה שנקראת textblob שזו חבילת פייתון שמבוססת על NLTK ואפשר לעשות איתה כל מיני פעולות של NLP. אנחנו ספציפית השתמשנו בה כדי להבין אם הכתבה היא אובייקטיבית/לא או חיובית/לא.</a:t>
            </a:r>
          </a:p>
          <a:p>
            <a:r>
              <a:rPr lang="en-US"/>
              <a:t>5. בדקנו כמה לינקים יש בכל כתבה כדי להבין אם יש פה איזושהי דחיפה למקור חיצוני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לוודא ניסוח!</a:t>
            </a:r>
          </a:p>
          <a:p>
            <a:r>
              <a:rPr lang="en-US"/>
              <a:t>רצינו להתמקד ב 3 גישות ולשוות בין הביצועים שלהן:</a:t>
            </a:r>
          </a:p>
          <a:p>
            <a:r>
              <a:rPr lang="en-US"/>
              <a:t>1. שיטות ML קלאסיות </a:t>
            </a:r>
          </a:p>
          <a:p>
            <a:r>
              <a:rPr lang="en-US"/>
              <a:t>2. שימוש ב few shots learning</a:t>
            </a:r>
          </a:p>
          <a:p>
            <a:r>
              <a:rPr lang="en-US"/>
              <a:t>3. fine-tuning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בשיטות הקלאסיות רצינו להעריך את הביצועים של מודלי ML קלאסיים במשימת קלסיפיקציה על טקסט.</a:t>
            </a:r>
          </a:p>
          <a:p>
            <a:r>
              <a:rPr lang="en-US"/>
              <a:t>לשם כך השתמשנו ב2 גישות לייצוג טקסט:</a:t>
            </a:r>
          </a:p>
          <a:p>
            <a:r>
              <a:rPr lang="en-US"/>
              <a:t>1. BOW - פשוט סופרים את מספר הפעמים שכל מילה מופיעה.</a:t>
            </a:r>
          </a:p>
          <a:p>
            <a:r>
              <a:rPr lang="en-US"/>
              <a:t>2. TFIDF - נותן לכל מילה משקל, לא רק לפי כמות ההופעות אלא גם לפי כמה היא ייחודית במסמך.</a:t>
            </a:r>
          </a:p>
          <a:p>
            <a:r>
              <a:rPr lang="en-US"/>
              <a:t>בשניהם התבססנו על יחידות של unigram &amp;bigram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מבחינת הקלט למודל - ניסינו להשתמש בחלקים שונים מהדאטה על מנת להבין אילו חלקים משמעותיים יותר או פחות במשימת הקלסיפיקציה, ועשויים להעיד יותר על פייק ניוז. </a:t>
            </a:r>
          </a:p>
          <a:p>
            <a:r>
              <a:rPr lang="en-US"/>
              <a:t>בנוסף, ב RF XGBOOST השתמשנו בפיצ'רים שיצרנו שעומר הסבירה עליהם לפני כן.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אלגוריתם קלאסי לסיווג טקסט - בחרנו בו כמודל baseline בשל הפשטות והיעילות החישובית שלו. הוא מבוסס על חוק בייס מההסתברות, ומניח שכל מילה מופיעה באופן בלתי תלוי. למרות שההנחה הזו לא תמיד נכונה בטקסטים, האלגוריתם הצליח להניב תוצאות מפתיעות.</a:t>
            </a:r>
          </a:p>
          <a:p>
            <a:r>
              <a:rPr lang="en-US"/>
              <a:t/>
            </a:r>
          </a:p>
          <a:p>
            <a:r>
              <a:rPr lang="en-US"/>
              <a:t> פונקציה run_naive_bayes_with_vectorizer:</a:t>
            </a:r>
          </a:p>
          <a:p>
            <a:r>
              <a:rPr lang="en-US"/>
              <a:t/>
            </a:r>
          </a:p>
          <a:p>
            <a:r>
              <a:rPr lang="en-US"/>
              <a:t>הפונקציה הזו מריצה את האלגוריתם Naive Bayes על טקסט בעזרת אחד משני וקטוריזרים – BoW CountVectorizer או TF-IDF TfidfVectorizer – ובודקת את הביצועים שלו לפי תצורת הטקסט: כותרת בלבד, גוף בלבד, או שילוב של שניהם.</a:t>
            </a:r>
          </a:p>
          <a:p>
            <a:r>
              <a:rPr lang="en-US"/>
              <a:t>הגבלה על כמות הפיצ'רים. </a:t>
            </a:r>
          </a:p>
          <a:p>
            <a:r>
              <a:rPr lang="en-US"/>
              <a:t/>
            </a:r>
          </a:p>
          <a:p>
            <a:r>
              <a:rPr lang="en-US"/>
              <a:t>לנאיב בייס יש כמה גרסאות </a:t>
            </a:r>
          </a:p>
          <a:p>
            <a:r>
              <a:rPr lang="en-US"/>
              <a:t>ברנולי - בודק "בינארי" אם מילה מופיעה או לא. </a:t>
            </a:r>
          </a:p>
          <a:p>
            <a:r>
              <a:rPr lang="en-US"/>
              <a:t>גאוסיאני - מתאים למשתנים רציפים. </a:t>
            </a:r>
          </a:p>
          <a:p>
            <a:r>
              <a:rPr lang="en-US"/>
              <a:t>מולטינומיאלי - מניח שיש לנו מילים בתדירות משתנה (לכן זו הבחירה המתאימה). </a:t>
            </a:r>
          </a:p>
          <a:p>
            <a:r>
              <a:rPr lang="en-US"/>
              <a:t/>
            </a:r>
          </a:p>
          <a:p>
            <a:r>
              <a:rPr lang="en-US"/>
              <a:t>תוצאות:</a:t>
            </a:r>
          </a:p>
          <a:p>
            <a:r>
              <a:rPr lang="en-US"/>
              <a:t>הכוכב מסמן את הציון המקסימלי בכל מטריקה. ניתן לראות כי BOW עם הקונפיגורציה שמשתמשת בטקסט ובכותרת ביחד מקבלת תוצאות מעט טובות יותר משאר הקונפיגורציות. אבל באופן כללי התוצאות טובות גם בשימוש של הכותרת בלבד. </a:t>
            </a:r>
          </a:p>
          <a:p>
            <a:r>
              <a:rPr lang="en-US"/>
              <a:t/>
            </a:r>
          </a:p>
          <a:p>
            <a:r>
              <a:rPr lang="en-US"/>
              <a:t>(סבורות כי BOW ביצע מעט טוב יותר בשל הבחירה במולטינומיאלי, בגלל ש TFIDF  מחזיר ערכים רציפים ולא שלמים ולכן מעט פחות מתאים)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בשני הגרפים האלה ניתן לראות feature importance עבור הקונפיגורציה של BOW על הכותרת וגוף הכתבה ביחד, כפי שנלמדו ע"י מודל הנאיב בייס.</a:t>
            </a:r>
          </a:p>
          <a:p>
            <a:r>
              <a:rPr lang="en-US"/>
              <a:t>הגרפים מציגים אילו מילים סייעו להבדיל בין חדשות אמיתיות (0), לבין פייק (1).</a:t>
            </a:r>
          </a:p>
          <a:p>
            <a:r>
              <a:rPr lang="en-US"/>
              <a:t>ניתן להבחין כי קישורים לאתרים שונים, צירוף של תמונות ווידאו סייעו לזהות שתוכן מסוים הוא פייק. </a:t>
            </a:r>
          </a:p>
          <a:p>
            <a:r>
              <a:rPr lang="en-US"/>
              <a:t>לעומת החדשות האמיתיות שמזוהות עם מקומות בעולם כמו לונדון ומוסקבה.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הגישה השנייה שבחרנו להשתמש בה היא RF, שיטה שמשתמשת בעצי החלטה, ומקבלת החלטה סופית לפי majority. היתרון - ביצועים טובים, עם הימנעות (יחסית) מ overfit</a:t>
            </a:r>
          </a:p>
          <a:p>
            <a:r>
              <a:rPr lang="en-US"/>
              <a:t>ניתן לראות כי גם כאן המודל שהצליח בצורה הטובה ביותר שילב את הטקסט והכותרת, אך שהפעם שיטת הייצוג של TFIDF מובילה במעט.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השיטה האחרונה - XGBOOST:</a:t>
            </a:r>
          </a:p>
          <a:p>
            <a:r>
              <a:rPr lang="en-US"/>
              <a:t>בעלת התוצאות הטובות ביותר מבין שלושת המודלים עבור קונפי' שמשלבת בין הכותרת לטקסט, ושימוש ב BOW.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ערכי SHAP חיוביים (ורוד) = דוחפים לכיוון Fake News</a:t>
            </a:r>
          </a:p>
          <a:p>
            <a:r>
              <a:rPr lang="en-US"/>
              <a:t/>
            </a:r>
          </a:p>
          <a:p>
            <a:r>
              <a:rPr lang="en-US"/>
              <a:t>ערכי SHAP שליליים (כחול) = דוחפים לכיוון Real News</a:t>
            </a:r>
          </a:p>
          <a:p>
            <a:r>
              <a:rPr lang="en-US"/>
              <a:t/>
            </a:r>
          </a:p>
          <a:p>
            <a:r>
              <a:rPr lang="en-US"/>
              <a:t>כלומר: </a:t>
            </a:r>
          </a:p>
          <a:p>
            <a:r>
              <a:rPr lang="en-US"/>
              <a:t>ערכים חיוביים של SHAP (ורוד) דוחפים את המודל לסווג את הדוגמה כלייבל שאליו מתבצע ה־SHAP.</a:t>
            </a:r>
          </a:p>
          <a:p>
            <a:r>
              <a:rPr lang="en-US"/>
              <a:t>ערכים שליליים (כחול) דוחפים נגד הלייבל הזה.</a:t>
            </a:r>
          </a:p>
          <a:p>
            <a:r>
              <a:rPr lang="en-US"/>
              <a:t/>
            </a:r>
          </a:p>
          <a:p>
            <a:r>
              <a:rPr lang="en-US"/>
              <a:t>מאפיינים שמורידים את הסיכוי לפייק ניוז:</a:t>
            </a:r>
          </a:p>
          <a:p>
            <a:r>
              <a:rPr lang="en-US"/>
              <a:t>מס' הציטוטים, מס' יחסי של פעלים ושמות עצם מתוך כמות המילים ב**כותרת**. </a:t>
            </a:r>
          </a:p>
          <a:p>
            <a:r>
              <a:rPr lang="en-US"/>
              <a:t/>
            </a:r>
          </a:p>
          <a:p>
            <a:r>
              <a:rPr lang="en-US"/>
              <a:t>מאפיינים שמעלים את הסיכוי לפייק ניוז:</a:t>
            </a:r>
          </a:p>
          <a:p>
            <a:r>
              <a:rPr lang="en-US"/>
              <a:t>ביטויים לא ספציפיים או עמומים – לדוגמה, "was", "re", ו"this" – מרמזים על ניסוח פחות מבוסס.</a:t>
            </a:r>
          </a:p>
          <a:p>
            <a:r>
              <a:rPr lang="en-US"/>
              <a:t>בנוסף - הכמות היחסית של שמות עצם בגוף הכתבה.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כאן אנחנו מסתכלים על הפיצ'רים שדחפו את המודל לסווג כתבה כ־Real News.</a:t>
            </a:r>
          </a:p>
          <a:p>
            <a:r>
              <a:rPr lang="en-US"/>
              <a:t>גם כאן ניתן לראות שציטוטים, יחס של שמות עצם ותואר בכותרת. אפשר להבין כי המודל מזהה כתיבה עניינית ועובדתית כמאפיינת חדשות אמיתיות.</a:t>
            </a:r>
          </a:p>
          <a:p>
            <a:r>
              <a:rPr lang="en-US"/>
              <a:t>דברים מעניינים שגרמו לסווג כפייק: שימוש במילה said שדווקא מעידה על ציטוטים.</a:t>
            </a:r>
          </a:p>
          <a:p>
            <a:r>
              <a:rPr lang="en-US"/>
              <a:t/>
            </a:r>
          </a:p>
          <a:p>
            <a:r>
              <a:rPr lang="en-US"/>
              <a:t>לסיכום:</a:t>
            </a:r>
          </a:p>
          <a:p>
            <a:r>
              <a:rPr lang="en-US"/>
              <a:t>שאפ עוזר להבין גם אילו פיצ'רים סייעו לקבל את ההחלטה, אבל גם מאפשר להבין איזה סגנון וסוגי כתיבה מתקשרים לכתבות מזויפות לעומת אמיתיות.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אז מה זה בעצם Few-Shot Learning?</a:t>
            </a:r>
          </a:p>
          <a:p>
            <a:r>
              <a:rPr lang="en-US"/>
              <a:t>זו שיטה די חכמה – במקום להאכיל את המודל בכמויות גדולות של מידע כדי ללמד אותו משהו, אנחנו פשוט נותנים לו כמה דוגמאות בודדות, והוא לומד מהן איך להתמודד עם המשימה.</a:t>
            </a:r>
          </a:p>
          <a:p>
            <a:r>
              <a:rPr lang="en-US"/>
              <a:t/>
            </a:r>
          </a:p>
          <a:p>
            <a:r>
              <a:rPr lang="en-US"/>
              <a:t>זה נשמע מאתגר, כי לרוב המודלים צריכים המון דאטה כדי להבין הקשרים, וכאן אנחנו מאתגרים את המודל כדי לראות אם הוא מסוגל להכליל ולהסיק מסקנות גם ממעט מאוד מידע.</a:t>
            </a:r>
          </a:p>
          <a:p>
            <a:r>
              <a:rPr lang="en-US"/>
              <a:t/>
            </a:r>
          </a:p>
          <a:p>
            <a:r>
              <a:rPr lang="en-US"/>
              <a:t>איך זה עובד בפועל?</a:t>
            </a:r>
          </a:p>
          <a:p>
            <a:r>
              <a:rPr lang="en-US"/>
              <a:t>המודלים כבר עברו איזשהו אימון בסיסי מראש, ואנחנו פשוט מציגים להם פרומפט עם כמה דוגמאות.</a:t>
            </a:r>
          </a:p>
          <a:p>
            <a:r>
              <a:rPr lang="en-US"/>
              <a:t>אם זה עובד טוב – הם אמורים לדעת לנחש נכון גם בלי הרבה דאטה נוסף.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מה היתרונות של Few-Shot Learning?</a:t>
            </a:r>
          </a:p>
          <a:p>
            <a:r>
              <a:rPr lang="en-US"/>
              <a:t>קודם כל – הוא מאוד גמיש. הוא יכול להסתגל מהר למשימות חדשות, לא צריך כמויות ענק של דאטה, וגם דורש הרבה פחות משאבים ממודלים מסורתיים.</a:t>
            </a:r>
          </a:p>
          <a:p>
            <a:r>
              <a:rPr lang="en-US"/>
              <a:t>אבל – כמובן שיש גם חסרונות:</a:t>
            </a:r>
          </a:p>
          <a:p>
            <a:r>
              <a:rPr lang="en-US"/>
              <a:t>ההחלטות שלו לא תמיד שקופות – קשה להבין למה הוא בחר בתשובה מסוימת.</a:t>
            </a:r>
          </a:p>
          <a:p>
            <a:r>
              <a:rPr lang="en-US"/>
              <a:t>הוא יכול להיתקע כשמדובר במשימות ממש מורכבות, ואם הדוגמאות שהוא מקבל לא מגוונות או לא מייצגות – זה עלול לפגוע בדיוק.</a:t>
            </a:r>
          </a:p>
          <a:p>
            <a:r>
              <a:rPr lang="en-US"/>
              <a:t/>
            </a:r>
          </a:p>
          <a:p>
            <a:r>
              <a:rPr lang="en-US"/>
              <a:t>אז מתי זה כן שימושי?</a:t>
            </a:r>
          </a:p>
          <a:p>
            <a:r>
              <a:rPr lang="en-US"/>
              <a:t>השיטה הזו מועילה במיוחד כשאין הרבה דאטה מתויג.</a:t>
            </a:r>
          </a:p>
          <a:p>
            <a:r>
              <a:rPr lang="en-US"/>
              <a:t>היא ממש מתאימה לתחומים שמתפתחים כל הזמן, כמו עיבוד שפה טבעית, שבהם כל הזמן צצים נושאים, משימות או קטגוריות חדשות. זה חוסך זמן, חוסך עבודה, ועדיין נותן תוצאות מרשימות.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כאן אפשר לראות את תהליך העבודה שלנו עם מודל ה־LLaMA לצורך סיווג פייק ניוז:</a:t>
            </a:r>
          </a:p>
          <a:p>
            <a:r>
              <a:rPr lang="en-US"/>
              <a:t>1. התחלנו מהבסיס: בחרנו במודל שפה LLaMA-3.1-8B.</a:t>
            </a:r>
          </a:p>
          <a:p>
            <a:r>
              <a:rPr lang="en-US"/>
              <a:t>2. השלב הבא היה לבנות תבנית של פרומפט, שמבוססת על דוגמאות –</a:t>
            </a:r>
          </a:p>
          <a:p>
            <a:r>
              <a:rPr lang="en-US"/>
              <a:t>המטרה שלה היא לעזור למודל להבין איך לזהות אם ידיעה היא אמיתית או מזויפת.</a:t>
            </a:r>
          </a:p>
          <a:p>
            <a:r>
              <a:rPr lang="en-US"/>
              <a:t>3. אחרי שבנינו את התבנית, "חיברנו" אותה למודל – ככה שהוא ידע איך להשתמש בה בזמן החיזוי.</a:t>
            </a:r>
          </a:p>
          <a:p>
            <a:r>
              <a:rPr lang="en-US"/>
              <a:t>4. ולבסוף, הרצנו את המודל על סט הבדיקה שלנו (אותו טסט סט שנבחן גם במודלים הקלאסיים) ובדקנו איך הוא מסווג את החדשות – אמת או פייק.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אז בדקנו את המודל שלנו בשלוש גרסאות שונות:</a:t>
            </a:r>
          </a:p>
          <a:p>
            <a:r>
              <a:rPr lang="en-US"/>
              <a:t>על כותרות בלבד (Title), על גוף הטקסט בלבד (Text), ועל שילוב של שניהם (Title &amp; Text) –</a:t>
            </a:r>
          </a:p>
          <a:p>
            <a:r>
              <a:rPr lang="en-US"/>
              <a:t>והנה מה שגילינו:</a:t>
            </a:r>
          </a:p>
          <a:p>
            <a:r>
              <a:rPr lang="en-US"/>
              <a:t>1. Title בלבד:</a:t>
            </a:r>
          </a:p>
          <a:p>
            <a:r>
              <a:rPr lang="en-US"/>
              <a:t>הפתיע בביצועים, בדומה להשערה שלנו, וגם בהמשך לתוצאות שקיבלנו במודלים הקלאסיים. אבל – שיעור הטעות (FPR) היה יחסית גבוה. כלומר, הכותרות לבד עזרו למודל לזהות טוב את החדשות המזויפות, אבל גם יצרו לא מעט אזעקות שווא.</a:t>
            </a:r>
          </a:p>
          <a:p>
            <a:r>
              <a:rPr lang="en-US"/>
              <a:t>2. Text בלבד: </a:t>
            </a:r>
          </a:p>
          <a:p>
            <a:r>
              <a:rPr lang="en-US"/>
              <a:t>כאן הייתה תמונה פחות מאוזנת. פרסיז'ן דווקא היה טוב והFPR נמוך, לעומת הaccuracy וrecall שדי נמוכים. זה אומר שהמודל היה מאוד "זהיר" – הוא כמעט ולא סימן חדשות אמיתיות בטעות, אבל גם פספס הרבה חדשות מזויפות.</a:t>
            </a:r>
          </a:p>
          <a:p>
            <a:r>
              <a:rPr lang="en-US"/>
              <a:t>3. Title &amp; Text יחד:</a:t>
            </a:r>
          </a:p>
          <a:p>
            <a:r>
              <a:rPr lang="en-US"/>
              <a:t>כאן קיבלנו שילוב מעניין – המודל כאן כמעט לא טעה כשזיהה משהו כפייק, אבל כן פספס לא מעט מקרים שכן היו צריכים להיחשב ככאלה.</a:t>
            </a:r>
          </a:p>
          <a:p>
            <a:r>
              <a:rPr lang="en-US"/>
              <a:t/>
            </a:r>
          </a:p>
          <a:p>
            <a:r>
              <a:rPr lang="en-US"/>
              <a:t>אם אנחנו רוצים איזון טוב בין דיוק (precision) לרגישות (recall) – כלומר גם לזהות נכון פייק ניוז וגם לא לפספס הרבה –</a:t>
            </a:r>
          </a:p>
          <a:p>
            <a:r>
              <a:rPr lang="en-US"/>
              <a:t>אז דווקא הגרסה שמבוססת רק על הכותרת נותנת את התוצאה הכי מאוזנת.</a:t>
            </a:r>
          </a:p>
          <a:p>
            <a:r>
              <a:rPr lang="en-US"/>
              <a:t/>
            </a:r>
          </a:p>
          <a:p>
            <a:r>
              <a:rPr lang="en-US"/>
              <a:t>מצד שני, אם המטרה שלנו היא ביטחון גבוה – כלומר, ברגע שהמודל אומר "זה פייק", אנחנו ממש יכולים לסמוך עליו –</a:t>
            </a:r>
          </a:p>
          <a:p>
            <a:r>
              <a:rPr lang="en-US"/>
              <a:t>אז שילוב של כותרת וטקסט יחד הוא הבחירה הנכונה, גם אם זה בא על חשבון פספוס של חלק מהמקרים.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אז בדקנו את המודל שלנו בשלוש גרסאות שונות:</a:t>
            </a:r>
          </a:p>
          <a:p>
            <a:r>
              <a:rPr lang="en-US"/>
              <a:t>על כותרות בלבד (Title), על גוף הטקסט בלבד (Text), ועל שילוב של שניהם (Title &amp; Text) –</a:t>
            </a:r>
          </a:p>
          <a:p>
            <a:r>
              <a:rPr lang="en-US"/>
              <a:t>והנה מה שגילינו:</a:t>
            </a:r>
          </a:p>
          <a:p>
            <a:r>
              <a:rPr lang="en-US"/>
              <a:t>1. Title בלבד:</a:t>
            </a:r>
          </a:p>
          <a:p>
            <a:r>
              <a:rPr lang="en-US"/>
              <a:t>הפתיע בביצועים, בדומה להשערה שלנו, וגם בהמשך לתוצאות שקיבלנו במודלים הקלאסיים. אבל – שיעור הטעות (FPR) היה יחסית גבוה. כלומר, הכותרות לבד עזרו למודל לזהות טוב את החדשות המזויפות, אבל גם יצרו לא מעט אזעקות שווא.</a:t>
            </a:r>
          </a:p>
          <a:p>
            <a:r>
              <a:rPr lang="en-US"/>
              <a:t>2. Text בלבד: </a:t>
            </a:r>
          </a:p>
          <a:p>
            <a:r>
              <a:rPr lang="en-US"/>
              <a:t>כאן הייתה תמונה פחות מאוזנת. פרסיז'ן דווקא היה טוב והFPR נמוך, לעומת הaccuracy וrecall שדי נמוכים. זה אומר שהמודל היה מאוד "זהיר" – הוא כמעט ולא סימן חדשות אמיתיות בטעות, אבל גם פספס הרבה חדשות מזויפות.</a:t>
            </a:r>
          </a:p>
          <a:p>
            <a:r>
              <a:rPr lang="en-US"/>
              <a:t>3. Title &amp; Text יחד:</a:t>
            </a:r>
          </a:p>
          <a:p>
            <a:r>
              <a:rPr lang="en-US"/>
              <a:t>כאן קיבלנו שילוב מעניין – המודל כאן כמעט לא טעה כשזיהה משהו כפייק, אבל כן פספס לא מעט מקרים שכן היו צריכים להיחשב ככאלה.</a:t>
            </a:r>
          </a:p>
          <a:p>
            <a:r>
              <a:rPr lang="en-US"/>
              <a:t/>
            </a:r>
          </a:p>
          <a:p>
            <a:r>
              <a:rPr lang="en-US"/>
              <a:t>אם אנחנו רוצים איזון טוב בין דיוק (precision) לרגישות (recall) – כלומר גם לזהות נכון פייק ניוז וגם לא לפספס הרבה –</a:t>
            </a:r>
          </a:p>
          <a:p>
            <a:r>
              <a:rPr lang="en-US"/>
              <a:t>אז דווקא הגרסה שמבוססת רק על הכותרת נותנת את התוצאה הכי מאוזנת.</a:t>
            </a:r>
          </a:p>
          <a:p>
            <a:r>
              <a:rPr lang="en-US"/>
              <a:t/>
            </a:r>
          </a:p>
          <a:p>
            <a:r>
              <a:rPr lang="en-US"/>
              <a:t>מצד שני, אם המטרה שלנו היא ביטחון גבוה – כלומר, ברגע שהמודל אומר "זה פייק", אנחנו ממש יכולים לסמוך עליו –</a:t>
            </a:r>
          </a:p>
          <a:p>
            <a:r>
              <a:rPr lang="en-US"/>
              <a:t>אז שילוב של כותרת וטקסט יחד הוא הבחירה הנכונה, גם אם זה בא על חשבון פספוס של חלק מהמקרים.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אז בדקנו את המודל שלנו בשלוש גרסאות שונות:</a:t>
            </a:r>
          </a:p>
          <a:p>
            <a:r>
              <a:rPr lang="en-US"/>
              <a:t>על כותרות בלבד (Title), על גוף הטקסט בלבד (Text), ועל שילוב של שניהם (Title &amp; Text) –</a:t>
            </a:r>
          </a:p>
          <a:p>
            <a:r>
              <a:rPr lang="en-US"/>
              <a:t>והנה מה שגילינו:</a:t>
            </a:r>
          </a:p>
          <a:p>
            <a:r>
              <a:rPr lang="en-US"/>
              <a:t>1. Title בלבד:</a:t>
            </a:r>
          </a:p>
          <a:p>
            <a:r>
              <a:rPr lang="en-US"/>
              <a:t>הפתיע בביצועים, בדומה להשערה שלנו, וגם בהמשך לתוצאות שקיבלנו במודלים הקלאסיים. אבל – שיעור הטעות (FPR) היה יחסית גבוה. כלומר, הכותרות לבד עזרו למודל לזהות טוב את החדשות המזויפות, אבל גם יצרו לא מעט אזעקות שווא.</a:t>
            </a:r>
          </a:p>
          <a:p>
            <a:r>
              <a:rPr lang="en-US"/>
              <a:t>2. Text בלבד: </a:t>
            </a:r>
          </a:p>
          <a:p>
            <a:r>
              <a:rPr lang="en-US"/>
              <a:t>כאן הייתה תמונה פחות מאוזנת. פרסיז'ן דווקא היה טוב והFPR נמוך, לעומת הaccuracy וrecall שדי נמוכים. זה אומר שהמודל היה מאוד "זהיר" – הוא כמעט ולא סימן חדשות אמיתיות בטעות, אבל גם פספס הרבה חדשות מזויפות.</a:t>
            </a:r>
          </a:p>
          <a:p>
            <a:r>
              <a:rPr lang="en-US"/>
              <a:t>3. Title &amp; Text יחד:</a:t>
            </a:r>
          </a:p>
          <a:p>
            <a:r>
              <a:rPr lang="en-US"/>
              <a:t>כאן קיבלנו שילוב מעניין – המודל כאן כמעט לא טעה כשזיהה משהו כפייק, אבל כן פספס לא מעט מקרים שכן היו צריכים להיחשב ככאלה.</a:t>
            </a:r>
          </a:p>
          <a:p>
            <a:r>
              <a:rPr lang="en-US"/>
              <a:t/>
            </a:r>
          </a:p>
          <a:p>
            <a:r>
              <a:rPr lang="en-US"/>
              <a:t>אם אנחנו רוצים איזון טוב בין דיוק (precision) לרגישות (recall) – כלומר גם לזהות נכון פייק ניוז וגם לא לפספס הרבה –</a:t>
            </a:r>
          </a:p>
          <a:p>
            <a:r>
              <a:rPr lang="en-US"/>
              <a:t>אז דווקא הגרסה שמבוססת רק על הכותרת נותנת את התוצאה הכי מאוזנת.</a:t>
            </a:r>
          </a:p>
          <a:p>
            <a:r>
              <a:rPr lang="en-US"/>
              <a:t/>
            </a:r>
          </a:p>
          <a:p>
            <a:r>
              <a:rPr lang="en-US"/>
              <a:t>מצד שני, אם המטרה שלנו היא ביטחון גבוה – כלומר, ברגע שהמודל אומר "זה פייק", אנחנו ממש יכולים לסמוך עליו –</a:t>
            </a:r>
          </a:p>
          <a:p>
            <a:r>
              <a:rPr lang="en-US"/>
              <a:t>אז שילוב של כותרת וטקסט יחד הוא הבחירה הנכונה, גם אם זה בא על חשבון פספוס של חלק מהמקרים.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אז בדקנו את המודל שלנו בשלוש גרסאות שונות:</a:t>
            </a:r>
          </a:p>
          <a:p>
            <a:r>
              <a:rPr lang="en-US"/>
              <a:t>על כותרות בלבד (Title), על גוף הטקסט בלבד (Text), ועל שילוב של שניהם (Title &amp; Text) –</a:t>
            </a:r>
          </a:p>
          <a:p>
            <a:r>
              <a:rPr lang="en-US"/>
              <a:t>והנה מה שגילינו:</a:t>
            </a:r>
          </a:p>
          <a:p>
            <a:r>
              <a:rPr lang="en-US"/>
              <a:t>1. Title בלבד:</a:t>
            </a:r>
          </a:p>
          <a:p>
            <a:r>
              <a:rPr lang="en-US"/>
              <a:t>הפתיע בביצועים, בדומה להשערה שלנו, וגם בהמשך לתוצאות שקיבלנו במודלים הקלאסיים. אבל – שיעור הטעות (FPR) היה יחסית גבוה. כלומר, הכותרות לבד עזרו למודל לזהות טוב את החדשות המזויפות, אבל גם יצרו לא מעט אזעקות שווא.</a:t>
            </a:r>
          </a:p>
          <a:p>
            <a:r>
              <a:rPr lang="en-US"/>
              <a:t>2. Text בלבד: </a:t>
            </a:r>
          </a:p>
          <a:p>
            <a:r>
              <a:rPr lang="en-US"/>
              <a:t>כאן הייתה תמונה פחות מאוזנת. פרסיז'ן דווקא היה טוב והFPR נמוך, לעומת הaccuracy וrecall שדי נמוכים. זה אומר שהמודל היה מאוד "זהיר" – הוא כמעט ולא סימן חדשות אמיתיות בטעות, אבל גם פספס הרבה חדשות מזויפות.</a:t>
            </a:r>
          </a:p>
          <a:p>
            <a:r>
              <a:rPr lang="en-US"/>
              <a:t>3. Title &amp; Text יחד:</a:t>
            </a:r>
          </a:p>
          <a:p>
            <a:r>
              <a:rPr lang="en-US"/>
              <a:t>כאן קיבלנו שילוב מעניין – המודל כאן כמעט לא טעה כשזיהה משהו כפייק, אבל כן פספס לא מעט מקרים שכן היו צריכים להיחשב ככאלה.</a:t>
            </a:r>
          </a:p>
          <a:p>
            <a:r>
              <a:rPr lang="en-US"/>
              <a:t/>
            </a:r>
          </a:p>
          <a:p>
            <a:r>
              <a:rPr lang="en-US"/>
              <a:t>אם אנחנו רוצים איזון טוב בין דיוק (precision) לרגישות (recall) – כלומר גם לזהות נכון פייק ניוז וגם לא לפספס הרבה –</a:t>
            </a:r>
          </a:p>
          <a:p>
            <a:r>
              <a:rPr lang="en-US"/>
              <a:t>אז דווקא הגרסה שמבוססת רק על הכותרת נותנת את התוצאה הכי מאוזנת.</a:t>
            </a:r>
          </a:p>
          <a:p>
            <a:r>
              <a:rPr lang="en-US"/>
              <a:t/>
            </a:r>
          </a:p>
          <a:p>
            <a:r>
              <a:rPr lang="en-US"/>
              <a:t>מצד שני, אם המטרה שלנו היא ביטחון גבוה – כלומר, ברגע שהמודל אומר "זה פייק", אנחנו ממש יכולים לסמוך עליו –</a:t>
            </a:r>
          </a:p>
          <a:p>
            <a:r>
              <a:rPr lang="en-US"/>
              <a:t>אז שילוב של כותרת וטקסט יחד הוא הבחירה הנכונה, גם אם זה בא על חשבון פספוס של חלק מהמקרים.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מה זה פיינטיונינג? בקצרה - זה תהליך שבעצם לוקחים את המשקולות של מודל שפה כלשהו וממשיכים את האימון שלו ומעדכנים את המשקלים הפנימיים כדי שיתאימו יותר למשימה.</a:t>
            </a:r>
          </a:p>
          <a:p>
            <a:r>
              <a:rPr lang="en-US"/>
              <a:t/>
            </a:r>
          </a:p>
          <a:p>
            <a:r>
              <a:rPr lang="en-US"/>
              <a:t>למה עושים את זה? כי המודלים שהם pre-trained הם מודלים כללים והביצועים שלהם במשימות ספציפיות כמו שלנו עלולים להיות לא מספקים.</a:t>
            </a:r>
          </a:p>
          <a:p>
            <a:r>
              <a:rPr lang="en-US"/>
              <a:t/>
            </a:r>
          </a:p>
          <a:p>
            <a:r>
              <a:rPr lang="en-US"/>
              <a:t>בעצם בפיינטיונינג אנחנו מציגים למודל שפת תוכן חדשה וגורמים לו להכיר אותה ולהתאמן עליה.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יתרונות לשיטה:</a:t>
            </a:r>
          </a:p>
          <a:p>
            <a:r>
              <a:rPr lang="en-US"/>
              <a:t>דיוק גבוה במשימות ספציפיות לתחום</a:t>
            </a:r>
          </a:p>
          <a:p>
            <a:r>
              <a:rPr lang="en-US"/>
              <a:t/>
            </a:r>
          </a:p>
          <a:p>
            <a:r>
              <a:rPr lang="en-US"/>
              <a:t>מודל ניתן לשימוש חוזר – אחרי האימון ניתן להשתמש בו מיד</a:t>
            </a:r>
          </a:p>
          <a:p>
            <a:r>
              <a:rPr lang="en-US"/>
              <a:t/>
            </a:r>
          </a:p>
          <a:p>
            <a:r>
              <a:rPr lang="en-US"/>
              <a:t>לומד דפוסים עדינים בנתונים (כמו טון וסגנון ניסוח של פייק ניוז)</a:t>
            </a:r>
          </a:p>
          <a:p>
            <a:r>
              <a:rPr lang="en-US"/>
              <a:t/>
            </a:r>
          </a:p>
          <a:p>
            <a:r>
              <a:rPr lang="en-US"/>
              <a:t>חסרונות:</a:t>
            </a:r>
          </a:p>
          <a:p>
            <a:r>
              <a:rPr lang="en-US"/>
              <a:t>מי שיצא לו להכיר ולהשתמש אז יודע שזה דורש משאבים חישוביים גבוהים, במיוחד עם מודלים גדולים</a:t>
            </a:r>
          </a:p>
          <a:p>
            <a:r>
              <a:rPr lang="en-US"/>
              <a:t/>
            </a:r>
          </a:p>
          <a:p>
            <a:r>
              <a:rPr lang="en-US"/>
              <a:t>האימון עשוי לקחת זמן, גם עם דאטאסט קטן</a:t>
            </a:r>
          </a:p>
          <a:p>
            <a:r>
              <a:rPr lang="en-US"/>
              <a:t/>
            </a:r>
          </a:p>
          <a:p>
            <a:r>
              <a:rPr lang="en-US"/>
              <a:t>דורש דאטאסט עם לייבלים שהוא גם איכותי – שבדרך כלל קשה או יקר להשיג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מתי משתמשים ב-Fine-Tuning?</a:t>
            </a:r>
          </a:p>
          <a:p>
            <a:r>
              <a:rPr lang="en-US"/>
              <a:t/>
            </a:r>
          </a:p>
          <a:p>
            <a:r>
              <a:rPr lang="en-US"/>
              <a:t>כשיש נתונים עם לייבילים למשימה מסוימת</a:t>
            </a:r>
          </a:p>
          <a:p>
            <a:r>
              <a:rPr lang="en-US"/>
              <a:t/>
            </a:r>
          </a:p>
          <a:p>
            <a:r>
              <a:rPr lang="en-US"/>
              <a:t>כשהדיוק חשוב במיוחד (למשל בזיהוי מידע שגוי)</a:t>
            </a:r>
          </a:p>
          <a:p>
            <a:r>
              <a:rPr lang="en-US"/>
              <a:t/>
            </a:r>
          </a:p>
          <a:p>
            <a:r>
              <a:rPr lang="en-US"/>
              <a:t>כשצריך שהמודל יסווג או ייצור טקסט באופן אמין</a:t>
            </a:r>
          </a:p>
          <a:p>
            <a:r>
              <a:rPr lang="en-US"/>
              <a:t/>
            </a:r>
          </a:p>
          <a:p>
            <a:r>
              <a:rPr lang="en-US"/>
              <a:t>בעיקר כשלמידה מתוך ההקשר (כמו פיו שוטס) לא מספיק טובה</a:t>
            </a:r>
          </a:p>
          <a:p>
            <a:r>
              <a:rPr lang="en-US"/>
              <a:t/>
            </a:r>
          </a:p>
          <a:p>
            <a:r>
              <a:rPr lang="en-US"/>
              <a:t>למה Fine-Tuning לזיהוי פייק ניוז?</a:t>
            </a:r>
          </a:p>
          <a:p>
            <a:r>
              <a:rPr lang="en-US"/>
              <a:t/>
            </a:r>
          </a:p>
          <a:p>
            <a:r>
              <a:rPr lang="en-US"/>
              <a:t>פייק ניוז נוטה לכלול דפוסים חוזרים – כמו טענות מוגזמות, מקורות חשודים, או ניסוחים רגשיים.</a:t>
            </a:r>
          </a:p>
          <a:p>
            <a:r>
              <a:rPr lang="en-US"/>
              <a:t/>
            </a:r>
          </a:p>
          <a:p>
            <a:r>
              <a:rPr lang="en-US"/>
              <a:t>Fine-Tuning מאפשר למודל:</a:t>
            </a:r>
          </a:p>
          <a:p>
            <a:r>
              <a:rPr lang="en-US"/>
              <a:t/>
            </a:r>
          </a:p>
          <a:p>
            <a:r>
              <a:rPr lang="en-US"/>
              <a:t>ללמוד את הדפוסים האלה ישירות</a:t>
            </a:r>
          </a:p>
          <a:p>
            <a:r>
              <a:rPr lang="en-US"/>
              <a:t/>
            </a:r>
          </a:p>
          <a:p>
            <a:r>
              <a:rPr lang="en-US"/>
              <a:t>לסווג בביטחון</a:t>
            </a:r>
          </a:p>
          <a:p>
            <a:r>
              <a:rPr lang="en-US"/>
              <a:t/>
            </a:r>
          </a:p>
          <a:p>
            <a:r>
              <a:rPr lang="en-US"/>
              <a:t>להציג ביצועים טובים יותר מגישות כלליות, במיוחד כשיש חשיבות גבוהה לדיוק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את הפיינטיונינג עשינו בשיטה של LORA. למי שלא מכיר, LORA זו שיטה שבה במקום לעדכן את כל מיליארדי הפרמטרים של המודל, אנחנו משאירים את מודל הבסיס קפוא ומוסיפים מטריצות קטנות שניתנות לאימון ונקראות גם low-rank adapters.</a:t>
            </a:r>
          </a:p>
          <a:p>
            <a:r>
              <a:rPr lang="en-US"/>
              <a:t/>
            </a:r>
          </a:p>
          <a:p>
            <a:r>
              <a:rPr lang="en-US"/>
              <a:t>האדפטרס האלה הם אלה שלומדים את ההתנהגות הספציפית למשימה.</a:t>
            </a:r>
          </a:p>
          <a:p>
            <a:r>
              <a:rPr lang="en-US"/>
              <a:t/>
            </a:r>
          </a:p>
          <a:p>
            <a:r>
              <a:rPr lang="en-US"/>
              <a:t>היתרונות בשיטה הזאת היא שהיא מהירה וזולה יותר, צורכת פחות זיכרון ומאפשרת לעבור בין משימות בקלות.</a:t>
            </a:r>
          </a:p>
          <a:p>
            <a:r>
              <a:rPr lang="en-US"/>
              <a:t/>
            </a:r>
          </a:p>
          <a:p>
            <a:r>
              <a:rPr lang="en-US"/>
              <a:t>בעצם אם יש לי מודל בסיס שמאומן לשתי משימות בעזרת LORA אז אני ממש יכולה לקחת את האדפטרס של כל משימה ולהלביש על המודל בסיס.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אז מה התהליך?</a:t>
            </a:r>
          </a:p>
          <a:p>
            <a:r>
              <a:rPr lang="en-US"/>
              <a:t>1. התחלנו עם מודל פרי-טריינד שבמקרה שלנו זה לאמה 3.1</a:t>
            </a:r>
          </a:p>
          <a:p>
            <a:r>
              <a:rPr lang="en-US"/>
              <a:t>2. הוספנו אדפטרס של לורה לשכבות מסוימות במודל שאלו יהיו החלקים היחידים שיתעדכנו במהלך האימון</a:t>
            </a:r>
          </a:p>
          <a:p>
            <a:r>
              <a:rPr lang="en-US"/>
              <a:t>3. מכינים את הדאטה סט עם הלייבלים </a:t>
            </a:r>
          </a:p>
          <a:p>
            <a:r>
              <a:rPr lang="en-US"/>
              <a:t>4. מאמנים את האדפטרס כשהמודל המקורי בעצם קפוא. רק המטריצות של לורה משתנות</a:t>
            </a:r>
          </a:p>
          <a:p>
            <a:r>
              <a:rPr lang="en-US"/>
              <a:t>5. משתמשים במודל למשימה שעליה הוא אומן</a:t>
            </a:r>
          </a:p>
          <a:p>
            <a:r>
              <a:rPr lang="en-US"/>
              <a:t/>
            </a:r>
          </a:p>
          <a:p>
            <a:r>
              <a:rPr lang="en-US"/>
              <a:t>עכשיו פה הזמן להגיד שאנחנו נתקלנו בקשיים עם האימון של המודל, היו בעיות עם הקלאסטר ולצערנו לא הצלחנו להוציא תוצאות אבל כן היה חשוב לנו להציג את הנושא כי זה רוב העבודה שלנו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אז בדקנו את המודל שלנו בשלוש גרסאות שונות:</a:t>
            </a:r>
          </a:p>
          <a:p>
            <a:r>
              <a:rPr lang="en-US"/>
              <a:t>על כותרות בלבד (Title), על גוף הטקסט בלבד (Text), ועל שילוב של שניהם (Title &amp; Text) –</a:t>
            </a:r>
          </a:p>
          <a:p>
            <a:r>
              <a:rPr lang="en-US"/>
              <a:t>והנה מה שגילינו:</a:t>
            </a:r>
          </a:p>
          <a:p>
            <a:r>
              <a:rPr lang="en-US"/>
              <a:t>1. Title בלבד:</a:t>
            </a:r>
          </a:p>
          <a:p>
            <a:r>
              <a:rPr lang="en-US"/>
              <a:t>הפתיע בביצועים, בדומה להשערה שלנו, וגם בהמשך לתוצאות שקיבלנו במודלים הקלאסיים. אבל – שיעור הטעות (FPR) היה יחסית גבוה. כלומר, הכותרות לבד עזרו למודל לזהות טוב את החדשות המזויפות, אבל גם יצרו לא מעט אזעקות שווא.</a:t>
            </a:r>
          </a:p>
          <a:p>
            <a:r>
              <a:rPr lang="en-US"/>
              <a:t>2. Text בלבד: </a:t>
            </a:r>
          </a:p>
          <a:p>
            <a:r>
              <a:rPr lang="en-US"/>
              <a:t>כאן הייתה תמונה פחות מאוזנת. פרסיז'ן דווקא היה טוב והFPR נמוך, לעומת הaccuracy וrecall שדי נמוכים. זה אומר שהמודל היה מאוד "זהיר" – הוא כמעט ולא סימן חדשות אמיתיות בטעות, אבל גם פספס הרבה חדשות מזויפות.</a:t>
            </a:r>
          </a:p>
          <a:p>
            <a:r>
              <a:rPr lang="en-US"/>
              <a:t>3. Title &amp; Text יחד:</a:t>
            </a:r>
          </a:p>
          <a:p>
            <a:r>
              <a:rPr lang="en-US"/>
              <a:t>כאן קיבלנו שילוב מעניין – המודל כאן כמעט לא טעה כשזיהה משהו כפייק, אבל כן פספס לא מעט מקרים שכן היו צריכים להיחשב ככאלה.</a:t>
            </a:r>
          </a:p>
          <a:p>
            <a:r>
              <a:rPr lang="en-US"/>
              <a:t/>
            </a:r>
          </a:p>
          <a:p>
            <a:r>
              <a:rPr lang="en-US"/>
              <a:t>אם אנחנו רוצים איזון טוב בין דיוק (precision) לרגישות (recall) – כלומר גם לזהות נכון פייק ניוז וגם לא לפספס הרבה –</a:t>
            </a:r>
          </a:p>
          <a:p>
            <a:r>
              <a:rPr lang="en-US"/>
              <a:t>אז דווקא הגרסה שמבוססת רק על הכותרת נותנת את התוצאה הכי מאוזנת.</a:t>
            </a:r>
          </a:p>
          <a:p>
            <a:r>
              <a:rPr lang="en-US"/>
              <a:t/>
            </a:r>
          </a:p>
          <a:p>
            <a:r>
              <a:rPr lang="en-US"/>
              <a:t>מצד שני, אם המטרה שלנו היא ביטחון גבוה – כלומר, ברגע שהמודל אומר "זה פייק", אנחנו ממש יכולים לסמוך עליו –</a:t>
            </a:r>
          </a:p>
          <a:p>
            <a:r>
              <a:rPr lang="en-US"/>
              <a:t>אז שילוב של כותרת וטקסט יחד הוא הבחירה הנכונה, גם אם זה בא על חשבון פספוס של חלק מהמקרים.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המודלים שהצגנו יכולים להפעיל תוסף דפדפן שמסווג כתבות חדשות.</a:t>
            </a:r>
          </a:p>
          <a:p>
            <a:r>
              <a:rPr lang="en-US"/>
              <a:t/>
            </a:r>
          </a:p>
          <a:p>
            <a:r>
              <a:rPr lang="en-US"/>
              <a:t>ניתן לפתח את הכלי כך שיציג גם רמת ביטחון לגבי מהימנות כל כתבה.</a:t>
            </a:r>
          </a:p>
          <a:p>
            <a:r>
              <a:rPr lang="en-US"/>
              <a:t/>
            </a:r>
          </a:p>
          <a:p>
            <a:r>
              <a:rPr lang="en-US"/>
              <a:t>הכלי יכול להיות שימושי לקוראים, עיתונאים או חוקרים שמעוניינים בתובנות מהירות המבוססות על מודל.</a:t>
            </a:r>
          </a:p>
          <a:p>
            <a:r>
              <a:rPr lang="en-US"/>
              <a:t/>
            </a:r>
          </a:p>
          <a:p>
            <a:r>
              <a:rPr lang="en-US"/>
              <a:t>שילוב בין שיטות שונות עשוי לשפר את הדיוק במצבים אמיתיים.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2" Target="../notesSlides/notesSlide2.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2" Target="../notesSlides/notesSlide5.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notesSlides/notesSlide6.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22.png" Type="http://schemas.openxmlformats.org/officeDocument/2006/relationships/image"/><Relationship Id="rId9"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24.png" Type="http://schemas.openxmlformats.org/officeDocument/2006/relationships/image"/><Relationship Id="rId9" Target="../media/image2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26.png" Type="http://schemas.openxmlformats.org/officeDocument/2006/relationships/image"/><Relationship Id="rId9" Target="../media/image2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2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2" Target="../notesSlides/notesSlide10.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2" Target="../notesSlides/notesSlide11.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2" Target="../notesSlides/notesSlide13.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2" Target="../notesSlides/notesSlide14.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4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4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4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4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4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2" Target="../notesSlides/notesSlide22.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4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46.png" Type="http://schemas.openxmlformats.org/officeDocument/2006/relationships/image"/><Relationship Id="rId9" Target="../media/image47.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2" Target="../notesSlides/notesSlide29.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48.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765869">
            <a:off x="11981987" y="611260"/>
            <a:ext cx="6553647" cy="3031062"/>
          </a:xfrm>
          <a:custGeom>
            <a:avLst/>
            <a:gdLst/>
            <a:ahLst/>
            <a:cxnLst/>
            <a:rect r="r" b="b" t="t" l="l"/>
            <a:pathLst>
              <a:path h="3031062" w="6553647">
                <a:moveTo>
                  <a:pt x="0" y="0"/>
                </a:moveTo>
                <a:lnTo>
                  <a:pt x="6553647" y="0"/>
                </a:lnTo>
                <a:lnTo>
                  <a:pt x="6553647" y="3031061"/>
                </a:lnTo>
                <a:lnTo>
                  <a:pt x="0" y="3031061"/>
                </a:lnTo>
                <a:lnTo>
                  <a:pt x="0" y="0"/>
                </a:lnTo>
                <a:close/>
              </a:path>
            </a:pathLst>
          </a:custGeom>
          <a:blipFill>
            <a:blip r:embed="rId4"/>
            <a:stretch>
              <a:fillRect l="0" t="0" r="0" b="0"/>
            </a:stretch>
          </a:blipFill>
        </p:spPr>
      </p:sp>
      <p:grpSp>
        <p:nvGrpSpPr>
          <p:cNvPr name="Group 4" id="4"/>
          <p:cNvGrpSpPr/>
          <p:nvPr/>
        </p:nvGrpSpPr>
        <p:grpSpPr>
          <a:xfrm rot="0">
            <a:off x="1681104" y="2295053"/>
            <a:ext cx="14710478" cy="3164858"/>
            <a:chOff x="0" y="0"/>
            <a:chExt cx="6216047" cy="1337340"/>
          </a:xfrm>
        </p:grpSpPr>
        <p:sp>
          <p:nvSpPr>
            <p:cNvPr name="Freeform 5" id="5"/>
            <p:cNvSpPr/>
            <p:nvPr/>
          </p:nvSpPr>
          <p:spPr>
            <a:xfrm flipH="false" flipV="false" rot="0">
              <a:off x="0" y="0"/>
              <a:ext cx="6216047" cy="1337340"/>
            </a:xfrm>
            <a:custGeom>
              <a:avLst/>
              <a:gdLst/>
              <a:ahLst/>
              <a:cxnLst/>
              <a:rect r="r" b="b" t="t" l="l"/>
              <a:pathLst>
                <a:path h="1337340" w="6216047">
                  <a:moveTo>
                    <a:pt x="0" y="0"/>
                  </a:moveTo>
                  <a:lnTo>
                    <a:pt x="0" y="1337340"/>
                  </a:lnTo>
                  <a:lnTo>
                    <a:pt x="6216047" y="1037831"/>
                  </a:lnTo>
                  <a:lnTo>
                    <a:pt x="6216047" y="0"/>
                  </a:lnTo>
                  <a:close/>
                </a:path>
              </a:pathLst>
            </a:custGeom>
            <a:gradFill rotWithShape="true">
              <a:gsLst>
                <a:gs pos="0">
                  <a:srgbClr val="FF3131">
                    <a:alpha val="100000"/>
                  </a:srgbClr>
                </a:gs>
                <a:gs pos="50000">
                  <a:srgbClr val="FF3131">
                    <a:alpha val="100000"/>
                  </a:srgbClr>
                </a:gs>
                <a:gs pos="100000">
                  <a:srgbClr val="761818">
                    <a:alpha val="100000"/>
                  </a:srgbClr>
                </a:gs>
              </a:gsLst>
              <a:lin ang="5400000"/>
            </a:gradFill>
            <a:ln w="12700" cap="sq">
              <a:solidFill>
                <a:srgbClr val="000000"/>
              </a:solidFill>
              <a:prstDash val="solid"/>
              <a:miter/>
            </a:ln>
          </p:spPr>
        </p:sp>
      </p:grpSp>
      <p:grpSp>
        <p:nvGrpSpPr>
          <p:cNvPr name="Group 6" id="6"/>
          <p:cNvGrpSpPr/>
          <p:nvPr/>
        </p:nvGrpSpPr>
        <p:grpSpPr>
          <a:xfrm rot="0">
            <a:off x="1425352" y="1981181"/>
            <a:ext cx="3487213" cy="897882"/>
            <a:chOff x="0" y="0"/>
            <a:chExt cx="6216047" cy="1600498"/>
          </a:xfrm>
        </p:grpSpPr>
        <p:sp>
          <p:nvSpPr>
            <p:cNvPr name="Freeform 7" id="7"/>
            <p:cNvSpPr/>
            <p:nvPr/>
          </p:nvSpPr>
          <p:spPr>
            <a:xfrm flipH="false" flipV="false" rot="0">
              <a:off x="0" y="0"/>
              <a:ext cx="6216047" cy="1600498"/>
            </a:xfrm>
            <a:custGeom>
              <a:avLst/>
              <a:gdLst/>
              <a:ahLst/>
              <a:cxnLst/>
              <a:rect r="r" b="b" t="t" l="l"/>
              <a:pathLst>
                <a:path h="1600498" w="6216047">
                  <a:moveTo>
                    <a:pt x="0" y="0"/>
                  </a:moveTo>
                  <a:lnTo>
                    <a:pt x="0" y="1600498"/>
                  </a:lnTo>
                  <a:lnTo>
                    <a:pt x="6216047" y="1242053"/>
                  </a:lnTo>
                  <a:lnTo>
                    <a:pt x="6216047" y="0"/>
                  </a:lnTo>
                  <a:close/>
                </a:path>
              </a:pathLst>
            </a:custGeom>
            <a:solidFill>
              <a:srgbClr val="FEC622"/>
            </a:solidFill>
            <a:ln cap="sq" w="12700">
              <a:solidFill>
                <a:srgbClr val="000000"/>
              </a:solidFill>
              <a:prstDash val="solid"/>
              <a:miter/>
            </a:ln>
          </p:spPr>
        </p:sp>
      </p:grpSp>
      <p:sp>
        <p:nvSpPr>
          <p:cNvPr name="Freeform 8" id="8"/>
          <p:cNvSpPr/>
          <p:nvPr/>
        </p:nvSpPr>
        <p:spPr>
          <a:xfrm flipH="false" flipV="false" rot="-157939">
            <a:off x="5722322" y="4573553"/>
            <a:ext cx="4736643" cy="964501"/>
          </a:xfrm>
          <a:custGeom>
            <a:avLst/>
            <a:gdLst/>
            <a:ahLst/>
            <a:cxnLst/>
            <a:rect r="r" b="b" t="t" l="l"/>
            <a:pathLst>
              <a:path h="964501" w="4736643">
                <a:moveTo>
                  <a:pt x="0" y="0"/>
                </a:moveTo>
                <a:lnTo>
                  <a:pt x="4736644" y="0"/>
                </a:lnTo>
                <a:lnTo>
                  <a:pt x="4736644" y="964501"/>
                </a:lnTo>
                <a:lnTo>
                  <a:pt x="0" y="964501"/>
                </a:lnTo>
                <a:lnTo>
                  <a:pt x="0" y="0"/>
                </a:lnTo>
                <a:close/>
              </a:path>
            </a:pathLst>
          </a:custGeom>
          <a:blipFill>
            <a:blip r:embed="rId5"/>
            <a:stretch>
              <a:fillRect l="0" t="0" r="-5096" b="0"/>
            </a:stretch>
          </a:blipFill>
        </p:spPr>
      </p:sp>
      <p:grpSp>
        <p:nvGrpSpPr>
          <p:cNvPr name="Group 9" id="9"/>
          <p:cNvGrpSpPr/>
          <p:nvPr/>
        </p:nvGrpSpPr>
        <p:grpSpPr>
          <a:xfrm rot="439427">
            <a:off x="8514899" y="4182350"/>
            <a:ext cx="8185496" cy="3069472"/>
            <a:chOff x="0" y="0"/>
            <a:chExt cx="7496775" cy="2811209"/>
          </a:xfrm>
        </p:grpSpPr>
        <p:sp>
          <p:nvSpPr>
            <p:cNvPr name="Freeform 10" id="10"/>
            <p:cNvSpPr/>
            <p:nvPr/>
          </p:nvSpPr>
          <p:spPr>
            <a:xfrm flipH="false" flipV="false" rot="0">
              <a:off x="0" y="0"/>
              <a:ext cx="7496775" cy="2811209"/>
            </a:xfrm>
            <a:custGeom>
              <a:avLst/>
              <a:gdLst/>
              <a:ahLst/>
              <a:cxnLst/>
              <a:rect r="r" b="b" t="t" l="l"/>
              <a:pathLst>
                <a:path h="2811209" w="7496775">
                  <a:moveTo>
                    <a:pt x="7496775" y="1858239"/>
                  </a:moveTo>
                  <a:lnTo>
                    <a:pt x="0" y="2811209"/>
                  </a:lnTo>
                  <a:lnTo>
                    <a:pt x="0" y="952969"/>
                  </a:lnTo>
                  <a:lnTo>
                    <a:pt x="7496775" y="0"/>
                  </a:lnTo>
                  <a:close/>
                </a:path>
              </a:pathLst>
            </a:custGeom>
            <a:solidFill>
              <a:srgbClr val="FEC622"/>
            </a:solidFill>
            <a:ln cap="sq" w="12700">
              <a:solidFill>
                <a:srgbClr val="000000"/>
              </a:solidFill>
              <a:prstDash val="solid"/>
              <a:miter/>
            </a:ln>
          </p:spPr>
        </p:sp>
      </p:grpSp>
      <p:sp>
        <p:nvSpPr>
          <p:cNvPr name="Freeform 11" id="11"/>
          <p:cNvSpPr/>
          <p:nvPr/>
        </p:nvSpPr>
        <p:spPr>
          <a:xfrm flipH="false" flipV="false" rot="0">
            <a:off x="16014090" y="500081"/>
            <a:ext cx="1408755" cy="639222"/>
          </a:xfrm>
          <a:custGeom>
            <a:avLst/>
            <a:gdLst/>
            <a:ahLst/>
            <a:cxnLst/>
            <a:rect r="r" b="b" t="t" l="l"/>
            <a:pathLst>
              <a:path h="639222" w="1408755">
                <a:moveTo>
                  <a:pt x="0" y="0"/>
                </a:moveTo>
                <a:lnTo>
                  <a:pt x="1408755" y="0"/>
                </a:lnTo>
                <a:lnTo>
                  <a:pt x="1408755" y="639222"/>
                </a:lnTo>
                <a:lnTo>
                  <a:pt x="0" y="6392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683413" y="859923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8">
              <a:extLst>
                <a:ext uri="{96DAC541-7B7A-43D3-8B79-37D633B846F1}">
                  <asvg:svgBlip xmlns:asvg="http://schemas.microsoft.com/office/drawing/2016/SVG/main" r:embed="rId9"/>
                </a:ext>
              </a:extLst>
            </a:blip>
            <a:stretch>
              <a:fillRect l="0" t="-192211" r="0" b="-182709"/>
            </a:stretch>
          </a:blipFill>
          <a:ln w="190500" cap="sq">
            <a:solidFill>
              <a:srgbClr val="FEC622"/>
            </a:solidFill>
            <a:prstDash val="solid"/>
            <a:miter/>
          </a:ln>
        </p:spPr>
      </p:sp>
      <p:grpSp>
        <p:nvGrpSpPr>
          <p:cNvPr name="Group 13" id="13"/>
          <p:cNvGrpSpPr/>
          <p:nvPr/>
        </p:nvGrpSpPr>
        <p:grpSpPr>
          <a:xfrm rot="839324">
            <a:off x="-1225746" y="8253820"/>
            <a:ext cx="4125934" cy="3069472"/>
            <a:chOff x="0" y="0"/>
            <a:chExt cx="3778781" cy="2811209"/>
          </a:xfrm>
        </p:grpSpPr>
        <p:sp>
          <p:nvSpPr>
            <p:cNvPr name="Freeform 14" id="14"/>
            <p:cNvSpPr/>
            <p:nvPr/>
          </p:nvSpPr>
          <p:spPr>
            <a:xfrm flipH="false" flipV="false" rot="0">
              <a:off x="0" y="0"/>
              <a:ext cx="3778781" cy="2811209"/>
            </a:xfrm>
            <a:custGeom>
              <a:avLst/>
              <a:gdLst/>
              <a:ahLst/>
              <a:cxnLst/>
              <a:rect r="r" b="b" t="t" l="l"/>
              <a:pathLst>
                <a:path h="2811209" w="3778781">
                  <a:moveTo>
                    <a:pt x="3778781" y="1858239"/>
                  </a:moveTo>
                  <a:lnTo>
                    <a:pt x="0" y="2811209"/>
                  </a:lnTo>
                  <a:lnTo>
                    <a:pt x="0" y="952969"/>
                  </a:lnTo>
                  <a:lnTo>
                    <a:pt x="3778781" y="0"/>
                  </a:lnTo>
                  <a:close/>
                </a:path>
              </a:pathLst>
            </a:custGeom>
            <a:solidFill>
              <a:srgbClr val="FEC622"/>
            </a:solidFill>
            <a:ln cap="sq" w="12700">
              <a:solidFill>
                <a:srgbClr val="000000"/>
              </a:solidFill>
              <a:prstDash val="solid"/>
              <a:miter/>
            </a:ln>
          </p:spPr>
        </p:sp>
      </p:grpSp>
      <p:sp>
        <p:nvSpPr>
          <p:cNvPr name="Freeform 15" id="15"/>
          <p:cNvSpPr/>
          <p:nvPr/>
        </p:nvSpPr>
        <p:spPr>
          <a:xfrm flipH="false" flipV="false" rot="0">
            <a:off x="397601" y="7761030"/>
            <a:ext cx="2055502" cy="2104442"/>
          </a:xfrm>
          <a:custGeom>
            <a:avLst/>
            <a:gdLst/>
            <a:ahLst/>
            <a:cxnLst/>
            <a:rect r="r" b="b" t="t" l="l"/>
            <a:pathLst>
              <a:path h="2104442" w="2055502">
                <a:moveTo>
                  <a:pt x="0" y="0"/>
                </a:moveTo>
                <a:lnTo>
                  <a:pt x="2055502" y="0"/>
                </a:lnTo>
                <a:lnTo>
                  <a:pt x="2055502" y="2104442"/>
                </a:lnTo>
                <a:lnTo>
                  <a:pt x="0" y="2104442"/>
                </a:lnTo>
                <a:lnTo>
                  <a:pt x="0" y="0"/>
                </a:lnTo>
                <a:close/>
              </a:path>
            </a:pathLst>
          </a:custGeom>
          <a:blipFill>
            <a:blip r:embed="rId10">
              <a:extLst>
                <a:ext uri="{96DAC541-7B7A-43D3-8B79-37D633B846F1}">
                  <asvg:svgBlip xmlns:asvg="http://schemas.microsoft.com/office/drawing/2016/SVG/main" r:embed="rId11"/>
                </a:ext>
              </a:extLst>
            </a:blip>
            <a:stretch>
              <a:fillRect l="-229858" t="-333507" r="-269828" b="-30692"/>
            </a:stretch>
          </a:blipFill>
        </p:spPr>
      </p:sp>
      <p:sp>
        <p:nvSpPr>
          <p:cNvPr name="Freeform 16" id="16"/>
          <p:cNvSpPr/>
          <p:nvPr/>
        </p:nvSpPr>
        <p:spPr>
          <a:xfrm flipH="false" flipV="false" rot="0">
            <a:off x="697709" y="8063104"/>
            <a:ext cx="1455285" cy="1500294"/>
          </a:xfrm>
          <a:custGeom>
            <a:avLst/>
            <a:gdLst/>
            <a:ahLst/>
            <a:cxnLst/>
            <a:rect r="r" b="b" t="t" l="l"/>
            <a:pathLst>
              <a:path h="1500294" w="1455285">
                <a:moveTo>
                  <a:pt x="0" y="0"/>
                </a:moveTo>
                <a:lnTo>
                  <a:pt x="1455286" y="0"/>
                </a:lnTo>
                <a:lnTo>
                  <a:pt x="1455286" y="1500294"/>
                </a:lnTo>
                <a:lnTo>
                  <a:pt x="0" y="150029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93441">
            <a:off x="1644468" y="2642469"/>
            <a:ext cx="14777021" cy="2222468"/>
          </a:xfrm>
          <a:prstGeom prst="rect">
            <a:avLst/>
          </a:prstGeom>
        </p:spPr>
        <p:txBody>
          <a:bodyPr anchor="t" rtlCol="false" tIns="0" lIns="0" bIns="0" rIns="0">
            <a:spAutoFit/>
          </a:bodyPr>
          <a:lstStyle/>
          <a:p>
            <a:pPr algn="ctr">
              <a:lnSpc>
                <a:spcPts val="18199"/>
              </a:lnSpc>
            </a:pPr>
            <a:r>
              <a:rPr lang="en-US" sz="12999">
                <a:solidFill>
                  <a:srgbClr val="EFEFEE"/>
                </a:solidFill>
                <a:latin typeface="Lovelo"/>
                <a:ea typeface="Lovelo"/>
                <a:cs typeface="Lovelo"/>
                <a:sym typeface="Lovelo"/>
              </a:rPr>
              <a:t>FACT OR FICTION?</a:t>
            </a:r>
          </a:p>
        </p:txBody>
      </p:sp>
      <p:sp>
        <p:nvSpPr>
          <p:cNvPr name="TextBox 18" id="18"/>
          <p:cNvSpPr txBox="true"/>
          <p:nvPr/>
        </p:nvSpPr>
        <p:spPr>
          <a:xfrm rot="0">
            <a:off x="8949776" y="5057989"/>
            <a:ext cx="7315743" cy="1889661"/>
          </a:xfrm>
          <a:prstGeom prst="rect">
            <a:avLst/>
          </a:prstGeom>
        </p:spPr>
        <p:txBody>
          <a:bodyPr anchor="t" rtlCol="false" tIns="0" lIns="0" bIns="0" rIns="0">
            <a:spAutoFit/>
          </a:bodyPr>
          <a:lstStyle/>
          <a:p>
            <a:pPr algn="ctr">
              <a:lnSpc>
                <a:spcPts val="5040"/>
              </a:lnSpc>
            </a:pPr>
            <a:r>
              <a:rPr lang="en-US" sz="3600" spc="964">
                <a:solidFill>
                  <a:srgbClr val="FFFFFF"/>
                </a:solidFill>
                <a:latin typeface="Lovelo"/>
                <a:ea typeface="Lovelo"/>
                <a:cs typeface="Lovelo"/>
                <a:sym typeface="Lovelo"/>
              </a:rPr>
              <a:t>GROUP PROJECT BY:</a:t>
            </a:r>
          </a:p>
          <a:p>
            <a:pPr algn="ctr" marL="0" indent="0" lvl="0">
              <a:lnSpc>
                <a:spcPts val="5040"/>
              </a:lnSpc>
            </a:pPr>
            <a:r>
              <a:rPr lang="en-US" sz="3600" spc="964">
                <a:solidFill>
                  <a:srgbClr val="FFFFFF"/>
                </a:solidFill>
                <a:latin typeface="Lovelo"/>
                <a:ea typeface="Lovelo"/>
                <a:cs typeface="Lovelo"/>
                <a:sym typeface="Lovelo"/>
              </a:rPr>
              <a:t>ELIYA, NOA &amp; OMER</a:t>
            </a:r>
          </a:p>
          <a:p>
            <a:pPr algn="ctr" marL="0" indent="0" lvl="0">
              <a:lnSpc>
                <a:spcPts val="5040"/>
              </a:lnSpc>
            </a:pPr>
          </a:p>
        </p:txBody>
      </p:sp>
      <p:sp>
        <p:nvSpPr>
          <p:cNvPr name="TextBox 19" id="19"/>
          <p:cNvSpPr txBox="true"/>
          <p:nvPr/>
        </p:nvSpPr>
        <p:spPr>
          <a:xfrm rot="0">
            <a:off x="3526710" y="8928940"/>
            <a:ext cx="13335938" cy="1099688"/>
          </a:xfrm>
          <a:prstGeom prst="rect">
            <a:avLst/>
          </a:prstGeom>
        </p:spPr>
        <p:txBody>
          <a:bodyPr anchor="t" rtlCol="false" tIns="0" lIns="0" bIns="0" rIns="0">
            <a:spAutoFit/>
          </a:bodyPr>
          <a:lstStyle/>
          <a:p>
            <a:pPr algn="l">
              <a:lnSpc>
                <a:spcPts val="4480"/>
              </a:lnSpc>
            </a:pPr>
            <a:r>
              <a:rPr lang="en-US" sz="3200" b="true">
                <a:solidFill>
                  <a:srgbClr val="000000"/>
                </a:solidFill>
                <a:latin typeface="Montserrat Bold"/>
                <a:ea typeface="Montserrat Bold"/>
                <a:cs typeface="Montserrat Bold"/>
                <a:sym typeface="Montserrat Bold"/>
              </a:rPr>
              <a:t>A WORKSHOP ON LEVERAGING AI TO DETECT FAKE NEWS ONLINE</a:t>
            </a:r>
          </a:p>
        </p:txBody>
      </p:sp>
      <p:grpSp>
        <p:nvGrpSpPr>
          <p:cNvPr name="Group 20" id="20"/>
          <p:cNvGrpSpPr/>
          <p:nvPr/>
        </p:nvGrpSpPr>
        <p:grpSpPr>
          <a:xfrm rot="82590">
            <a:off x="8356874" y="6805937"/>
            <a:ext cx="8185496" cy="450277"/>
            <a:chOff x="0" y="0"/>
            <a:chExt cx="7496775" cy="412391"/>
          </a:xfrm>
        </p:grpSpPr>
        <p:sp>
          <p:nvSpPr>
            <p:cNvPr name="Freeform 21" id="21"/>
            <p:cNvSpPr/>
            <p:nvPr/>
          </p:nvSpPr>
          <p:spPr>
            <a:xfrm flipH="false" flipV="false" rot="0">
              <a:off x="0" y="0"/>
              <a:ext cx="7496775" cy="412391"/>
            </a:xfrm>
            <a:custGeom>
              <a:avLst/>
              <a:gdLst/>
              <a:ahLst/>
              <a:cxnLst/>
              <a:rect r="r" b="b" t="t" l="l"/>
              <a:pathLst>
                <a:path h="412391" w="7496775">
                  <a:moveTo>
                    <a:pt x="7496775" y="272595"/>
                  </a:moveTo>
                  <a:lnTo>
                    <a:pt x="0" y="412391"/>
                  </a:lnTo>
                  <a:lnTo>
                    <a:pt x="0" y="139796"/>
                  </a:lnTo>
                  <a:lnTo>
                    <a:pt x="7496775" y="0"/>
                  </a:lnTo>
                  <a:close/>
                </a:path>
              </a:pathLst>
            </a:custGeom>
            <a:solidFill>
              <a:srgbClr val="FEC622"/>
            </a:solidFill>
            <a:ln cap="sq" w="12700">
              <a:solidFill>
                <a:srgbClr val="000000"/>
              </a:solidFill>
              <a:prstDash val="solid"/>
              <a:miter/>
            </a:ln>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821309" y="8608426"/>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TextBox 4" id="4"/>
          <p:cNvSpPr txBox="true"/>
          <p:nvPr/>
        </p:nvSpPr>
        <p:spPr>
          <a:xfrm rot="0">
            <a:off x="1906060" y="8978437"/>
            <a:ext cx="14475881" cy="1112696"/>
          </a:xfrm>
          <a:prstGeom prst="rect">
            <a:avLst/>
          </a:prstGeom>
        </p:spPr>
        <p:txBody>
          <a:bodyPr anchor="t" rtlCol="false" tIns="0" lIns="0" bIns="0" rIns="0">
            <a:spAutoFit/>
          </a:bodyPr>
          <a:lstStyle/>
          <a:p>
            <a:pPr algn="l" marL="0" indent="0" lvl="0">
              <a:lnSpc>
                <a:spcPts val="4480"/>
              </a:lnSpc>
              <a:spcBef>
                <a:spcPct val="0"/>
              </a:spcBef>
            </a:pPr>
            <a:r>
              <a:rPr lang="en-US" b="true" sz="3200">
                <a:solidFill>
                  <a:srgbClr val="000000"/>
                </a:solidFill>
                <a:latin typeface="Montserrat Bold"/>
                <a:ea typeface="Montserrat Bold"/>
                <a:cs typeface="Montserrat Bold"/>
                <a:sym typeface="Montserrat Bold"/>
              </a:rPr>
              <a:t>REMEMBER: FAK</a:t>
            </a:r>
            <a:r>
              <a:rPr lang="en-US" b="true" sz="3200" strike="noStrike" u="none">
                <a:solidFill>
                  <a:srgbClr val="000000"/>
                </a:solidFill>
                <a:latin typeface="Montserrat Bold"/>
                <a:ea typeface="Montserrat Bold"/>
                <a:cs typeface="Montserrat Bold"/>
                <a:sym typeface="Montserrat Bold"/>
              </a:rPr>
              <a:t>E NEWS SPREADS QUICKLY ONLINE AND CAN DISTORT PUBLIC OPINION AND HARM DEMOCRATIC PROCESSES.</a:t>
            </a:r>
          </a:p>
        </p:txBody>
      </p:sp>
      <p:sp>
        <p:nvSpPr>
          <p:cNvPr name="Freeform 5" id="5"/>
          <p:cNvSpPr/>
          <p:nvPr/>
        </p:nvSpPr>
        <p:spPr>
          <a:xfrm flipH="false" flipV="false" rot="0">
            <a:off x="1028700" y="1083548"/>
            <a:ext cx="10386361" cy="6511559"/>
          </a:xfrm>
          <a:custGeom>
            <a:avLst/>
            <a:gdLst/>
            <a:ahLst/>
            <a:cxnLst/>
            <a:rect r="r" b="b" t="t" l="l"/>
            <a:pathLst>
              <a:path h="6511559" w="10386361">
                <a:moveTo>
                  <a:pt x="0" y="0"/>
                </a:moveTo>
                <a:lnTo>
                  <a:pt x="10386361" y="0"/>
                </a:lnTo>
                <a:lnTo>
                  <a:pt x="10386361" y="6511559"/>
                </a:lnTo>
                <a:lnTo>
                  <a:pt x="0" y="6511559"/>
                </a:lnTo>
                <a:lnTo>
                  <a:pt x="0" y="0"/>
                </a:lnTo>
                <a:close/>
              </a:path>
            </a:pathLst>
          </a:custGeom>
          <a:blipFill>
            <a:blip r:embed="rId4">
              <a:extLst>
                <a:ext uri="{96DAC541-7B7A-43D3-8B79-37D633B846F1}">
                  <asvg:svgBlip xmlns:asvg="http://schemas.microsoft.com/office/drawing/2016/SVG/main" r:embed="rId5"/>
                </a:ext>
              </a:extLst>
            </a:blip>
            <a:stretch>
              <a:fillRect l="-5422" t="-34986" r="-21411" b="-20031"/>
            </a:stretch>
          </a:blipFill>
          <a:ln w="66675" cap="sq">
            <a:solidFill>
              <a:srgbClr val="FEC622"/>
            </a:solidFill>
            <a:prstDash val="solid"/>
            <a:miter/>
          </a:ln>
        </p:spPr>
      </p:sp>
      <p:sp>
        <p:nvSpPr>
          <p:cNvPr name="Freeform 6" id="6"/>
          <p:cNvSpPr/>
          <p:nvPr/>
        </p:nvSpPr>
        <p:spPr>
          <a:xfrm flipH="false" flipV="false" rot="0">
            <a:off x="11594478" y="1083548"/>
            <a:ext cx="5664822" cy="6511559"/>
          </a:xfrm>
          <a:custGeom>
            <a:avLst/>
            <a:gdLst/>
            <a:ahLst/>
            <a:cxnLst/>
            <a:rect r="r" b="b" t="t" l="l"/>
            <a:pathLst>
              <a:path h="6511559" w="5664822">
                <a:moveTo>
                  <a:pt x="0" y="0"/>
                </a:moveTo>
                <a:lnTo>
                  <a:pt x="5664822" y="0"/>
                </a:lnTo>
                <a:lnTo>
                  <a:pt x="5664822" y="6511559"/>
                </a:lnTo>
                <a:lnTo>
                  <a:pt x="0" y="6511559"/>
                </a:lnTo>
                <a:lnTo>
                  <a:pt x="0" y="0"/>
                </a:lnTo>
                <a:close/>
              </a:path>
            </a:pathLst>
          </a:custGeom>
          <a:blipFill>
            <a:blip r:embed="rId6">
              <a:extLst>
                <a:ext uri="{96DAC541-7B7A-43D3-8B79-37D633B846F1}">
                  <asvg:svgBlip xmlns:asvg="http://schemas.microsoft.com/office/drawing/2016/SVG/main" r:embed="rId7"/>
                </a:ext>
              </a:extLst>
            </a:blip>
            <a:stretch>
              <a:fillRect l="-112293" t="-55018" r="-20253" b="0"/>
            </a:stretch>
          </a:blipFill>
          <a:ln w="66675" cap="sq">
            <a:solidFill>
              <a:srgbClr val="FEC622"/>
            </a:solidFill>
            <a:prstDash val="solid"/>
            <a:miter/>
          </a:ln>
        </p:spPr>
      </p:sp>
      <p:sp>
        <p:nvSpPr>
          <p:cNvPr name="Freeform 7" id="7"/>
          <p:cNvSpPr/>
          <p:nvPr/>
        </p:nvSpPr>
        <p:spPr>
          <a:xfrm flipH="false" flipV="false" rot="0">
            <a:off x="11869941" y="1693068"/>
            <a:ext cx="5113897" cy="5292519"/>
          </a:xfrm>
          <a:custGeom>
            <a:avLst/>
            <a:gdLst/>
            <a:ahLst/>
            <a:cxnLst/>
            <a:rect r="r" b="b" t="t" l="l"/>
            <a:pathLst>
              <a:path h="5292519" w="5113897">
                <a:moveTo>
                  <a:pt x="0" y="0"/>
                </a:moveTo>
                <a:lnTo>
                  <a:pt x="5113896" y="0"/>
                </a:lnTo>
                <a:lnTo>
                  <a:pt x="5113896" y="5292519"/>
                </a:lnTo>
                <a:lnTo>
                  <a:pt x="0" y="52925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676351" y="2148296"/>
            <a:ext cx="8301595" cy="1021715"/>
          </a:xfrm>
          <a:prstGeom prst="rect">
            <a:avLst/>
          </a:prstGeom>
        </p:spPr>
        <p:txBody>
          <a:bodyPr anchor="t" rtlCol="false" tIns="0" lIns="0" bIns="0" rIns="0">
            <a:spAutoFit/>
          </a:bodyPr>
          <a:lstStyle/>
          <a:p>
            <a:pPr algn="l" marL="0" indent="0" lvl="0">
              <a:lnSpc>
                <a:spcPts val="8259"/>
              </a:lnSpc>
              <a:spcBef>
                <a:spcPct val="0"/>
              </a:spcBef>
            </a:pPr>
            <a:r>
              <a:rPr lang="en-US" sz="5899">
                <a:solidFill>
                  <a:srgbClr val="000000"/>
                </a:solidFill>
                <a:latin typeface="Lovelo"/>
                <a:ea typeface="Lovelo"/>
                <a:cs typeface="Lovelo"/>
                <a:sym typeface="Lovelo"/>
              </a:rPr>
              <a:t>FAKE NEWS: DEFINITION</a:t>
            </a:r>
          </a:p>
        </p:txBody>
      </p:sp>
      <p:sp>
        <p:nvSpPr>
          <p:cNvPr name="TextBox 9" id="9"/>
          <p:cNvSpPr txBox="true"/>
          <p:nvPr/>
        </p:nvSpPr>
        <p:spPr>
          <a:xfrm rot="0">
            <a:off x="1676351" y="3508176"/>
            <a:ext cx="9091060" cy="3155950"/>
          </a:xfrm>
          <a:prstGeom prst="rect">
            <a:avLst/>
          </a:prstGeom>
        </p:spPr>
        <p:txBody>
          <a:bodyPr anchor="t" rtlCol="false" tIns="0" lIns="0" bIns="0" rIns="0">
            <a:spAutoFit/>
          </a:bodyPr>
          <a:lstStyle/>
          <a:p>
            <a:pPr algn="l">
              <a:lnSpc>
                <a:spcPts val="4249"/>
              </a:lnSpc>
            </a:pPr>
            <a:r>
              <a:rPr lang="en-US" sz="2499">
                <a:solidFill>
                  <a:srgbClr val="000000"/>
                </a:solidFill>
                <a:latin typeface="Montserrat"/>
                <a:ea typeface="Montserrat"/>
                <a:cs typeface="Montserrat"/>
                <a:sym typeface="Montserrat"/>
              </a:rPr>
              <a:t>Fak</a:t>
            </a:r>
            <a:r>
              <a:rPr lang="en-US" sz="2499">
                <a:solidFill>
                  <a:srgbClr val="000000"/>
                </a:solidFill>
                <a:latin typeface="Montserrat"/>
                <a:ea typeface="Montserrat"/>
                <a:cs typeface="Montserrat"/>
                <a:sym typeface="Montserrat"/>
              </a:rPr>
              <a:t>e news is </a:t>
            </a:r>
            <a:r>
              <a:rPr lang="en-US" sz="2499" b="true">
                <a:solidFill>
                  <a:srgbClr val="000000"/>
                </a:solidFill>
                <a:latin typeface="Montserrat Bold"/>
                <a:ea typeface="Montserrat Bold"/>
                <a:cs typeface="Montserrat Bold"/>
                <a:sym typeface="Montserrat Bold"/>
              </a:rPr>
              <a:t>false or misleading information</a:t>
            </a:r>
            <a:r>
              <a:rPr lang="en-US" sz="2499">
                <a:solidFill>
                  <a:srgbClr val="000000"/>
                </a:solidFill>
                <a:latin typeface="Montserrat"/>
                <a:ea typeface="Montserrat"/>
                <a:cs typeface="Montserrat"/>
                <a:sym typeface="Montserrat"/>
              </a:rPr>
              <a:t> presented as real news.</a:t>
            </a:r>
          </a:p>
          <a:p>
            <a:pPr algn="l">
              <a:lnSpc>
                <a:spcPts val="4249"/>
              </a:lnSpc>
            </a:pPr>
            <a:r>
              <a:rPr lang="en-US" sz="2499">
                <a:solidFill>
                  <a:srgbClr val="000000"/>
                </a:solidFill>
                <a:latin typeface="Montserrat"/>
                <a:ea typeface="Montserrat"/>
                <a:cs typeface="Montserrat"/>
                <a:sym typeface="Montserrat"/>
              </a:rPr>
              <a:t>It includes:</a:t>
            </a:r>
          </a:p>
          <a:p>
            <a:pPr algn="l" marL="539749" indent="-269875" lvl="1">
              <a:lnSpc>
                <a:spcPts val="4249"/>
              </a:lnSpc>
              <a:buFont typeface="Arial"/>
              <a:buChar char="•"/>
            </a:pPr>
            <a:r>
              <a:rPr lang="en-US" sz="2499">
                <a:solidFill>
                  <a:srgbClr val="000000"/>
                </a:solidFill>
                <a:latin typeface="Montserrat"/>
                <a:ea typeface="Montserrat"/>
                <a:cs typeface="Montserrat"/>
                <a:sym typeface="Montserrat"/>
              </a:rPr>
              <a:t>Completely made-up stories</a:t>
            </a:r>
          </a:p>
          <a:p>
            <a:pPr algn="l" marL="539749" indent="-269875" lvl="1">
              <a:lnSpc>
                <a:spcPts val="4249"/>
              </a:lnSpc>
              <a:buFont typeface="Arial"/>
              <a:buChar char="•"/>
            </a:pPr>
            <a:r>
              <a:rPr lang="en-US" sz="2499">
                <a:solidFill>
                  <a:srgbClr val="000000"/>
                </a:solidFill>
                <a:latin typeface="Montserrat"/>
                <a:ea typeface="Montserrat"/>
                <a:cs typeface="Montserrat"/>
                <a:sym typeface="Montserrat"/>
              </a:rPr>
              <a:t>Misleading headlines</a:t>
            </a:r>
          </a:p>
          <a:p>
            <a:pPr algn="l" marL="539749" indent="-269875" lvl="1">
              <a:lnSpc>
                <a:spcPts val="4249"/>
              </a:lnSpc>
              <a:buFont typeface="Arial"/>
              <a:buChar char="•"/>
            </a:pPr>
            <a:r>
              <a:rPr lang="en-US" sz="2499">
                <a:solidFill>
                  <a:srgbClr val="000000"/>
                </a:solidFill>
                <a:latin typeface="Montserrat"/>
                <a:ea typeface="Montserrat"/>
                <a:cs typeface="Montserrat"/>
                <a:sym typeface="Montserrat"/>
              </a:rPr>
              <a:t>Real content shared out of context</a:t>
            </a:r>
          </a:p>
        </p:txBody>
      </p:sp>
      <p:sp>
        <p:nvSpPr>
          <p:cNvPr name="Freeform 10" id="10"/>
          <p:cNvSpPr/>
          <p:nvPr/>
        </p:nvSpPr>
        <p:spPr>
          <a:xfrm flipH="false" flipV="false" rot="765869">
            <a:off x="-1912625" y="-376228"/>
            <a:ext cx="6553647" cy="3031062"/>
          </a:xfrm>
          <a:custGeom>
            <a:avLst/>
            <a:gdLst/>
            <a:ahLst/>
            <a:cxnLst/>
            <a:rect r="r" b="b" t="t" l="l"/>
            <a:pathLst>
              <a:path h="3031062" w="6553647">
                <a:moveTo>
                  <a:pt x="0" y="0"/>
                </a:moveTo>
                <a:lnTo>
                  <a:pt x="6553647" y="0"/>
                </a:lnTo>
                <a:lnTo>
                  <a:pt x="6553647" y="3031062"/>
                </a:lnTo>
                <a:lnTo>
                  <a:pt x="0" y="3031062"/>
                </a:lnTo>
                <a:lnTo>
                  <a:pt x="0" y="0"/>
                </a:lnTo>
                <a:close/>
              </a:path>
            </a:pathLst>
          </a:custGeom>
          <a:blipFill>
            <a:blip r:embed="rId10"/>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342838" y="2777749"/>
            <a:ext cx="8576430" cy="5895410"/>
          </a:xfrm>
          <a:custGeom>
            <a:avLst/>
            <a:gdLst/>
            <a:ahLst/>
            <a:cxnLst/>
            <a:rect r="r" b="b" t="t" l="l"/>
            <a:pathLst>
              <a:path h="5895410" w="8576430">
                <a:moveTo>
                  <a:pt x="0" y="0"/>
                </a:moveTo>
                <a:lnTo>
                  <a:pt x="8576430" y="0"/>
                </a:lnTo>
                <a:lnTo>
                  <a:pt x="8576430" y="5895410"/>
                </a:lnTo>
                <a:lnTo>
                  <a:pt x="0" y="5895410"/>
                </a:lnTo>
                <a:lnTo>
                  <a:pt x="0" y="0"/>
                </a:lnTo>
                <a:close/>
              </a:path>
            </a:pathLst>
          </a:custGeom>
          <a:blipFill>
            <a:blip r:embed="rId4">
              <a:extLst>
                <a:ext uri="{96DAC541-7B7A-43D3-8B79-37D633B846F1}">
                  <asvg:svgBlip xmlns:asvg="http://schemas.microsoft.com/office/drawing/2016/SVG/main" r:embed="rId5"/>
                </a:ext>
              </a:extLst>
            </a:blip>
            <a:stretch>
              <a:fillRect l="-9154" t="-50036" r="-25442" b="0"/>
            </a:stretch>
          </a:blipFill>
          <a:ln w="66675" cap="sq">
            <a:solidFill>
              <a:srgbClr val="FEC622"/>
            </a:solidFill>
            <a:prstDash val="solid"/>
            <a:miter/>
          </a:ln>
        </p:spPr>
      </p:sp>
      <p:sp>
        <p:nvSpPr>
          <p:cNvPr name="Freeform 4" id="4"/>
          <p:cNvSpPr/>
          <p:nvPr/>
        </p:nvSpPr>
        <p:spPr>
          <a:xfrm flipH="false" flipV="false" rot="0">
            <a:off x="9368732" y="2777749"/>
            <a:ext cx="8576430" cy="5895410"/>
          </a:xfrm>
          <a:custGeom>
            <a:avLst/>
            <a:gdLst/>
            <a:ahLst/>
            <a:cxnLst/>
            <a:rect r="r" b="b" t="t" l="l"/>
            <a:pathLst>
              <a:path h="5895410" w="8576430">
                <a:moveTo>
                  <a:pt x="0" y="0"/>
                </a:moveTo>
                <a:lnTo>
                  <a:pt x="8576430" y="0"/>
                </a:lnTo>
                <a:lnTo>
                  <a:pt x="8576430" y="5895410"/>
                </a:lnTo>
                <a:lnTo>
                  <a:pt x="0" y="5895410"/>
                </a:lnTo>
                <a:lnTo>
                  <a:pt x="0" y="0"/>
                </a:lnTo>
                <a:close/>
              </a:path>
            </a:pathLst>
          </a:custGeom>
          <a:blipFill>
            <a:blip r:embed="rId4">
              <a:extLst>
                <a:ext uri="{96DAC541-7B7A-43D3-8B79-37D633B846F1}">
                  <asvg:svgBlip xmlns:asvg="http://schemas.microsoft.com/office/drawing/2016/SVG/main" r:embed="rId5"/>
                </a:ext>
              </a:extLst>
            </a:blip>
            <a:stretch>
              <a:fillRect l="-9154" t="-50036" r="-25442" b="0"/>
            </a:stretch>
          </a:blipFill>
          <a:ln w="66675" cap="sq">
            <a:solidFill>
              <a:srgbClr val="FEC622"/>
            </a:solidFill>
            <a:prstDash val="solid"/>
            <a:miter/>
          </a:ln>
        </p:spPr>
      </p:sp>
      <p:sp>
        <p:nvSpPr>
          <p:cNvPr name="TextBox 5" id="5"/>
          <p:cNvSpPr txBox="true"/>
          <p:nvPr/>
        </p:nvSpPr>
        <p:spPr>
          <a:xfrm rot="0">
            <a:off x="1028700" y="962025"/>
            <a:ext cx="16230600" cy="1374775"/>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FFFFFF"/>
                </a:solidFill>
                <a:latin typeface="Montserrat Bold"/>
                <a:ea typeface="Montserrat Bold"/>
                <a:cs typeface="Montserrat Bold"/>
                <a:sym typeface="Montserrat Bold"/>
              </a:rPr>
              <a:t>TODAY, FAKE NEWS DETECTION IS CARRIED OUT MAINLY THROUGH MANUAL TOOLS:</a:t>
            </a:r>
          </a:p>
        </p:txBody>
      </p:sp>
      <p:sp>
        <p:nvSpPr>
          <p:cNvPr name="TextBox 6" id="6"/>
          <p:cNvSpPr txBox="true"/>
          <p:nvPr/>
        </p:nvSpPr>
        <p:spPr>
          <a:xfrm rot="0">
            <a:off x="3458909" y="2965486"/>
            <a:ext cx="2344287" cy="514416"/>
          </a:xfrm>
          <a:prstGeom prst="rect">
            <a:avLst/>
          </a:prstGeom>
        </p:spPr>
        <p:txBody>
          <a:bodyPr anchor="t" rtlCol="false" tIns="0" lIns="0" bIns="0" rIns="0">
            <a:spAutoFit/>
          </a:bodyPr>
          <a:lstStyle/>
          <a:p>
            <a:pPr algn="ctr" marL="0" indent="0" lvl="0">
              <a:lnSpc>
                <a:spcPts val="4200"/>
              </a:lnSpc>
              <a:spcBef>
                <a:spcPct val="0"/>
              </a:spcBef>
            </a:pPr>
            <a:r>
              <a:rPr lang="en-US" b="true" sz="3000">
                <a:solidFill>
                  <a:srgbClr val="000000"/>
                </a:solidFill>
                <a:latin typeface="Montserrat Bold"/>
                <a:ea typeface="Montserrat Bold"/>
                <a:cs typeface="Montserrat Bold"/>
                <a:sym typeface="Montserrat Bold"/>
              </a:rPr>
              <a:t>NewsGaurd</a:t>
            </a:r>
          </a:p>
        </p:txBody>
      </p:sp>
      <p:sp>
        <p:nvSpPr>
          <p:cNvPr name="TextBox 7" id="7"/>
          <p:cNvSpPr txBox="true"/>
          <p:nvPr/>
        </p:nvSpPr>
        <p:spPr>
          <a:xfrm rot="0">
            <a:off x="954620" y="3588419"/>
            <a:ext cx="7352864" cy="435610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Montserrat"/>
                <a:ea typeface="Montserrat"/>
                <a:cs typeface="Montserrat"/>
                <a:sym typeface="Montserrat"/>
              </a:rPr>
              <a:t>A </a:t>
            </a:r>
            <a:r>
              <a:rPr lang="en-US" b="true" sz="2499">
                <a:solidFill>
                  <a:srgbClr val="000000"/>
                </a:solidFill>
                <a:latin typeface="Montserrat Bold"/>
                <a:ea typeface="Montserrat Bold"/>
                <a:cs typeface="Montserrat Bold"/>
                <a:sym typeface="Montserrat Bold"/>
              </a:rPr>
              <a:t>U.S.-bas</a:t>
            </a:r>
            <a:r>
              <a:rPr lang="en-US" b="true" sz="2499" strike="noStrike" u="none">
                <a:solidFill>
                  <a:srgbClr val="000000"/>
                </a:solidFill>
                <a:latin typeface="Montserrat Bold"/>
                <a:ea typeface="Montserrat Bold"/>
                <a:cs typeface="Montserrat Bold"/>
                <a:sym typeface="Montserrat Bold"/>
              </a:rPr>
              <a:t>ed company</a:t>
            </a:r>
            <a:r>
              <a:rPr lang="en-US" sz="2499" strike="noStrike" u="none">
                <a:solidFill>
                  <a:srgbClr val="000000"/>
                </a:solidFill>
                <a:latin typeface="Montserrat"/>
                <a:ea typeface="Montserrat"/>
                <a:cs typeface="Montserrat"/>
                <a:sym typeface="Montserrat"/>
              </a:rPr>
              <a:t> that rates the credibility of news websites.</a:t>
            </a:r>
          </a:p>
          <a:p>
            <a:pPr algn="l" marL="539749" indent="-269875" lvl="1">
              <a:lnSpc>
                <a:spcPts val="3499"/>
              </a:lnSpc>
              <a:buFont typeface="Arial"/>
              <a:buChar char="•"/>
            </a:pPr>
            <a:r>
              <a:rPr lang="en-US" sz="2499" strike="noStrike" u="none">
                <a:solidFill>
                  <a:srgbClr val="000000"/>
                </a:solidFill>
                <a:latin typeface="Montserrat"/>
                <a:ea typeface="Montserrat"/>
                <a:cs typeface="Montserrat"/>
                <a:sym typeface="Montserrat"/>
              </a:rPr>
              <a:t>Uses journalistic criteria to score sources (e.g., transparency, accuracy).</a:t>
            </a:r>
          </a:p>
          <a:p>
            <a:pPr algn="l" marL="539749" indent="-269875" lvl="1">
              <a:lnSpc>
                <a:spcPts val="3499"/>
              </a:lnSpc>
              <a:buFont typeface="Arial"/>
              <a:buChar char="•"/>
            </a:pPr>
            <a:r>
              <a:rPr lang="en-US" sz="2499" strike="noStrike" u="none">
                <a:solidFill>
                  <a:srgbClr val="000000"/>
                </a:solidFill>
                <a:latin typeface="Montserrat"/>
                <a:ea typeface="Montserrat"/>
                <a:cs typeface="Montserrat"/>
                <a:sym typeface="Montserrat"/>
              </a:rPr>
              <a:t>Provides browser extensions that display trust ratings for news </a:t>
            </a:r>
            <a:r>
              <a:rPr lang="en-US" b="true" sz="2499" strike="noStrike" u="none">
                <a:solidFill>
                  <a:srgbClr val="000000"/>
                </a:solidFill>
                <a:latin typeface="Montserrat Bold"/>
                <a:ea typeface="Montserrat Bold"/>
                <a:cs typeface="Montserrat Bold"/>
                <a:sym typeface="Montserrat Bold"/>
              </a:rPr>
              <a:t>sites</a:t>
            </a:r>
            <a:r>
              <a:rPr lang="en-US" sz="2499" strike="noStrike" u="none">
                <a:solidFill>
                  <a:srgbClr val="000000"/>
                </a:solidFill>
                <a:latin typeface="Montserrat"/>
                <a:ea typeface="Montserrat"/>
                <a:cs typeface="Montserrat"/>
                <a:sym typeface="Montserrat"/>
              </a:rPr>
              <a:t>.</a:t>
            </a:r>
          </a:p>
          <a:p>
            <a:pPr algn="l" marL="539749" indent="-269875" lvl="1">
              <a:lnSpc>
                <a:spcPts val="3499"/>
              </a:lnSpc>
              <a:buFont typeface="Arial"/>
              <a:buChar char="•"/>
            </a:pPr>
            <a:r>
              <a:rPr lang="en-US" sz="2499" strike="noStrike" u="none">
                <a:solidFill>
                  <a:srgbClr val="000000"/>
                </a:solidFill>
                <a:latin typeface="Montserrat"/>
                <a:ea typeface="Montserrat"/>
                <a:cs typeface="Montserrat"/>
                <a:sym typeface="Montserrat"/>
              </a:rPr>
              <a:t>Aims to help users identify reliable vs. unreliable sources.</a:t>
            </a:r>
          </a:p>
          <a:p>
            <a:pPr algn="l" marL="539749" indent="-269875" lvl="1">
              <a:lnSpc>
                <a:spcPts val="3499"/>
              </a:lnSpc>
              <a:buFont typeface="Arial"/>
              <a:buChar char="•"/>
            </a:pPr>
            <a:r>
              <a:rPr lang="en-US" sz="2499" strike="noStrike" u="none">
                <a:solidFill>
                  <a:srgbClr val="000000"/>
                </a:solidFill>
                <a:latin typeface="Montserrat"/>
                <a:ea typeface="Montserrat"/>
                <a:cs typeface="Montserrat"/>
                <a:sym typeface="Montserrat"/>
              </a:rPr>
              <a:t>Partners with schools, libraries, and tech platforms to combat misinformation.</a:t>
            </a:r>
          </a:p>
        </p:txBody>
      </p:sp>
      <p:sp>
        <p:nvSpPr>
          <p:cNvPr name="TextBox 8" id="8"/>
          <p:cNvSpPr txBox="true"/>
          <p:nvPr/>
        </p:nvSpPr>
        <p:spPr>
          <a:xfrm rot="0">
            <a:off x="10026159" y="3578894"/>
            <a:ext cx="7261576" cy="4803718"/>
          </a:xfrm>
          <a:prstGeom prst="rect">
            <a:avLst/>
          </a:prstGeom>
        </p:spPr>
        <p:txBody>
          <a:bodyPr anchor="t" rtlCol="false" tIns="0" lIns="0" bIns="0" rIns="0">
            <a:spAutoFit/>
          </a:bodyPr>
          <a:lstStyle/>
          <a:p>
            <a:pPr algn="l" marL="540230" indent="-270115" lvl="1">
              <a:lnSpc>
                <a:spcPts val="3503"/>
              </a:lnSpc>
              <a:buFont typeface="Arial"/>
              <a:buChar char="•"/>
            </a:pPr>
            <a:r>
              <a:rPr lang="en-US" sz="2502">
                <a:solidFill>
                  <a:srgbClr val="000000"/>
                </a:solidFill>
                <a:latin typeface="Montserrat"/>
                <a:ea typeface="Montserrat"/>
                <a:cs typeface="Montserrat"/>
                <a:sym typeface="Montserrat"/>
              </a:rPr>
              <a:t>An </a:t>
            </a:r>
            <a:r>
              <a:rPr lang="en-US" b="true" sz="2502">
                <a:solidFill>
                  <a:srgbClr val="000000"/>
                </a:solidFill>
                <a:latin typeface="Montserrat Bold"/>
                <a:ea typeface="Montserrat Bold"/>
                <a:cs typeface="Montserrat Bold"/>
                <a:sym typeface="Montserrat Bold"/>
              </a:rPr>
              <a:t>Israeli watchdog organization</a:t>
            </a:r>
            <a:r>
              <a:rPr lang="en-US" sz="2502">
                <a:solidFill>
                  <a:srgbClr val="000000"/>
                </a:solidFill>
                <a:latin typeface="Montserrat"/>
                <a:ea typeface="Montserrat"/>
                <a:cs typeface="Montserrat"/>
                <a:sym typeface="Montserrat"/>
              </a:rPr>
              <a:t> focused on online disinformation.</a:t>
            </a:r>
          </a:p>
          <a:p>
            <a:pPr algn="l" marL="540230" indent="-270115" lvl="1">
              <a:lnSpc>
                <a:spcPts val="3503"/>
              </a:lnSpc>
              <a:buFont typeface="Arial"/>
              <a:buChar char="•"/>
            </a:pPr>
            <a:r>
              <a:rPr lang="en-US" sz="2502">
                <a:solidFill>
                  <a:srgbClr val="000000"/>
                </a:solidFill>
                <a:latin typeface="Montserrat"/>
                <a:ea typeface="Montserrat"/>
                <a:cs typeface="Montserrat"/>
                <a:sym typeface="Montserrat"/>
              </a:rPr>
              <a:t>Investigates </a:t>
            </a:r>
            <a:r>
              <a:rPr lang="en-US" b="true" sz="2502">
                <a:solidFill>
                  <a:srgbClr val="000000"/>
                </a:solidFill>
                <a:latin typeface="Montserrat Bold"/>
                <a:ea typeface="Montserrat Bold"/>
                <a:cs typeface="Montserrat Bold"/>
                <a:sym typeface="Montserrat Bold"/>
              </a:rPr>
              <a:t>fake accounts, networks, and influence campaigns</a:t>
            </a:r>
            <a:r>
              <a:rPr lang="en-US" sz="2502">
                <a:solidFill>
                  <a:srgbClr val="000000"/>
                </a:solidFill>
                <a:latin typeface="Montserrat"/>
                <a:ea typeface="Montserrat"/>
                <a:cs typeface="Montserrat"/>
                <a:sym typeface="Montserrat"/>
              </a:rPr>
              <a:t>, especially in Hebrew media.</a:t>
            </a:r>
          </a:p>
          <a:p>
            <a:pPr algn="l" marL="540230" indent="-270115" lvl="1">
              <a:lnSpc>
                <a:spcPts val="3503"/>
              </a:lnSpc>
              <a:buFont typeface="Arial"/>
              <a:buChar char="•"/>
            </a:pPr>
            <a:r>
              <a:rPr lang="en-US" sz="2502">
                <a:solidFill>
                  <a:srgbClr val="000000"/>
                </a:solidFill>
                <a:latin typeface="Montserrat"/>
                <a:ea typeface="Montserrat"/>
                <a:cs typeface="Montserrat"/>
                <a:sym typeface="Montserrat"/>
              </a:rPr>
              <a:t>Collaborates with journalists, researchers, and security bodies.</a:t>
            </a:r>
          </a:p>
          <a:p>
            <a:pPr algn="l" marL="540230" indent="-270115" lvl="1">
              <a:lnSpc>
                <a:spcPts val="3503"/>
              </a:lnSpc>
              <a:buFont typeface="Arial"/>
              <a:buChar char="•"/>
            </a:pPr>
            <a:r>
              <a:rPr lang="en-US" b="true" sz="2502">
                <a:solidFill>
                  <a:srgbClr val="000000"/>
                </a:solidFill>
                <a:latin typeface="Montserrat Bold"/>
                <a:ea typeface="Montserrat Bold"/>
                <a:cs typeface="Montserrat Bold"/>
                <a:sym typeface="Montserrat Bold"/>
              </a:rPr>
              <a:t>Uses crowdsourcing and digital tools</a:t>
            </a:r>
            <a:r>
              <a:rPr lang="en-US" sz="2502">
                <a:solidFill>
                  <a:srgbClr val="000000"/>
                </a:solidFill>
                <a:latin typeface="Montserrat"/>
                <a:ea typeface="Montserrat"/>
                <a:cs typeface="Montserrat"/>
                <a:sym typeface="Montserrat"/>
              </a:rPr>
              <a:t> to report and expose fake news.</a:t>
            </a:r>
          </a:p>
          <a:p>
            <a:pPr algn="l" marL="540230" indent="-270115" lvl="1">
              <a:lnSpc>
                <a:spcPts val="3503"/>
              </a:lnSpc>
              <a:spcBef>
                <a:spcPct val="0"/>
              </a:spcBef>
              <a:buFont typeface="Arial"/>
              <a:buChar char="•"/>
            </a:pPr>
            <a:r>
              <a:rPr lang="en-US" sz="2502">
                <a:solidFill>
                  <a:srgbClr val="000000"/>
                </a:solidFill>
                <a:latin typeface="Montserrat"/>
                <a:ea typeface="Montserrat"/>
                <a:cs typeface="Montserrat"/>
                <a:sym typeface="Montserrat"/>
              </a:rPr>
              <a:t>Works to protect democracy and civil discourse in Israel.</a:t>
            </a:r>
          </a:p>
        </p:txBody>
      </p:sp>
      <p:sp>
        <p:nvSpPr>
          <p:cNvPr name="TextBox 9" id="9"/>
          <p:cNvSpPr txBox="true"/>
          <p:nvPr/>
        </p:nvSpPr>
        <p:spPr>
          <a:xfrm rot="0">
            <a:off x="12200301" y="2965486"/>
            <a:ext cx="2913293" cy="514416"/>
          </a:xfrm>
          <a:prstGeom prst="rect">
            <a:avLst/>
          </a:prstGeom>
        </p:spPr>
        <p:txBody>
          <a:bodyPr anchor="t" rtlCol="false" tIns="0" lIns="0" bIns="0" rIns="0">
            <a:spAutoFit/>
          </a:bodyPr>
          <a:lstStyle/>
          <a:p>
            <a:pPr algn="ctr" marL="0" indent="0" lvl="0">
              <a:lnSpc>
                <a:spcPts val="4200"/>
              </a:lnSpc>
              <a:spcBef>
                <a:spcPct val="0"/>
              </a:spcBef>
            </a:pPr>
            <a:r>
              <a:rPr lang="en-US" b="true" sz="3000">
                <a:solidFill>
                  <a:srgbClr val="000000"/>
                </a:solidFill>
                <a:latin typeface="Montserrat Bold"/>
                <a:ea typeface="Montserrat Bold"/>
                <a:cs typeface="Montserrat Bold"/>
                <a:sym typeface="Montserrat Bold"/>
              </a:rPr>
              <a:t>Fak</a:t>
            </a:r>
            <a:r>
              <a:rPr lang="en-US" b="true" sz="3000" strike="noStrike" u="none">
                <a:solidFill>
                  <a:srgbClr val="000000"/>
                </a:solidFill>
                <a:latin typeface="Montserrat Bold"/>
                <a:ea typeface="Montserrat Bold"/>
                <a:cs typeface="Montserrat Bold"/>
                <a:sym typeface="Montserrat Bold"/>
              </a:rPr>
              <a:t>e</a:t>
            </a:r>
            <a:r>
              <a:rPr lang="en-US" b="true" sz="3000" strike="noStrike" u="none">
                <a:solidFill>
                  <a:srgbClr val="000000"/>
                </a:solidFill>
                <a:latin typeface="Montserrat Bold"/>
                <a:ea typeface="Montserrat Bold"/>
                <a:cs typeface="Montserrat Bold"/>
                <a:sym typeface="Montserrat Bold"/>
              </a:rPr>
              <a:t>R</a:t>
            </a:r>
            <a:r>
              <a:rPr lang="en-US" b="true" sz="3000" strike="noStrike" u="none">
                <a:solidFill>
                  <a:srgbClr val="000000"/>
                </a:solidFill>
                <a:latin typeface="Montserrat Bold"/>
                <a:ea typeface="Montserrat Bold"/>
                <a:cs typeface="Montserrat Bold"/>
                <a:sym typeface="Montserrat Bold"/>
              </a:rPr>
              <a:t>e</a:t>
            </a:r>
            <a:r>
              <a:rPr lang="en-US" b="true" sz="3000" strike="noStrike" u="none">
                <a:solidFill>
                  <a:srgbClr val="000000"/>
                </a:solidFill>
                <a:latin typeface="Montserrat Bold"/>
                <a:ea typeface="Montserrat Bold"/>
                <a:cs typeface="Montserrat Bold"/>
                <a:sym typeface="Montserrat Bold"/>
              </a:rPr>
              <a:t>porter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TextBox 4" id="4"/>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LIMITATIONS </a:t>
            </a:r>
            <a:r>
              <a:rPr lang="en-US" b="true" sz="5100" strike="noStrike" u="none">
                <a:solidFill>
                  <a:srgbClr val="000000"/>
                </a:solidFill>
                <a:latin typeface="Montserrat Bold"/>
                <a:ea typeface="Montserrat Bold"/>
                <a:cs typeface="Montserrat Bold"/>
                <a:sym typeface="Montserrat Bold"/>
              </a:rPr>
              <a:t>OF FAKE NEWS DETECTION TOOLS</a:t>
            </a:r>
          </a:p>
        </p:txBody>
      </p:sp>
      <p:grpSp>
        <p:nvGrpSpPr>
          <p:cNvPr name="Group 5" id="5"/>
          <p:cNvGrpSpPr/>
          <p:nvPr/>
        </p:nvGrpSpPr>
        <p:grpSpPr>
          <a:xfrm rot="0">
            <a:off x="2856406" y="2206143"/>
            <a:ext cx="5310068" cy="3630244"/>
            <a:chOff x="0" y="0"/>
            <a:chExt cx="7080091" cy="4840325"/>
          </a:xfrm>
        </p:grpSpPr>
        <p:sp>
          <p:nvSpPr>
            <p:cNvPr name="Freeform 6" id="6"/>
            <p:cNvSpPr/>
            <p:nvPr/>
          </p:nvSpPr>
          <p:spPr>
            <a:xfrm flipH="false" flipV="false" rot="0">
              <a:off x="0" y="0"/>
              <a:ext cx="7080091" cy="4840325"/>
            </a:xfrm>
            <a:custGeom>
              <a:avLst/>
              <a:gdLst/>
              <a:ahLst/>
              <a:cxnLst/>
              <a:rect r="r" b="b" t="t" l="l"/>
              <a:pathLst>
                <a:path h="4840325" w="7080091">
                  <a:moveTo>
                    <a:pt x="0" y="0"/>
                  </a:moveTo>
                  <a:lnTo>
                    <a:pt x="7080091" y="0"/>
                  </a:lnTo>
                  <a:lnTo>
                    <a:pt x="7080091" y="4840325"/>
                  </a:lnTo>
                  <a:lnTo>
                    <a:pt x="0" y="4840325"/>
                  </a:lnTo>
                  <a:lnTo>
                    <a:pt x="0" y="0"/>
                  </a:lnTo>
                  <a:close/>
                </a:path>
              </a:pathLst>
            </a:custGeom>
            <a:blipFill>
              <a:blip r:embed="rId6">
                <a:extLst>
                  <a:ext uri="{96DAC541-7B7A-43D3-8B79-37D633B846F1}">
                    <asvg:svgBlip xmlns:asvg="http://schemas.microsoft.com/office/drawing/2016/SVG/main" r:embed="rId7"/>
                  </a:ext>
                </a:extLst>
              </a:blip>
              <a:stretch>
                <a:fillRect l="-14197" t="-86397" r="-52107" b="0"/>
              </a:stretch>
            </a:blipFill>
            <a:ln w="66675" cap="sq">
              <a:solidFill>
                <a:srgbClr val="FEC622"/>
              </a:solidFill>
              <a:prstDash val="solid"/>
              <a:miter/>
            </a:ln>
          </p:spPr>
        </p:sp>
        <p:sp>
          <p:nvSpPr>
            <p:cNvPr name="Freeform 7" id="7"/>
            <p:cNvSpPr/>
            <p:nvPr/>
          </p:nvSpPr>
          <p:spPr>
            <a:xfrm flipH="false" flipV="false" rot="0">
              <a:off x="5835231" y="310990"/>
              <a:ext cx="890889" cy="1032915"/>
            </a:xfrm>
            <a:custGeom>
              <a:avLst/>
              <a:gdLst/>
              <a:ahLst/>
              <a:cxnLst/>
              <a:rect r="r" b="b" t="t" l="l"/>
              <a:pathLst>
                <a:path h="1032915" w="890889">
                  <a:moveTo>
                    <a:pt x="0" y="0"/>
                  </a:moveTo>
                  <a:lnTo>
                    <a:pt x="890889" y="0"/>
                  </a:lnTo>
                  <a:lnTo>
                    <a:pt x="890889" y="1032914"/>
                  </a:lnTo>
                  <a:lnTo>
                    <a:pt x="0" y="1032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350009" y="1253252"/>
              <a:ext cx="6376111" cy="666838"/>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000000"/>
                  </a:solidFill>
                  <a:latin typeface="Montserrat Bold"/>
                  <a:ea typeface="Montserrat Bold"/>
                  <a:cs typeface="Montserrat Bold"/>
                  <a:sym typeface="Montserrat Bold"/>
                </a:rPr>
                <a:t>Human Labor</a:t>
              </a:r>
            </a:p>
          </p:txBody>
        </p:sp>
        <p:sp>
          <p:nvSpPr>
            <p:cNvPr name="TextBox 9" id="9"/>
            <p:cNvSpPr txBox="true"/>
            <p:nvPr/>
          </p:nvSpPr>
          <p:spPr>
            <a:xfrm rot="0">
              <a:off x="350009" y="2093485"/>
              <a:ext cx="6380074" cy="2289199"/>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Montserrat"/>
                  <a:ea typeface="Montserrat"/>
                  <a:cs typeface="Montserrat"/>
                  <a:sym typeface="Montserrat"/>
                </a:rPr>
                <a:t>Reliance on domain experts means assessments can be slow and costly.</a:t>
              </a:r>
            </a:p>
            <a:p>
              <a:pPr algn="l" marL="0" indent="0" lvl="0">
                <a:lnSpc>
                  <a:spcPts val="3499"/>
                </a:lnSpc>
                <a:spcBef>
                  <a:spcPct val="0"/>
                </a:spcBef>
              </a:pPr>
            </a:p>
          </p:txBody>
        </p:sp>
      </p:grpSp>
      <p:grpSp>
        <p:nvGrpSpPr>
          <p:cNvPr name="Group 10" id="10"/>
          <p:cNvGrpSpPr/>
          <p:nvPr/>
        </p:nvGrpSpPr>
        <p:grpSpPr>
          <a:xfrm rot="0">
            <a:off x="2856406" y="6169762"/>
            <a:ext cx="5310068" cy="3630244"/>
            <a:chOff x="0" y="0"/>
            <a:chExt cx="7080091" cy="4840325"/>
          </a:xfrm>
        </p:grpSpPr>
        <p:sp>
          <p:nvSpPr>
            <p:cNvPr name="Freeform 11" id="11"/>
            <p:cNvSpPr/>
            <p:nvPr/>
          </p:nvSpPr>
          <p:spPr>
            <a:xfrm flipH="false" flipV="false" rot="0">
              <a:off x="0" y="0"/>
              <a:ext cx="7080091" cy="4840325"/>
            </a:xfrm>
            <a:custGeom>
              <a:avLst/>
              <a:gdLst/>
              <a:ahLst/>
              <a:cxnLst/>
              <a:rect r="r" b="b" t="t" l="l"/>
              <a:pathLst>
                <a:path h="4840325" w="7080091">
                  <a:moveTo>
                    <a:pt x="0" y="0"/>
                  </a:moveTo>
                  <a:lnTo>
                    <a:pt x="7080091" y="0"/>
                  </a:lnTo>
                  <a:lnTo>
                    <a:pt x="7080091" y="4840325"/>
                  </a:lnTo>
                  <a:lnTo>
                    <a:pt x="0" y="4840325"/>
                  </a:lnTo>
                  <a:lnTo>
                    <a:pt x="0" y="0"/>
                  </a:lnTo>
                  <a:close/>
                </a:path>
              </a:pathLst>
            </a:custGeom>
            <a:blipFill>
              <a:blip r:embed="rId6">
                <a:extLst>
                  <a:ext uri="{96DAC541-7B7A-43D3-8B79-37D633B846F1}">
                    <asvg:svgBlip xmlns:asvg="http://schemas.microsoft.com/office/drawing/2016/SVG/main" r:embed="rId7"/>
                  </a:ext>
                </a:extLst>
              </a:blip>
              <a:stretch>
                <a:fillRect l="-14197" t="-86397" r="-52107" b="0"/>
              </a:stretch>
            </a:blipFill>
            <a:ln w="66675" cap="sq">
              <a:solidFill>
                <a:srgbClr val="FEC622"/>
              </a:solidFill>
              <a:prstDash val="solid"/>
              <a:miter/>
            </a:ln>
          </p:spPr>
        </p:sp>
        <p:sp>
          <p:nvSpPr>
            <p:cNvPr name="Freeform 12" id="12"/>
            <p:cNvSpPr/>
            <p:nvPr/>
          </p:nvSpPr>
          <p:spPr>
            <a:xfrm flipH="false" flipV="false" rot="0">
              <a:off x="5835231" y="310990"/>
              <a:ext cx="890889" cy="1032915"/>
            </a:xfrm>
            <a:custGeom>
              <a:avLst/>
              <a:gdLst/>
              <a:ahLst/>
              <a:cxnLst/>
              <a:rect r="r" b="b" t="t" l="l"/>
              <a:pathLst>
                <a:path h="1032915" w="890889">
                  <a:moveTo>
                    <a:pt x="0" y="0"/>
                  </a:moveTo>
                  <a:lnTo>
                    <a:pt x="890889" y="0"/>
                  </a:lnTo>
                  <a:lnTo>
                    <a:pt x="890889" y="1032914"/>
                  </a:lnTo>
                  <a:lnTo>
                    <a:pt x="0" y="1032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350009" y="1253252"/>
              <a:ext cx="5930667" cy="666838"/>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000000"/>
                  </a:solidFill>
                  <a:latin typeface="Montserrat Bold"/>
                  <a:ea typeface="Montserrat Bold"/>
                  <a:cs typeface="Montserrat Bold"/>
                  <a:sym typeface="Montserrat Bold"/>
                </a:rPr>
                <a:t>Coverage Limitations</a:t>
              </a:r>
            </a:p>
          </p:txBody>
        </p:sp>
        <p:sp>
          <p:nvSpPr>
            <p:cNvPr name="TextBox 14" id="14"/>
            <p:cNvSpPr txBox="true"/>
            <p:nvPr/>
          </p:nvSpPr>
          <p:spPr>
            <a:xfrm rot="0">
              <a:off x="350009" y="2093485"/>
              <a:ext cx="6380074" cy="1705258"/>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Montserrat"/>
                  <a:ea typeface="Montserrat"/>
                  <a:cs typeface="Montserrat"/>
                  <a:sym typeface="Montserrat"/>
                </a:rPr>
                <a:t>May not evaluate all sources, especially new or less popular websites.</a:t>
              </a:r>
            </a:p>
          </p:txBody>
        </p:sp>
      </p:grpSp>
      <p:grpSp>
        <p:nvGrpSpPr>
          <p:cNvPr name="Group 15" id="15"/>
          <p:cNvGrpSpPr/>
          <p:nvPr/>
        </p:nvGrpSpPr>
        <p:grpSpPr>
          <a:xfrm rot="0">
            <a:off x="9329272" y="2206143"/>
            <a:ext cx="5310068" cy="3630244"/>
            <a:chOff x="0" y="0"/>
            <a:chExt cx="7080091" cy="4840325"/>
          </a:xfrm>
        </p:grpSpPr>
        <p:sp>
          <p:nvSpPr>
            <p:cNvPr name="Freeform 16" id="16"/>
            <p:cNvSpPr/>
            <p:nvPr/>
          </p:nvSpPr>
          <p:spPr>
            <a:xfrm flipH="false" flipV="false" rot="0">
              <a:off x="0" y="0"/>
              <a:ext cx="7080091" cy="4840325"/>
            </a:xfrm>
            <a:custGeom>
              <a:avLst/>
              <a:gdLst/>
              <a:ahLst/>
              <a:cxnLst/>
              <a:rect r="r" b="b" t="t" l="l"/>
              <a:pathLst>
                <a:path h="4840325" w="7080091">
                  <a:moveTo>
                    <a:pt x="0" y="0"/>
                  </a:moveTo>
                  <a:lnTo>
                    <a:pt x="7080091" y="0"/>
                  </a:lnTo>
                  <a:lnTo>
                    <a:pt x="7080091" y="4840325"/>
                  </a:lnTo>
                  <a:lnTo>
                    <a:pt x="0" y="4840325"/>
                  </a:lnTo>
                  <a:lnTo>
                    <a:pt x="0" y="0"/>
                  </a:lnTo>
                  <a:close/>
                </a:path>
              </a:pathLst>
            </a:custGeom>
            <a:blipFill>
              <a:blip r:embed="rId6">
                <a:extLst>
                  <a:ext uri="{96DAC541-7B7A-43D3-8B79-37D633B846F1}">
                    <asvg:svgBlip xmlns:asvg="http://schemas.microsoft.com/office/drawing/2016/SVG/main" r:embed="rId7"/>
                  </a:ext>
                </a:extLst>
              </a:blip>
              <a:stretch>
                <a:fillRect l="-14197" t="-86397" r="-52107" b="0"/>
              </a:stretch>
            </a:blipFill>
            <a:ln w="66675" cap="sq">
              <a:solidFill>
                <a:srgbClr val="FEC622"/>
              </a:solidFill>
              <a:prstDash val="solid"/>
              <a:miter/>
            </a:ln>
          </p:spPr>
        </p:sp>
        <p:sp>
          <p:nvSpPr>
            <p:cNvPr name="Freeform 17" id="17"/>
            <p:cNvSpPr/>
            <p:nvPr/>
          </p:nvSpPr>
          <p:spPr>
            <a:xfrm flipH="false" flipV="false" rot="0">
              <a:off x="5835231" y="310990"/>
              <a:ext cx="890889" cy="1032915"/>
            </a:xfrm>
            <a:custGeom>
              <a:avLst/>
              <a:gdLst/>
              <a:ahLst/>
              <a:cxnLst/>
              <a:rect r="r" b="b" t="t" l="l"/>
              <a:pathLst>
                <a:path h="1032915" w="890889">
                  <a:moveTo>
                    <a:pt x="0" y="0"/>
                  </a:moveTo>
                  <a:lnTo>
                    <a:pt x="890889" y="0"/>
                  </a:lnTo>
                  <a:lnTo>
                    <a:pt x="890889" y="1032914"/>
                  </a:lnTo>
                  <a:lnTo>
                    <a:pt x="0" y="1032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350009" y="1253252"/>
              <a:ext cx="4139101" cy="666838"/>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000000"/>
                  </a:solidFill>
                  <a:latin typeface="Montserrat Bold"/>
                  <a:ea typeface="Montserrat Bold"/>
                  <a:cs typeface="Montserrat Bold"/>
                  <a:sym typeface="Montserrat Bold"/>
                </a:rPr>
                <a:t>Subjectivity</a:t>
              </a:r>
            </a:p>
          </p:txBody>
        </p:sp>
        <p:sp>
          <p:nvSpPr>
            <p:cNvPr name="TextBox 19" id="19"/>
            <p:cNvSpPr txBox="true"/>
            <p:nvPr/>
          </p:nvSpPr>
          <p:spPr>
            <a:xfrm rot="0">
              <a:off x="350009" y="2093485"/>
              <a:ext cx="6380074" cy="2289199"/>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Montserrat"/>
                  <a:ea typeface="Montserrat"/>
                  <a:cs typeface="Montserrat"/>
                  <a:sym typeface="Montserrat"/>
                </a:rPr>
                <a:t>Human judgment may introduce bias or inconsistencies in ratings.</a:t>
              </a:r>
            </a:p>
            <a:p>
              <a:pPr algn="l" marL="0" indent="0" lvl="0">
                <a:lnSpc>
                  <a:spcPts val="3499"/>
                </a:lnSpc>
                <a:spcBef>
                  <a:spcPct val="0"/>
                </a:spcBef>
              </a:pPr>
            </a:p>
          </p:txBody>
        </p:sp>
      </p:grpSp>
      <p:grpSp>
        <p:nvGrpSpPr>
          <p:cNvPr name="Group 20" id="20"/>
          <p:cNvGrpSpPr/>
          <p:nvPr/>
        </p:nvGrpSpPr>
        <p:grpSpPr>
          <a:xfrm rot="0">
            <a:off x="9329272" y="6169762"/>
            <a:ext cx="5310068" cy="3630244"/>
            <a:chOff x="0" y="0"/>
            <a:chExt cx="7080091" cy="4840325"/>
          </a:xfrm>
        </p:grpSpPr>
        <p:sp>
          <p:nvSpPr>
            <p:cNvPr name="Freeform 21" id="21"/>
            <p:cNvSpPr/>
            <p:nvPr/>
          </p:nvSpPr>
          <p:spPr>
            <a:xfrm flipH="false" flipV="false" rot="0">
              <a:off x="0" y="0"/>
              <a:ext cx="7080091" cy="4840325"/>
            </a:xfrm>
            <a:custGeom>
              <a:avLst/>
              <a:gdLst/>
              <a:ahLst/>
              <a:cxnLst/>
              <a:rect r="r" b="b" t="t" l="l"/>
              <a:pathLst>
                <a:path h="4840325" w="7080091">
                  <a:moveTo>
                    <a:pt x="0" y="0"/>
                  </a:moveTo>
                  <a:lnTo>
                    <a:pt x="7080091" y="0"/>
                  </a:lnTo>
                  <a:lnTo>
                    <a:pt x="7080091" y="4840325"/>
                  </a:lnTo>
                  <a:lnTo>
                    <a:pt x="0" y="4840325"/>
                  </a:lnTo>
                  <a:lnTo>
                    <a:pt x="0" y="0"/>
                  </a:lnTo>
                  <a:close/>
                </a:path>
              </a:pathLst>
            </a:custGeom>
            <a:blipFill>
              <a:blip r:embed="rId6">
                <a:extLst>
                  <a:ext uri="{96DAC541-7B7A-43D3-8B79-37D633B846F1}">
                    <asvg:svgBlip xmlns:asvg="http://schemas.microsoft.com/office/drawing/2016/SVG/main" r:embed="rId7"/>
                  </a:ext>
                </a:extLst>
              </a:blip>
              <a:stretch>
                <a:fillRect l="-14197" t="-86397" r="-52107" b="0"/>
              </a:stretch>
            </a:blipFill>
            <a:ln w="66675" cap="sq">
              <a:solidFill>
                <a:srgbClr val="FEC622"/>
              </a:solidFill>
              <a:prstDash val="solid"/>
              <a:miter/>
            </a:ln>
          </p:spPr>
        </p:sp>
        <p:sp>
          <p:nvSpPr>
            <p:cNvPr name="Freeform 22" id="22"/>
            <p:cNvSpPr/>
            <p:nvPr/>
          </p:nvSpPr>
          <p:spPr>
            <a:xfrm flipH="false" flipV="false" rot="0">
              <a:off x="5835231" y="310990"/>
              <a:ext cx="890889" cy="1032915"/>
            </a:xfrm>
            <a:custGeom>
              <a:avLst/>
              <a:gdLst/>
              <a:ahLst/>
              <a:cxnLst/>
              <a:rect r="r" b="b" t="t" l="l"/>
              <a:pathLst>
                <a:path h="1032915" w="890889">
                  <a:moveTo>
                    <a:pt x="0" y="0"/>
                  </a:moveTo>
                  <a:lnTo>
                    <a:pt x="890889" y="0"/>
                  </a:lnTo>
                  <a:lnTo>
                    <a:pt x="890889" y="1032914"/>
                  </a:lnTo>
                  <a:lnTo>
                    <a:pt x="0" y="1032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3" id="23"/>
            <p:cNvSpPr txBox="true"/>
            <p:nvPr/>
          </p:nvSpPr>
          <p:spPr>
            <a:xfrm rot="0">
              <a:off x="350009" y="1253252"/>
              <a:ext cx="6106922" cy="666838"/>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000000"/>
                  </a:solidFill>
                  <a:latin typeface="Montserrat Bold"/>
                  <a:ea typeface="Montserrat Bold"/>
                  <a:cs typeface="Montserrat Bold"/>
                  <a:sym typeface="Montserrat Bold"/>
                </a:rPr>
                <a:t>Offline Detection</a:t>
              </a:r>
            </a:p>
          </p:txBody>
        </p:sp>
        <p:sp>
          <p:nvSpPr>
            <p:cNvPr name="TextBox 24" id="24"/>
            <p:cNvSpPr txBox="true"/>
            <p:nvPr/>
          </p:nvSpPr>
          <p:spPr>
            <a:xfrm rot="0">
              <a:off x="350009" y="2093485"/>
              <a:ext cx="6380074" cy="1705258"/>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Montserrat"/>
                  <a:ea typeface="Montserrat"/>
                  <a:cs typeface="Montserrat"/>
                  <a:sym typeface="Montserrat"/>
                </a:rPr>
                <a:t>Updates and ratings might not keep pace with fast-evolving misinformation.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TextBox 4" id="4"/>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OUR GOALS</a:t>
            </a:r>
          </a:p>
        </p:txBody>
      </p:sp>
      <p:sp>
        <p:nvSpPr>
          <p:cNvPr name="Freeform 5" id="5"/>
          <p:cNvSpPr/>
          <p:nvPr/>
        </p:nvSpPr>
        <p:spPr>
          <a:xfrm flipH="false" flipV="false" rot="0">
            <a:off x="8094369" y="2992667"/>
            <a:ext cx="9164931" cy="6265633"/>
          </a:xfrm>
          <a:custGeom>
            <a:avLst/>
            <a:gdLst/>
            <a:ahLst/>
            <a:cxnLst/>
            <a:rect r="r" b="b" t="t" l="l"/>
            <a:pathLst>
              <a:path h="6265633" w="9164931">
                <a:moveTo>
                  <a:pt x="0" y="0"/>
                </a:moveTo>
                <a:lnTo>
                  <a:pt x="9164931" y="0"/>
                </a:lnTo>
                <a:lnTo>
                  <a:pt x="9164931" y="6265633"/>
                </a:lnTo>
                <a:lnTo>
                  <a:pt x="0" y="6265633"/>
                </a:lnTo>
                <a:lnTo>
                  <a:pt x="0" y="0"/>
                </a:lnTo>
                <a:close/>
              </a:path>
            </a:pathLst>
          </a:custGeom>
          <a:blipFill>
            <a:blip r:embed="rId6">
              <a:extLst>
                <a:ext uri="{96DAC541-7B7A-43D3-8B79-37D633B846F1}">
                  <asvg:svgBlip xmlns:asvg="http://schemas.microsoft.com/office/drawing/2016/SVG/main" r:embed="rId7"/>
                </a:ext>
              </a:extLst>
            </a:blip>
            <a:stretch>
              <a:fillRect l="-14197" t="-86397" r="-52107" b="0"/>
            </a:stretch>
          </a:blipFill>
          <a:ln w="66675" cap="sq">
            <a:solidFill>
              <a:srgbClr val="FEC622"/>
            </a:solidFill>
            <a:prstDash val="solid"/>
            <a:miter/>
          </a:ln>
        </p:spPr>
      </p:sp>
      <p:sp>
        <p:nvSpPr>
          <p:cNvPr name="TextBox 6" id="6"/>
          <p:cNvSpPr txBox="true"/>
          <p:nvPr/>
        </p:nvSpPr>
        <p:spPr>
          <a:xfrm rot="0">
            <a:off x="8708721" y="3897559"/>
            <a:ext cx="4782083" cy="514416"/>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000000"/>
                </a:solidFill>
                <a:latin typeface="Montserrat Bold"/>
                <a:ea typeface="Montserrat Bold"/>
                <a:cs typeface="Montserrat Bold"/>
                <a:sym typeface="Montserrat Bold"/>
              </a:rPr>
              <a:t>Primary:</a:t>
            </a:r>
          </a:p>
        </p:txBody>
      </p:sp>
      <p:sp>
        <p:nvSpPr>
          <p:cNvPr name="TextBox 7" id="7"/>
          <p:cNvSpPr txBox="true"/>
          <p:nvPr/>
        </p:nvSpPr>
        <p:spPr>
          <a:xfrm rot="0">
            <a:off x="8708721" y="4622227"/>
            <a:ext cx="7936227" cy="1288468"/>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Montserrat"/>
                <a:ea typeface="Montserrat"/>
                <a:cs typeface="Montserrat"/>
                <a:sym typeface="Montserrat"/>
              </a:rPr>
              <a:t>Develop an automated NLP-based tool to rapidly detect fake news before it spreads widely, reducing reliance on domain experts.</a:t>
            </a:r>
          </a:p>
        </p:txBody>
      </p:sp>
      <p:sp>
        <p:nvSpPr>
          <p:cNvPr name="Freeform 8" id="8"/>
          <p:cNvSpPr/>
          <p:nvPr/>
        </p:nvSpPr>
        <p:spPr>
          <a:xfrm flipH="false" flipV="false" rot="0">
            <a:off x="282960" y="4183342"/>
            <a:ext cx="5777303" cy="5914858"/>
          </a:xfrm>
          <a:custGeom>
            <a:avLst/>
            <a:gdLst/>
            <a:ahLst/>
            <a:cxnLst/>
            <a:rect r="r" b="b" t="t" l="l"/>
            <a:pathLst>
              <a:path h="5914858" w="5777303">
                <a:moveTo>
                  <a:pt x="0" y="0"/>
                </a:moveTo>
                <a:lnTo>
                  <a:pt x="5777303" y="0"/>
                </a:lnTo>
                <a:lnTo>
                  <a:pt x="5777303" y="5914858"/>
                </a:lnTo>
                <a:lnTo>
                  <a:pt x="0" y="5914858"/>
                </a:lnTo>
                <a:lnTo>
                  <a:pt x="0" y="0"/>
                </a:lnTo>
                <a:close/>
              </a:path>
            </a:pathLst>
          </a:custGeom>
          <a:blipFill>
            <a:blip r:embed="rId8">
              <a:extLst>
                <a:ext uri="{96DAC541-7B7A-43D3-8B79-37D633B846F1}">
                  <asvg:svgBlip xmlns:asvg="http://schemas.microsoft.com/office/drawing/2016/SVG/main" r:embed="rId9"/>
                </a:ext>
              </a:extLst>
            </a:blip>
            <a:stretch>
              <a:fillRect l="-229858" t="-333507" r="-269828" b="-30692"/>
            </a:stretch>
          </a:blipFill>
        </p:spPr>
      </p:sp>
      <p:sp>
        <p:nvSpPr>
          <p:cNvPr name="Freeform 9" id="9"/>
          <p:cNvSpPr/>
          <p:nvPr/>
        </p:nvSpPr>
        <p:spPr>
          <a:xfrm flipH="false" flipV="false" rot="0">
            <a:off x="1748335" y="2707274"/>
            <a:ext cx="4338195" cy="4441485"/>
          </a:xfrm>
          <a:custGeom>
            <a:avLst/>
            <a:gdLst/>
            <a:ahLst/>
            <a:cxnLst/>
            <a:rect r="r" b="b" t="t" l="l"/>
            <a:pathLst>
              <a:path h="4441485" w="4338195">
                <a:moveTo>
                  <a:pt x="0" y="0"/>
                </a:moveTo>
                <a:lnTo>
                  <a:pt x="4338194" y="0"/>
                </a:lnTo>
                <a:lnTo>
                  <a:pt x="4338194" y="4441485"/>
                </a:lnTo>
                <a:lnTo>
                  <a:pt x="0" y="4441485"/>
                </a:lnTo>
                <a:lnTo>
                  <a:pt x="0" y="0"/>
                </a:lnTo>
                <a:close/>
              </a:path>
            </a:pathLst>
          </a:custGeom>
          <a:blipFill>
            <a:blip r:embed="rId8">
              <a:extLst>
                <a:ext uri="{96DAC541-7B7A-43D3-8B79-37D633B846F1}">
                  <asvg:svgBlip xmlns:asvg="http://schemas.microsoft.com/office/drawing/2016/SVG/main" r:embed="rId9"/>
                </a:ext>
              </a:extLst>
            </a:blip>
            <a:stretch>
              <a:fillRect l="-229858" t="-333507" r="-269828" b="-30692"/>
            </a:stretch>
          </a:blipFill>
        </p:spPr>
      </p:sp>
      <p:sp>
        <p:nvSpPr>
          <p:cNvPr name="Freeform 10" id="10"/>
          <p:cNvSpPr/>
          <p:nvPr/>
        </p:nvSpPr>
        <p:spPr>
          <a:xfrm flipH="false" flipV="false" rot="0">
            <a:off x="1844179" y="3542345"/>
            <a:ext cx="5665511" cy="6744655"/>
          </a:xfrm>
          <a:custGeom>
            <a:avLst/>
            <a:gdLst/>
            <a:ahLst/>
            <a:cxnLst/>
            <a:rect r="r" b="b" t="t" l="l"/>
            <a:pathLst>
              <a:path h="6744655" w="5665511">
                <a:moveTo>
                  <a:pt x="0" y="0"/>
                </a:moveTo>
                <a:lnTo>
                  <a:pt x="5665510" y="0"/>
                </a:lnTo>
                <a:lnTo>
                  <a:pt x="5665510" y="6744655"/>
                </a:lnTo>
                <a:lnTo>
                  <a:pt x="0" y="67446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8708721" y="6110721"/>
            <a:ext cx="4782083" cy="514416"/>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000000"/>
                </a:solidFill>
                <a:latin typeface="Montserrat Bold"/>
                <a:ea typeface="Montserrat Bold"/>
                <a:cs typeface="Montserrat Bold"/>
                <a:sym typeface="Montserrat Bold"/>
              </a:rPr>
              <a:t>Secondary:</a:t>
            </a:r>
          </a:p>
        </p:txBody>
      </p:sp>
      <p:sp>
        <p:nvSpPr>
          <p:cNvPr name="TextBox 12" id="12"/>
          <p:cNvSpPr txBox="true"/>
          <p:nvPr/>
        </p:nvSpPr>
        <p:spPr>
          <a:xfrm rot="0">
            <a:off x="8708721" y="6840630"/>
            <a:ext cx="7936227" cy="1726425"/>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Montserrat"/>
                <a:ea typeface="Montserrat"/>
                <a:cs typeface="Montserrat"/>
                <a:sym typeface="Montserrat"/>
              </a:rPr>
              <a:t>Analyze textual features commonly associated with fake news to identify structural patterns and linguistic cues that support automated detection.</a:t>
            </a:r>
          </a:p>
          <a:p>
            <a:pPr algn="l">
              <a:lnSpc>
                <a:spcPts val="349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grpSp>
        <p:nvGrpSpPr>
          <p:cNvPr name="Group 4" id="4"/>
          <p:cNvGrpSpPr/>
          <p:nvPr/>
        </p:nvGrpSpPr>
        <p:grpSpPr>
          <a:xfrm rot="0">
            <a:off x="9329272" y="2601946"/>
            <a:ext cx="8451052" cy="6800946"/>
            <a:chOff x="0" y="0"/>
            <a:chExt cx="11268070" cy="9067928"/>
          </a:xfrm>
        </p:grpSpPr>
        <p:sp>
          <p:nvSpPr>
            <p:cNvPr name="Freeform 5" id="5"/>
            <p:cNvSpPr/>
            <p:nvPr/>
          </p:nvSpPr>
          <p:spPr>
            <a:xfrm flipH="false" flipV="false" rot="0">
              <a:off x="0" y="0"/>
              <a:ext cx="11268070" cy="9067928"/>
            </a:xfrm>
            <a:custGeom>
              <a:avLst/>
              <a:gdLst/>
              <a:ahLst/>
              <a:cxnLst/>
              <a:rect r="r" b="b" t="t" l="l"/>
              <a:pathLst>
                <a:path h="9067928" w="11268070">
                  <a:moveTo>
                    <a:pt x="0" y="0"/>
                  </a:moveTo>
                  <a:lnTo>
                    <a:pt x="11268070" y="0"/>
                  </a:lnTo>
                  <a:lnTo>
                    <a:pt x="11268070" y="9067928"/>
                  </a:lnTo>
                  <a:lnTo>
                    <a:pt x="0" y="9067928"/>
                  </a:lnTo>
                  <a:lnTo>
                    <a:pt x="0" y="0"/>
                  </a:lnTo>
                  <a:close/>
                </a:path>
              </a:pathLst>
            </a:custGeom>
            <a:blipFill>
              <a:blip r:embed="rId6">
                <a:extLst>
                  <a:ext uri="{96DAC541-7B7A-43D3-8B79-37D633B846F1}">
                    <asvg:svgBlip xmlns:asvg="http://schemas.microsoft.com/office/drawing/2016/SVG/main" r:embed="rId7"/>
                  </a:ext>
                </a:extLst>
              </a:blip>
              <a:stretch>
                <a:fillRect l="-37164" t="-44246" r="-71143" b="-54097"/>
              </a:stretch>
            </a:blipFill>
            <a:ln w="76200" cap="sq">
              <a:solidFill>
                <a:srgbClr val="FEC622"/>
              </a:solidFill>
              <a:prstDash val="solid"/>
              <a:miter/>
            </a:ln>
          </p:spPr>
        </p:sp>
        <p:sp>
          <p:nvSpPr>
            <p:cNvPr name="TextBox 6" id="6"/>
            <p:cNvSpPr txBox="true"/>
            <p:nvPr/>
          </p:nvSpPr>
          <p:spPr>
            <a:xfrm rot="0">
              <a:off x="525795" y="674241"/>
              <a:ext cx="6997585" cy="735789"/>
            </a:xfrm>
            <a:prstGeom prst="rect">
              <a:avLst/>
            </a:prstGeom>
          </p:spPr>
          <p:txBody>
            <a:bodyPr anchor="t" rtlCol="false" tIns="0" lIns="0" bIns="0" rIns="0">
              <a:spAutoFit/>
            </a:bodyPr>
            <a:lstStyle/>
            <a:p>
              <a:pPr algn="l">
                <a:lnSpc>
                  <a:spcPts val="4609"/>
                </a:lnSpc>
                <a:spcBef>
                  <a:spcPct val="0"/>
                </a:spcBef>
              </a:pPr>
              <a:r>
                <a:rPr lang="en-US" b="true" sz="3292">
                  <a:solidFill>
                    <a:srgbClr val="000000"/>
                  </a:solidFill>
                  <a:latin typeface="Montserrat Bold"/>
                  <a:ea typeface="Montserrat Bold"/>
                  <a:cs typeface="Montserrat Bold"/>
                  <a:sym typeface="Montserrat Bold"/>
                </a:rPr>
                <a:t>Data Format</a:t>
              </a:r>
            </a:p>
          </p:txBody>
        </p:sp>
      </p:grpSp>
      <p:graphicFrame>
        <p:nvGraphicFramePr>
          <p:cNvPr name="Object 7" id="7"/>
          <p:cNvGraphicFramePr/>
          <p:nvPr/>
        </p:nvGraphicFramePr>
        <p:xfrm>
          <a:off x="9719082" y="3932027"/>
          <a:ext cx="3771900" cy="2095500"/>
        </p:xfrm>
        <a:graphic>
          <a:graphicData uri="http://schemas.openxmlformats.org/presentationml/2006/ole">
            <p:oleObj imgW="4521200" imgH="28448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8" id="8"/>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ABOUT THE DATA</a:t>
            </a:r>
          </a:p>
        </p:txBody>
      </p:sp>
      <p:grpSp>
        <p:nvGrpSpPr>
          <p:cNvPr name="Group 9" id="9"/>
          <p:cNvGrpSpPr/>
          <p:nvPr/>
        </p:nvGrpSpPr>
        <p:grpSpPr>
          <a:xfrm rot="0">
            <a:off x="512038" y="2601946"/>
            <a:ext cx="8597512" cy="2695864"/>
            <a:chOff x="0" y="0"/>
            <a:chExt cx="11463350" cy="3594486"/>
          </a:xfrm>
        </p:grpSpPr>
        <p:sp>
          <p:nvSpPr>
            <p:cNvPr name="Freeform 10" id="10"/>
            <p:cNvSpPr/>
            <p:nvPr/>
          </p:nvSpPr>
          <p:spPr>
            <a:xfrm flipH="false" flipV="false" rot="0">
              <a:off x="0" y="0"/>
              <a:ext cx="11463350" cy="3594486"/>
            </a:xfrm>
            <a:custGeom>
              <a:avLst/>
              <a:gdLst/>
              <a:ahLst/>
              <a:cxnLst/>
              <a:rect r="r" b="b" t="t" l="l"/>
              <a:pathLst>
                <a:path h="3594486" w="11463350">
                  <a:moveTo>
                    <a:pt x="0" y="0"/>
                  </a:moveTo>
                  <a:lnTo>
                    <a:pt x="11463350" y="0"/>
                  </a:lnTo>
                  <a:lnTo>
                    <a:pt x="11463350" y="3594486"/>
                  </a:lnTo>
                  <a:lnTo>
                    <a:pt x="0" y="3594486"/>
                  </a:lnTo>
                  <a:lnTo>
                    <a:pt x="0" y="0"/>
                  </a:lnTo>
                  <a:close/>
                </a:path>
              </a:pathLst>
            </a:custGeom>
            <a:blipFill>
              <a:blip r:embed="rId6">
                <a:extLst>
                  <a:ext uri="{96DAC541-7B7A-43D3-8B79-37D633B846F1}">
                    <asvg:svgBlip xmlns:asvg="http://schemas.microsoft.com/office/drawing/2016/SVG/main" r:embed="rId7"/>
                  </a:ext>
                </a:extLst>
              </a:blip>
              <a:stretch>
                <a:fillRect l="-13560" t="-304130" r="-51817" b="0"/>
              </a:stretch>
            </a:blipFill>
            <a:ln w="76200" cap="sq">
              <a:solidFill>
                <a:srgbClr val="FEC622"/>
              </a:solidFill>
              <a:prstDash val="solid"/>
              <a:miter/>
            </a:ln>
          </p:spPr>
        </p:sp>
        <p:sp>
          <p:nvSpPr>
            <p:cNvPr name="TextBox 11" id="11"/>
            <p:cNvSpPr txBox="true"/>
            <p:nvPr/>
          </p:nvSpPr>
          <p:spPr>
            <a:xfrm rot="0">
              <a:off x="962944" y="619907"/>
              <a:ext cx="6997585" cy="735789"/>
            </a:xfrm>
            <a:prstGeom prst="rect">
              <a:avLst/>
            </a:prstGeom>
          </p:spPr>
          <p:txBody>
            <a:bodyPr anchor="t" rtlCol="false" tIns="0" lIns="0" bIns="0" rIns="0">
              <a:spAutoFit/>
            </a:bodyPr>
            <a:lstStyle/>
            <a:p>
              <a:pPr algn="l">
                <a:lnSpc>
                  <a:spcPts val="4609"/>
                </a:lnSpc>
                <a:spcBef>
                  <a:spcPct val="0"/>
                </a:spcBef>
              </a:pPr>
              <a:r>
                <a:rPr lang="en-US" b="true" sz="3292">
                  <a:solidFill>
                    <a:srgbClr val="000000"/>
                  </a:solidFill>
                  <a:latin typeface="Montserrat Bold"/>
                  <a:ea typeface="Montserrat Bold"/>
                  <a:cs typeface="Montserrat Bold"/>
                  <a:sym typeface="Montserrat Bold"/>
                </a:rPr>
                <a:t>Data Source:</a:t>
              </a:r>
            </a:p>
          </p:txBody>
        </p:sp>
        <p:sp>
          <p:nvSpPr>
            <p:cNvPr name="TextBox 12" id="12"/>
            <p:cNvSpPr txBox="true"/>
            <p:nvPr/>
          </p:nvSpPr>
          <p:spPr>
            <a:xfrm rot="0">
              <a:off x="962944" y="1661957"/>
              <a:ext cx="9964304" cy="1245946"/>
            </a:xfrm>
            <a:prstGeom prst="rect">
              <a:avLst/>
            </a:prstGeom>
          </p:spPr>
          <p:txBody>
            <a:bodyPr anchor="t" rtlCol="false" tIns="0" lIns="0" bIns="0" rIns="0">
              <a:spAutoFit/>
            </a:bodyPr>
            <a:lstStyle/>
            <a:p>
              <a:pPr algn="l">
                <a:lnSpc>
                  <a:spcPts val="3841"/>
                </a:lnSpc>
              </a:pPr>
              <a:r>
                <a:rPr lang="en-US" sz="2743">
                  <a:solidFill>
                    <a:srgbClr val="000000"/>
                  </a:solidFill>
                  <a:latin typeface="Montserrat"/>
                  <a:ea typeface="Montserrat"/>
                  <a:cs typeface="Montserrat"/>
                  <a:sym typeface="Montserrat"/>
                </a:rPr>
                <a:t>R</a:t>
              </a:r>
              <a:r>
                <a:rPr lang="en-US" sz="2743">
                  <a:solidFill>
                    <a:srgbClr val="000000"/>
                  </a:solidFill>
                  <a:latin typeface="Montserrat"/>
                  <a:ea typeface="Montserrat"/>
                  <a:cs typeface="Montserrat"/>
                  <a:sym typeface="Montserrat"/>
                </a:rPr>
                <a:t>eal and Fake News datasets from Kaggle </a:t>
              </a:r>
            </a:p>
            <a:p>
              <a:pPr algn="l">
                <a:lnSpc>
                  <a:spcPts val="3841"/>
                </a:lnSpc>
                <a:spcBef>
                  <a:spcPct val="0"/>
                </a:spcBef>
              </a:pPr>
              <a:r>
                <a:rPr lang="en-US" sz="2743">
                  <a:solidFill>
                    <a:srgbClr val="000000"/>
                  </a:solidFill>
                  <a:latin typeface="Montserrat"/>
                  <a:ea typeface="Montserrat"/>
                  <a:cs typeface="Montserrat"/>
                  <a:sym typeface="Montserrat"/>
                </a:rPr>
                <a:t>(two CSV files: Real News and Fake News).</a:t>
              </a:r>
            </a:p>
          </p:txBody>
        </p:sp>
      </p:grpSp>
      <p:grpSp>
        <p:nvGrpSpPr>
          <p:cNvPr name="Group 13" id="13"/>
          <p:cNvGrpSpPr/>
          <p:nvPr/>
        </p:nvGrpSpPr>
        <p:grpSpPr>
          <a:xfrm rot="0">
            <a:off x="502066" y="5493844"/>
            <a:ext cx="8617456" cy="3909048"/>
            <a:chOff x="0" y="0"/>
            <a:chExt cx="11489942" cy="5212064"/>
          </a:xfrm>
        </p:grpSpPr>
        <p:sp>
          <p:nvSpPr>
            <p:cNvPr name="Freeform 14" id="14"/>
            <p:cNvSpPr/>
            <p:nvPr/>
          </p:nvSpPr>
          <p:spPr>
            <a:xfrm flipH="false" flipV="false" rot="0">
              <a:off x="0" y="0"/>
              <a:ext cx="11489942" cy="5212064"/>
            </a:xfrm>
            <a:custGeom>
              <a:avLst/>
              <a:gdLst/>
              <a:ahLst/>
              <a:cxnLst/>
              <a:rect r="r" b="b" t="t" l="l"/>
              <a:pathLst>
                <a:path h="5212064" w="11489942">
                  <a:moveTo>
                    <a:pt x="0" y="0"/>
                  </a:moveTo>
                  <a:lnTo>
                    <a:pt x="11489942" y="0"/>
                  </a:lnTo>
                  <a:lnTo>
                    <a:pt x="11489942" y="5212064"/>
                  </a:lnTo>
                  <a:lnTo>
                    <a:pt x="0" y="5212064"/>
                  </a:lnTo>
                  <a:lnTo>
                    <a:pt x="0" y="0"/>
                  </a:lnTo>
                  <a:close/>
                </a:path>
              </a:pathLst>
            </a:custGeom>
            <a:blipFill>
              <a:blip r:embed="rId6">
                <a:extLst>
                  <a:ext uri="{96DAC541-7B7A-43D3-8B79-37D633B846F1}">
                    <asvg:svgBlip xmlns:asvg="http://schemas.microsoft.com/office/drawing/2016/SVG/main" r:embed="rId7"/>
                  </a:ext>
                </a:extLst>
              </a:blip>
              <a:stretch>
                <a:fillRect l="-16047" t="-178250" r="-48676" b="0"/>
              </a:stretch>
            </a:blipFill>
            <a:ln w="76200" cap="sq">
              <a:solidFill>
                <a:srgbClr val="FEC622"/>
              </a:solidFill>
              <a:prstDash val="solid"/>
              <a:miter/>
            </a:ln>
          </p:spPr>
        </p:sp>
        <p:sp>
          <p:nvSpPr>
            <p:cNvPr name="Freeform 15" id="15"/>
            <p:cNvSpPr/>
            <p:nvPr/>
          </p:nvSpPr>
          <p:spPr>
            <a:xfrm flipH="false" flipV="false" rot="0">
              <a:off x="4957055" y="177023"/>
              <a:ext cx="6288732" cy="4858019"/>
            </a:xfrm>
            <a:custGeom>
              <a:avLst/>
              <a:gdLst/>
              <a:ahLst/>
              <a:cxnLst/>
              <a:rect r="r" b="b" t="t" l="l"/>
              <a:pathLst>
                <a:path h="4858019" w="6288732">
                  <a:moveTo>
                    <a:pt x="0" y="0"/>
                  </a:moveTo>
                  <a:lnTo>
                    <a:pt x="6288732" y="0"/>
                  </a:lnTo>
                  <a:lnTo>
                    <a:pt x="6288732" y="4858018"/>
                  </a:lnTo>
                  <a:lnTo>
                    <a:pt x="0" y="4858018"/>
                  </a:lnTo>
                  <a:lnTo>
                    <a:pt x="0" y="0"/>
                  </a:lnTo>
                  <a:close/>
                </a:path>
              </a:pathLst>
            </a:custGeom>
            <a:blipFill>
              <a:blip r:embed="rId10"/>
              <a:stretch>
                <a:fillRect l="0" t="0" r="0" b="0"/>
              </a:stretch>
            </a:blipFill>
          </p:spPr>
        </p:sp>
        <p:sp>
          <p:nvSpPr>
            <p:cNvPr name="TextBox 16" id="16"/>
            <p:cNvSpPr txBox="true"/>
            <p:nvPr/>
          </p:nvSpPr>
          <p:spPr>
            <a:xfrm rot="0">
              <a:off x="501340" y="764506"/>
              <a:ext cx="4252910" cy="3850960"/>
            </a:xfrm>
            <a:prstGeom prst="rect">
              <a:avLst/>
            </a:prstGeom>
          </p:spPr>
          <p:txBody>
            <a:bodyPr anchor="t" rtlCol="false" tIns="0" lIns="0" bIns="0" rIns="0">
              <a:spAutoFit/>
            </a:bodyPr>
            <a:lstStyle/>
            <a:p>
              <a:pPr algn="l">
                <a:lnSpc>
                  <a:spcPts val="3841"/>
                </a:lnSpc>
              </a:pPr>
              <a:r>
                <a:rPr lang="en-US" sz="2743">
                  <a:solidFill>
                    <a:srgbClr val="000000"/>
                  </a:solidFill>
                  <a:latin typeface="Montserrat"/>
                  <a:ea typeface="Montserrat"/>
                  <a:cs typeface="Montserrat"/>
                  <a:sym typeface="Montserrat"/>
                </a:rPr>
                <a:t>The dataset contains:</a:t>
              </a:r>
            </a:p>
            <a:p>
              <a:pPr algn="l">
                <a:lnSpc>
                  <a:spcPts val="3841"/>
                </a:lnSpc>
              </a:pPr>
              <a:r>
                <a:rPr lang="en-US" sz="2743">
                  <a:solidFill>
                    <a:srgbClr val="000000"/>
                  </a:solidFill>
                  <a:latin typeface="Montserrat"/>
                  <a:ea typeface="Montserrat"/>
                  <a:cs typeface="Montserrat"/>
                  <a:sym typeface="Montserrat"/>
                </a:rPr>
                <a:t> </a:t>
              </a:r>
              <a:r>
                <a:rPr lang="en-US" sz="2743" b="true">
                  <a:solidFill>
                    <a:srgbClr val="000000"/>
                  </a:solidFill>
                  <a:latin typeface="Montserrat Bold"/>
                  <a:ea typeface="Montserrat Bold"/>
                  <a:cs typeface="Montserrat Bold"/>
                  <a:sym typeface="Montserrat Bold"/>
                </a:rPr>
                <a:t>23,481 fake news</a:t>
              </a:r>
              <a:r>
                <a:rPr lang="en-US" sz="2743">
                  <a:solidFill>
                    <a:srgbClr val="000000"/>
                  </a:solidFill>
                  <a:latin typeface="Montserrat"/>
                  <a:ea typeface="Montserrat"/>
                  <a:cs typeface="Montserrat"/>
                  <a:sym typeface="Montserrat"/>
                </a:rPr>
                <a:t> articles and</a:t>
              </a:r>
            </a:p>
            <a:p>
              <a:pPr algn="l">
                <a:lnSpc>
                  <a:spcPts val="3841"/>
                </a:lnSpc>
                <a:spcBef>
                  <a:spcPct val="0"/>
                </a:spcBef>
              </a:pPr>
              <a:r>
                <a:rPr lang="en-US" sz="2743">
                  <a:solidFill>
                    <a:srgbClr val="000000"/>
                  </a:solidFill>
                  <a:latin typeface="Montserrat"/>
                  <a:ea typeface="Montserrat"/>
                  <a:cs typeface="Montserrat"/>
                  <a:sym typeface="Montserrat"/>
                </a:rPr>
                <a:t> </a:t>
              </a:r>
              <a:r>
                <a:rPr lang="en-US" b="true" sz="2743">
                  <a:solidFill>
                    <a:srgbClr val="000000"/>
                  </a:solidFill>
                  <a:latin typeface="Montserrat Bold"/>
                  <a:ea typeface="Montserrat Bold"/>
                  <a:cs typeface="Montserrat Bold"/>
                  <a:sym typeface="Montserrat Bold"/>
                </a:rPr>
                <a:t>21,417 real news</a:t>
              </a:r>
              <a:r>
                <a:rPr lang="en-US" sz="2743">
                  <a:solidFill>
                    <a:srgbClr val="000000"/>
                  </a:solidFill>
                  <a:latin typeface="Montserrat"/>
                  <a:ea typeface="Montserrat"/>
                  <a:cs typeface="Montserrat"/>
                  <a:sym typeface="Montserrat"/>
                </a:rPr>
                <a:t> articles.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grpSp>
        <p:nvGrpSpPr>
          <p:cNvPr name="Group 4" id="4"/>
          <p:cNvGrpSpPr/>
          <p:nvPr/>
        </p:nvGrpSpPr>
        <p:grpSpPr>
          <a:xfrm rot="0">
            <a:off x="844288" y="3504980"/>
            <a:ext cx="8216979" cy="5005975"/>
            <a:chOff x="0" y="0"/>
            <a:chExt cx="10955972" cy="6674633"/>
          </a:xfrm>
        </p:grpSpPr>
        <p:sp>
          <p:nvSpPr>
            <p:cNvPr name="Freeform 5" id="5"/>
            <p:cNvSpPr/>
            <p:nvPr/>
          </p:nvSpPr>
          <p:spPr>
            <a:xfrm flipH="false" flipV="false" rot="0">
              <a:off x="0" y="0"/>
              <a:ext cx="10955972" cy="6674633"/>
            </a:xfrm>
            <a:custGeom>
              <a:avLst/>
              <a:gdLst/>
              <a:ahLst/>
              <a:cxnLst/>
              <a:rect r="r" b="b" t="t" l="l"/>
              <a:pathLst>
                <a:path h="6674633" w="10955972">
                  <a:moveTo>
                    <a:pt x="0" y="0"/>
                  </a:moveTo>
                  <a:lnTo>
                    <a:pt x="10955972" y="0"/>
                  </a:lnTo>
                  <a:lnTo>
                    <a:pt x="10955972" y="6674633"/>
                  </a:lnTo>
                  <a:lnTo>
                    <a:pt x="0" y="6674633"/>
                  </a:lnTo>
                  <a:lnTo>
                    <a:pt x="0" y="0"/>
                  </a:lnTo>
                  <a:close/>
                </a:path>
              </a:pathLst>
            </a:custGeom>
            <a:blipFill>
              <a:blip r:embed="rId6">
                <a:extLst>
                  <a:ext uri="{96DAC541-7B7A-43D3-8B79-37D633B846F1}">
                    <asvg:svgBlip xmlns:asvg="http://schemas.microsoft.com/office/drawing/2016/SVG/main" r:embed="rId7"/>
                  </a:ext>
                </a:extLst>
              </a:blip>
              <a:stretch>
                <a:fillRect l="-16979" t="-105217" r="-56056" b="-12418"/>
              </a:stretch>
            </a:blipFill>
            <a:ln w="76200" cap="sq">
              <a:solidFill>
                <a:srgbClr val="FEC622"/>
              </a:solidFill>
              <a:prstDash val="solid"/>
              <a:miter/>
            </a:ln>
          </p:spPr>
        </p:sp>
        <p:sp>
          <p:nvSpPr>
            <p:cNvPr name="TextBox 6" id="6"/>
            <p:cNvSpPr txBox="true"/>
            <p:nvPr/>
          </p:nvSpPr>
          <p:spPr>
            <a:xfrm rot="0">
              <a:off x="686049" y="193547"/>
              <a:ext cx="6997585" cy="735789"/>
            </a:xfrm>
            <a:prstGeom prst="rect">
              <a:avLst/>
            </a:prstGeom>
          </p:spPr>
          <p:txBody>
            <a:bodyPr anchor="t" rtlCol="false" tIns="0" lIns="0" bIns="0" rIns="0">
              <a:spAutoFit/>
            </a:bodyPr>
            <a:lstStyle/>
            <a:p>
              <a:pPr algn="l">
                <a:lnSpc>
                  <a:spcPts val="4609"/>
                </a:lnSpc>
                <a:spcBef>
                  <a:spcPct val="0"/>
                </a:spcBef>
              </a:pPr>
              <a:r>
                <a:rPr lang="en-US" b="true" sz="3292">
                  <a:solidFill>
                    <a:srgbClr val="000000"/>
                  </a:solidFill>
                  <a:latin typeface="Montserrat Bold"/>
                  <a:ea typeface="Montserrat Bold"/>
                  <a:cs typeface="Montserrat Bold"/>
                  <a:sym typeface="Montserrat Bold"/>
                </a:rPr>
                <a:t>Fake News Word Cloud</a:t>
              </a:r>
            </a:p>
          </p:txBody>
        </p:sp>
        <p:sp>
          <p:nvSpPr>
            <p:cNvPr name="Freeform 7" id="7"/>
            <p:cNvSpPr/>
            <p:nvPr/>
          </p:nvSpPr>
          <p:spPr>
            <a:xfrm flipH="false" flipV="false" rot="0">
              <a:off x="358804" y="1132771"/>
              <a:ext cx="10238364" cy="5206857"/>
            </a:xfrm>
            <a:custGeom>
              <a:avLst/>
              <a:gdLst/>
              <a:ahLst/>
              <a:cxnLst/>
              <a:rect r="r" b="b" t="t" l="l"/>
              <a:pathLst>
                <a:path h="5206857" w="10238364">
                  <a:moveTo>
                    <a:pt x="0" y="0"/>
                  </a:moveTo>
                  <a:lnTo>
                    <a:pt x="10238364" y="0"/>
                  </a:lnTo>
                  <a:lnTo>
                    <a:pt x="10238364" y="5206857"/>
                  </a:lnTo>
                  <a:lnTo>
                    <a:pt x="0" y="5206857"/>
                  </a:lnTo>
                  <a:lnTo>
                    <a:pt x="0" y="0"/>
                  </a:lnTo>
                  <a:close/>
                </a:path>
              </a:pathLst>
            </a:custGeom>
            <a:blipFill>
              <a:blip r:embed="rId8"/>
              <a:stretch>
                <a:fillRect l="0" t="-10725" r="0" b="0"/>
              </a:stretch>
            </a:blipFill>
          </p:spPr>
        </p:sp>
      </p:grpSp>
      <p:sp>
        <p:nvSpPr>
          <p:cNvPr name="TextBox 8" id="8"/>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EXPLORITY</a:t>
            </a:r>
            <a:r>
              <a:rPr lang="en-US" b="true" sz="5100">
                <a:solidFill>
                  <a:srgbClr val="000000"/>
                </a:solidFill>
                <a:latin typeface="Montserrat Bold"/>
                <a:ea typeface="Montserrat Bold"/>
                <a:cs typeface="Montserrat Bold"/>
                <a:sym typeface="Montserrat Bold"/>
              </a:rPr>
              <a:t> DATA ANALYSIS</a:t>
            </a:r>
          </a:p>
        </p:txBody>
      </p:sp>
      <p:grpSp>
        <p:nvGrpSpPr>
          <p:cNvPr name="Group 9" id="9"/>
          <p:cNvGrpSpPr/>
          <p:nvPr/>
        </p:nvGrpSpPr>
        <p:grpSpPr>
          <a:xfrm rot="0">
            <a:off x="9226733" y="3504980"/>
            <a:ext cx="8216979" cy="5005975"/>
            <a:chOff x="0" y="0"/>
            <a:chExt cx="10955972" cy="6674633"/>
          </a:xfrm>
        </p:grpSpPr>
        <p:sp>
          <p:nvSpPr>
            <p:cNvPr name="Freeform 10" id="10"/>
            <p:cNvSpPr/>
            <p:nvPr/>
          </p:nvSpPr>
          <p:spPr>
            <a:xfrm flipH="false" flipV="false" rot="0">
              <a:off x="0" y="0"/>
              <a:ext cx="10955972" cy="6674633"/>
            </a:xfrm>
            <a:custGeom>
              <a:avLst/>
              <a:gdLst/>
              <a:ahLst/>
              <a:cxnLst/>
              <a:rect r="r" b="b" t="t" l="l"/>
              <a:pathLst>
                <a:path h="6674633" w="10955972">
                  <a:moveTo>
                    <a:pt x="0" y="0"/>
                  </a:moveTo>
                  <a:lnTo>
                    <a:pt x="10955972" y="0"/>
                  </a:lnTo>
                  <a:lnTo>
                    <a:pt x="10955972" y="6674633"/>
                  </a:lnTo>
                  <a:lnTo>
                    <a:pt x="0" y="6674633"/>
                  </a:lnTo>
                  <a:lnTo>
                    <a:pt x="0" y="0"/>
                  </a:lnTo>
                  <a:close/>
                </a:path>
              </a:pathLst>
            </a:custGeom>
            <a:blipFill>
              <a:blip r:embed="rId6">
                <a:extLst>
                  <a:ext uri="{96DAC541-7B7A-43D3-8B79-37D633B846F1}">
                    <asvg:svgBlip xmlns:asvg="http://schemas.microsoft.com/office/drawing/2016/SVG/main" r:embed="rId7"/>
                  </a:ext>
                </a:extLst>
              </a:blip>
              <a:stretch>
                <a:fillRect l="-16979" t="-105217" r="-56056" b="-12418"/>
              </a:stretch>
            </a:blipFill>
            <a:ln w="76200" cap="sq">
              <a:solidFill>
                <a:srgbClr val="FEC622"/>
              </a:solidFill>
              <a:prstDash val="solid"/>
              <a:miter/>
            </a:ln>
          </p:spPr>
        </p:sp>
        <p:sp>
          <p:nvSpPr>
            <p:cNvPr name="TextBox 11" id="11"/>
            <p:cNvSpPr txBox="true"/>
            <p:nvPr/>
          </p:nvSpPr>
          <p:spPr>
            <a:xfrm rot="0">
              <a:off x="686049" y="193547"/>
              <a:ext cx="6997585" cy="735789"/>
            </a:xfrm>
            <a:prstGeom prst="rect">
              <a:avLst/>
            </a:prstGeom>
          </p:spPr>
          <p:txBody>
            <a:bodyPr anchor="t" rtlCol="false" tIns="0" lIns="0" bIns="0" rIns="0">
              <a:spAutoFit/>
            </a:bodyPr>
            <a:lstStyle/>
            <a:p>
              <a:pPr algn="l">
                <a:lnSpc>
                  <a:spcPts val="4609"/>
                </a:lnSpc>
                <a:spcBef>
                  <a:spcPct val="0"/>
                </a:spcBef>
              </a:pPr>
              <a:r>
                <a:rPr lang="en-US" b="true" sz="3292">
                  <a:solidFill>
                    <a:srgbClr val="000000"/>
                  </a:solidFill>
                  <a:latin typeface="Montserrat Bold"/>
                  <a:ea typeface="Montserrat Bold"/>
                  <a:cs typeface="Montserrat Bold"/>
                  <a:sym typeface="Montserrat Bold"/>
                </a:rPr>
                <a:t>Real News Word Cloud</a:t>
              </a:r>
            </a:p>
          </p:txBody>
        </p:sp>
        <p:sp>
          <p:nvSpPr>
            <p:cNvPr name="Freeform 12" id="12"/>
            <p:cNvSpPr/>
            <p:nvPr/>
          </p:nvSpPr>
          <p:spPr>
            <a:xfrm flipH="false" flipV="false" rot="0">
              <a:off x="382601" y="1187069"/>
              <a:ext cx="10290995" cy="5152038"/>
            </a:xfrm>
            <a:custGeom>
              <a:avLst/>
              <a:gdLst/>
              <a:ahLst/>
              <a:cxnLst/>
              <a:rect r="r" b="b" t="t" l="l"/>
              <a:pathLst>
                <a:path h="5152038" w="10290995">
                  <a:moveTo>
                    <a:pt x="0" y="0"/>
                  </a:moveTo>
                  <a:lnTo>
                    <a:pt x="10290995" y="0"/>
                  </a:lnTo>
                  <a:lnTo>
                    <a:pt x="10290995" y="5152038"/>
                  </a:lnTo>
                  <a:lnTo>
                    <a:pt x="0" y="5152038"/>
                  </a:lnTo>
                  <a:lnTo>
                    <a:pt x="0" y="0"/>
                  </a:lnTo>
                  <a:close/>
                </a:path>
              </a:pathLst>
            </a:custGeom>
            <a:blipFill>
              <a:blip r:embed="rId9"/>
              <a:stretch>
                <a:fillRect l="0" t="-12478"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304909" y="2202848"/>
            <a:ext cx="10252696" cy="4569159"/>
          </a:xfrm>
          <a:custGeom>
            <a:avLst/>
            <a:gdLst/>
            <a:ahLst/>
            <a:cxnLst/>
            <a:rect r="r" b="b" t="t" l="l"/>
            <a:pathLst>
              <a:path h="4569159" w="10252696">
                <a:moveTo>
                  <a:pt x="0" y="0"/>
                </a:moveTo>
                <a:lnTo>
                  <a:pt x="10252696" y="0"/>
                </a:lnTo>
                <a:lnTo>
                  <a:pt x="10252696" y="4569160"/>
                </a:lnTo>
                <a:lnTo>
                  <a:pt x="0" y="4569160"/>
                </a:lnTo>
                <a:lnTo>
                  <a:pt x="0" y="0"/>
                </a:lnTo>
                <a:close/>
              </a:path>
            </a:pathLst>
          </a:custGeom>
          <a:blipFill>
            <a:blip r:embed="rId6">
              <a:extLst>
                <a:ext uri="{96DAC541-7B7A-43D3-8B79-37D633B846F1}">
                  <asvg:svgBlip xmlns:asvg="http://schemas.microsoft.com/office/drawing/2016/SVG/main" r:embed="rId7"/>
                </a:ext>
              </a:extLst>
            </a:blip>
            <a:stretch>
              <a:fillRect l="-22948" t="-131279" r="-21520" b="-17117"/>
            </a:stretch>
          </a:blipFill>
          <a:ln w="76200" cap="sq">
            <a:solidFill>
              <a:srgbClr val="FEC622"/>
            </a:solidFill>
            <a:prstDash val="solid"/>
            <a:miter/>
          </a:ln>
        </p:spPr>
      </p:sp>
      <p:sp>
        <p:nvSpPr>
          <p:cNvPr name="Freeform 5" id="5"/>
          <p:cNvSpPr/>
          <p:nvPr/>
        </p:nvSpPr>
        <p:spPr>
          <a:xfrm flipH="false" flipV="false" rot="0">
            <a:off x="462493" y="2865912"/>
            <a:ext cx="9932203" cy="3790287"/>
          </a:xfrm>
          <a:custGeom>
            <a:avLst/>
            <a:gdLst/>
            <a:ahLst/>
            <a:cxnLst/>
            <a:rect r="r" b="b" t="t" l="l"/>
            <a:pathLst>
              <a:path h="3790287" w="9932203">
                <a:moveTo>
                  <a:pt x="0" y="0"/>
                </a:moveTo>
                <a:lnTo>
                  <a:pt x="9932203" y="0"/>
                </a:lnTo>
                <a:lnTo>
                  <a:pt x="9932203" y="3790287"/>
                </a:lnTo>
                <a:lnTo>
                  <a:pt x="0" y="3790287"/>
                </a:lnTo>
                <a:lnTo>
                  <a:pt x="0" y="0"/>
                </a:lnTo>
                <a:close/>
              </a:path>
            </a:pathLst>
          </a:custGeom>
          <a:blipFill>
            <a:blip r:embed="rId8"/>
            <a:stretch>
              <a:fillRect l="0" t="-12023" r="0" b="0"/>
            </a:stretch>
          </a:blipFill>
        </p:spPr>
      </p:sp>
      <p:sp>
        <p:nvSpPr>
          <p:cNvPr name="Freeform 6" id="6"/>
          <p:cNvSpPr/>
          <p:nvPr/>
        </p:nvSpPr>
        <p:spPr>
          <a:xfrm flipH="false" flipV="false" rot="0">
            <a:off x="8501802" y="5749960"/>
            <a:ext cx="9610813" cy="4283101"/>
          </a:xfrm>
          <a:custGeom>
            <a:avLst/>
            <a:gdLst/>
            <a:ahLst/>
            <a:cxnLst/>
            <a:rect r="r" b="b" t="t" l="l"/>
            <a:pathLst>
              <a:path h="4283101" w="9610813">
                <a:moveTo>
                  <a:pt x="0" y="0"/>
                </a:moveTo>
                <a:lnTo>
                  <a:pt x="9610813" y="0"/>
                </a:lnTo>
                <a:lnTo>
                  <a:pt x="9610813" y="4283101"/>
                </a:lnTo>
                <a:lnTo>
                  <a:pt x="0" y="4283101"/>
                </a:lnTo>
                <a:lnTo>
                  <a:pt x="0" y="0"/>
                </a:lnTo>
                <a:close/>
              </a:path>
            </a:pathLst>
          </a:custGeom>
          <a:blipFill>
            <a:blip r:embed="rId6">
              <a:extLst>
                <a:ext uri="{96DAC541-7B7A-43D3-8B79-37D633B846F1}">
                  <asvg:svgBlip xmlns:asvg="http://schemas.microsoft.com/office/drawing/2016/SVG/main" r:embed="rId7"/>
                </a:ext>
              </a:extLst>
            </a:blip>
            <a:stretch>
              <a:fillRect l="-22948" t="-131279" r="-21520" b="-17117"/>
            </a:stretch>
          </a:blipFill>
          <a:ln w="76200" cap="sq">
            <a:solidFill>
              <a:srgbClr val="FEC622"/>
            </a:solidFill>
            <a:prstDash val="solid"/>
            <a:miter/>
          </a:ln>
        </p:spPr>
      </p:sp>
      <p:sp>
        <p:nvSpPr>
          <p:cNvPr name="Freeform 7" id="7"/>
          <p:cNvSpPr/>
          <p:nvPr/>
        </p:nvSpPr>
        <p:spPr>
          <a:xfrm flipH="false" flipV="false" rot="0">
            <a:off x="8654244" y="6391329"/>
            <a:ext cx="9367756" cy="3540757"/>
          </a:xfrm>
          <a:custGeom>
            <a:avLst/>
            <a:gdLst/>
            <a:ahLst/>
            <a:cxnLst/>
            <a:rect r="r" b="b" t="t" l="l"/>
            <a:pathLst>
              <a:path h="3540757" w="9367756">
                <a:moveTo>
                  <a:pt x="0" y="0"/>
                </a:moveTo>
                <a:lnTo>
                  <a:pt x="9367757" y="0"/>
                </a:lnTo>
                <a:lnTo>
                  <a:pt x="9367757" y="3540758"/>
                </a:lnTo>
                <a:lnTo>
                  <a:pt x="0" y="3540758"/>
                </a:lnTo>
                <a:lnTo>
                  <a:pt x="0" y="0"/>
                </a:lnTo>
                <a:close/>
              </a:path>
            </a:pathLst>
          </a:custGeom>
          <a:blipFill>
            <a:blip r:embed="rId9"/>
            <a:stretch>
              <a:fillRect l="0" t="-12772" r="0" b="0"/>
            </a:stretch>
          </a:blipFill>
        </p:spPr>
      </p:sp>
      <p:sp>
        <p:nvSpPr>
          <p:cNvPr name="TextBox 8" id="8"/>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EXPLORITY</a:t>
            </a:r>
            <a:r>
              <a:rPr lang="en-US" b="true" sz="5100">
                <a:solidFill>
                  <a:srgbClr val="000000"/>
                </a:solidFill>
                <a:latin typeface="Montserrat Bold"/>
                <a:ea typeface="Montserrat Bold"/>
                <a:cs typeface="Montserrat Bold"/>
                <a:sym typeface="Montserrat Bold"/>
              </a:rPr>
              <a:t> DATA ANALYSIS</a:t>
            </a:r>
          </a:p>
        </p:txBody>
      </p:sp>
      <p:sp>
        <p:nvSpPr>
          <p:cNvPr name="TextBox 9" id="9"/>
          <p:cNvSpPr txBox="true"/>
          <p:nvPr/>
        </p:nvSpPr>
        <p:spPr>
          <a:xfrm rot="0">
            <a:off x="3188169" y="2453096"/>
            <a:ext cx="4486176" cy="412816"/>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Montserrat Bold"/>
                <a:ea typeface="Montserrat Bold"/>
                <a:cs typeface="Montserrat Bold"/>
                <a:sym typeface="Montserrat Bold"/>
              </a:rPr>
              <a:t>Dist</a:t>
            </a:r>
            <a:r>
              <a:rPr lang="en-US" b="true" sz="2499">
                <a:solidFill>
                  <a:srgbClr val="000000"/>
                </a:solidFill>
                <a:latin typeface="Montserrat Bold"/>
                <a:ea typeface="Montserrat Bold"/>
                <a:cs typeface="Montserrat Bold"/>
                <a:sym typeface="Montserrat Bold"/>
              </a:rPr>
              <a:t>ribution of Text Length</a:t>
            </a:r>
          </a:p>
        </p:txBody>
      </p:sp>
      <p:sp>
        <p:nvSpPr>
          <p:cNvPr name="TextBox 10" id="10"/>
          <p:cNvSpPr txBox="true"/>
          <p:nvPr/>
        </p:nvSpPr>
        <p:spPr>
          <a:xfrm rot="0">
            <a:off x="11053868" y="5978513"/>
            <a:ext cx="4506681" cy="412816"/>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Montserrat Bold"/>
                <a:ea typeface="Montserrat Bold"/>
                <a:cs typeface="Montserrat Bold"/>
                <a:sym typeface="Montserrat Bold"/>
              </a:rPr>
              <a:t>Distribution of Title Length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376484" y="2554208"/>
            <a:ext cx="15535033" cy="7187734"/>
          </a:xfrm>
          <a:custGeom>
            <a:avLst/>
            <a:gdLst/>
            <a:ahLst/>
            <a:cxnLst/>
            <a:rect r="r" b="b" t="t" l="l"/>
            <a:pathLst>
              <a:path h="7187734" w="15535033">
                <a:moveTo>
                  <a:pt x="0" y="0"/>
                </a:moveTo>
                <a:lnTo>
                  <a:pt x="15535032" y="0"/>
                </a:lnTo>
                <a:lnTo>
                  <a:pt x="15535032" y="7187734"/>
                </a:lnTo>
                <a:lnTo>
                  <a:pt x="0" y="7187734"/>
                </a:lnTo>
                <a:lnTo>
                  <a:pt x="0" y="0"/>
                </a:lnTo>
                <a:close/>
              </a:path>
            </a:pathLst>
          </a:custGeom>
          <a:blipFill>
            <a:blip r:embed="rId6">
              <a:extLst>
                <a:ext uri="{96DAC541-7B7A-43D3-8B79-37D633B846F1}">
                  <asvg:svgBlip xmlns:asvg="http://schemas.microsoft.com/office/drawing/2016/SVG/main" r:embed="rId7"/>
                </a:ext>
              </a:extLst>
            </a:blip>
            <a:stretch>
              <a:fillRect l="-12557" t="-102459" r="-15412" b="-9472"/>
            </a:stretch>
          </a:blipFill>
          <a:ln w="104775" cap="sq">
            <a:solidFill>
              <a:srgbClr val="FEC622"/>
            </a:solidFill>
            <a:prstDash val="solid"/>
            <a:miter/>
          </a:ln>
        </p:spPr>
      </p:sp>
      <p:sp>
        <p:nvSpPr>
          <p:cNvPr name="Freeform 5" id="5"/>
          <p:cNvSpPr/>
          <p:nvPr/>
        </p:nvSpPr>
        <p:spPr>
          <a:xfrm flipH="false" flipV="false" rot="0">
            <a:off x="8733912" y="3104638"/>
            <a:ext cx="7840930" cy="6086873"/>
          </a:xfrm>
          <a:custGeom>
            <a:avLst/>
            <a:gdLst/>
            <a:ahLst/>
            <a:cxnLst/>
            <a:rect r="r" b="b" t="t" l="l"/>
            <a:pathLst>
              <a:path h="6086873" w="7840930">
                <a:moveTo>
                  <a:pt x="0" y="0"/>
                </a:moveTo>
                <a:lnTo>
                  <a:pt x="7840930" y="0"/>
                </a:lnTo>
                <a:lnTo>
                  <a:pt x="7840930" y="6086873"/>
                </a:lnTo>
                <a:lnTo>
                  <a:pt x="0" y="6086873"/>
                </a:lnTo>
                <a:lnTo>
                  <a:pt x="0" y="0"/>
                </a:lnTo>
                <a:close/>
              </a:path>
            </a:pathLst>
          </a:custGeom>
          <a:blipFill>
            <a:blip r:embed="rId8"/>
            <a:stretch>
              <a:fillRect l="-3561" t="0" r="0" b="0"/>
            </a:stretch>
          </a:blipFill>
        </p:spPr>
      </p:sp>
      <p:sp>
        <p:nvSpPr>
          <p:cNvPr name="TextBox 6" id="6"/>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FINDINGS AND SOLUTIONS</a:t>
            </a:r>
          </a:p>
        </p:txBody>
      </p:sp>
      <p:sp>
        <p:nvSpPr>
          <p:cNvPr name="TextBox 7" id="7"/>
          <p:cNvSpPr txBox="true"/>
          <p:nvPr/>
        </p:nvSpPr>
        <p:spPr>
          <a:xfrm rot="0">
            <a:off x="1706236" y="2790764"/>
            <a:ext cx="6999101" cy="6590796"/>
          </a:xfrm>
          <a:prstGeom prst="rect">
            <a:avLst/>
          </a:prstGeom>
        </p:spPr>
        <p:txBody>
          <a:bodyPr anchor="t" rtlCol="false" tIns="0" lIns="0" bIns="0" rIns="0">
            <a:spAutoFit/>
          </a:bodyPr>
          <a:lstStyle/>
          <a:p>
            <a:pPr algn="l">
              <a:lnSpc>
                <a:spcPts val="4359"/>
              </a:lnSpc>
            </a:pPr>
            <a:r>
              <a:rPr lang="en-US" sz="2564">
                <a:solidFill>
                  <a:srgbClr val="000000"/>
                </a:solidFill>
                <a:latin typeface="Montserrat"/>
                <a:ea typeface="Montserrat"/>
                <a:cs typeface="Montserrat"/>
                <a:sym typeface="Montserrat"/>
              </a:rPr>
              <a:t>Clear subject differences between fake and real news → risk of bias!</a:t>
            </a:r>
          </a:p>
          <a:p>
            <a:pPr algn="l">
              <a:lnSpc>
                <a:spcPts val="4359"/>
              </a:lnSpc>
            </a:pPr>
            <a:r>
              <a:rPr lang="en-US" b="true" sz="2564">
                <a:solidFill>
                  <a:srgbClr val="000000"/>
                </a:solidFill>
                <a:latin typeface="Montserrat Bold"/>
                <a:ea typeface="Montserrat Bold"/>
                <a:cs typeface="Montserrat Bold"/>
                <a:sym typeface="Montserrat Bold"/>
              </a:rPr>
              <a:t>Problem:</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Real news: 2 subject categories</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Fake news: 6 subject categories</a:t>
            </a:r>
          </a:p>
          <a:p>
            <a:pPr algn="l">
              <a:lnSpc>
                <a:spcPts val="4359"/>
              </a:lnSpc>
            </a:pPr>
            <a:r>
              <a:rPr lang="en-US" b="true" sz="2564">
                <a:solidFill>
                  <a:srgbClr val="000000"/>
                </a:solidFill>
                <a:latin typeface="Montserrat Bold"/>
                <a:ea typeface="Montserrat Bold"/>
                <a:cs typeface="Montserrat Bold"/>
                <a:sym typeface="Montserrat Bold"/>
              </a:rPr>
              <a:t>Solution:</a:t>
            </a:r>
          </a:p>
          <a:p>
            <a:pPr algn="l">
              <a:lnSpc>
                <a:spcPts val="4359"/>
              </a:lnSpc>
            </a:pPr>
            <a:r>
              <a:rPr lang="en-US" sz="2564">
                <a:solidFill>
                  <a:srgbClr val="000000"/>
                </a:solidFill>
                <a:latin typeface="Montserrat"/>
                <a:ea typeface="Montserrat"/>
                <a:cs typeface="Montserrat"/>
                <a:sym typeface="Montserrat"/>
              </a:rPr>
              <a:t>Mapped fake news subjects into 2 categories: politicsNews &amp; worldnews</a:t>
            </a:r>
          </a:p>
          <a:p>
            <a:pPr algn="l">
              <a:lnSpc>
                <a:spcPts val="4359"/>
              </a:lnSpc>
            </a:pPr>
            <a:r>
              <a:rPr lang="en-US" b="true" sz="2564">
                <a:solidFill>
                  <a:srgbClr val="000000"/>
                </a:solidFill>
                <a:latin typeface="Montserrat Bold"/>
                <a:ea typeface="Montserrat Bold"/>
                <a:cs typeface="Montserrat Bold"/>
                <a:sym typeface="Montserrat Bold"/>
              </a:rPr>
              <a:t>Result</a:t>
            </a:r>
            <a:r>
              <a:rPr lang="en-US" sz="2564">
                <a:solidFill>
                  <a:srgbClr val="000000"/>
                </a:solidFill>
                <a:latin typeface="Montserrat"/>
                <a:ea typeface="Montserrat"/>
                <a:cs typeface="Montserrat"/>
                <a:sym typeface="Montserrat"/>
              </a:rPr>
              <a:t>:</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Unified subject space</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Improved class balance: ~45% vs. ~55%</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Fairer and more reliable model training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376484" y="2554208"/>
            <a:ext cx="10241107" cy="7048126"/>
          </a:xfrm>
          <a:custGeom>
            <a:avLst/>
            <a:gdLst/>
            <a:ahLst/>
            <a:cxnLst/>
            <a:rect r="r" b="b" t="t" l="l"/>
            <a:pathLst>
              <a:path h="7048126" w="10241107">
                <a:moveTo>
                  <a:pt x="0" y="0"/>
                </a:moveTo>
                <a:lnTo>
                  <a:pt x="10241106" y="0"/>
                </a:lnTo>
                <a:lnTo>
                  <a:pt x="10241106" y="7048125"/>
                </a:lnTo>
                <a:lnTo>
                  <a:pt x="0" y="7048125"/>
                </a:lnTo>
                <a:lnTo>
                  <a:pt x="0" y="0"/>
                </a:lnTo>
                <a:close/>
              </a:path>
            </a:pathLst>
          </a:custGeom>
          <a:blipFill>
            <a:blip r:embed="rId6">
              <a:extLst>
                <a:ext uri="{96DAC541-7B7A-43D3-8B79-37D633B846F1}">
                  <asvg:svgBlip xmlns:asvg="http://schemas.microsoft.com/office/drawing/2016/SVG/main" r:embed="rId7"/>
                </a:ext>
              </a:extLst>
            </a:blip>
            <a:stretch>
              <a:fillRect l="-19048" t="-104489" r="-75071" b="-11640"/>
            </a:stretch>
          </a:blipFill>
          <a:ln w="104775" cap="sq">
            <a:solidFill>
              <a:srgbClr val="FEC622"/>
            </a:solidFill>
            <a:prstDash val="solid"/>
            <a:miter/>
          </a:ln>
        </p:spPr>
      </p:sp>
      <p:sp>
        <p:nvSpPr>
          <p:cNvPr name="TextBox 5" id="5"/>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FINDINGS AND SOLUTIONS</a:t>
            </a:r>
          </a:p>
        </p:txBody>
      </p:sp>
      <p:sp>
        <p:nvSpPr>
          <p:cNvPr name="TextBox 6" id="6"/>
          <p:cNvSpPr txBox="true"/>
          <p:nvPr/>
        </p:nvSpPr>
        <p:spPr>
          <a:xfrm rot="0">
            <a:off x="1950420" y="2711086"/>
            <a:ext cx="9133122" cy="6547214"/>
          </a:xfrm>
          <a:prstGeom prst="rect">
            <a:avLst/>
          </a:prstGeom>
        </p:spPr>
        <p:txBody>
          <a:bodyPr anchor="t" rtlCol="false" tIns="0" lIns="0" bIns="0" rIns="0">
            <a:spAutoFit/>
          </a:bodyPr>
          <a:lstStyle/>
          <a:p>
            <a:pPr algn="l">
              <a:lnSpc>
                <a:spcPts val="4759"/>
              </a:lnSpc>
            </a:pPr>
            <a:r>
              <a:rPr lang="en-US" sz="2799" b="true">
                <a:solidFill>
                  <a:srgbClr val="000000"/>
                </a:solidFill>
                <a:latin typeface="Montserrat Bold"/>
                <a:ea typeface="Montserrat Bold"/>
                <a:cs typeface="Montserrat Bold"/>
                <a:sym typeface="Montserrat Bold"/>
              </a:rPr>
              <a:t>Problem</a:t>
            </a:r>
            <a:r>
              <a:rPr lang="en-US" sz="2799">
                <a:solidFill>
                  <a:srgbClr val="000000"/>
                </a:solidFill>
                <a:latin typeface="Montserrat"/>
                <a:ea typeface="Montserrat"/>
                <a:cs typeface="Montserrat"/>
                <a:sym typeface="Montserrat"/>
              </a:rPr>
              <a:t>: Incon</a:t>
            </a:r>
            <a:r>
              <a:rPr lang="en-US" sz="2799">
                <a:solidFill>
                  <a:srgbClr val="000000"/>
                </a:solidFill>
                <a:latin typeface="Montserrat"/>
                <a:ea typeface="Montserrat"/>
                <a:cs typeface="Montserrat"/>
                <a:sym typeface="Montserrat"/>
              </a:rPr>
              <a:t>sistent formats (e.g., "Month DD, YYYY").</a:t>
            </a:r>
          </a:p>
          <a:p>
            <a:pPr algn="l">
              <a:lnSpc>
                <a:spcPts val="4759"/>
              </a:lnSpc>
            </a:pPr>
            <a:r>
              <a:rPr lang="en-US" b="true" sz="2799">
                <a:solidFill>
                  <a:srgbClr val="000000"/>
                </a:solidFill>
                <a:latin typeface="Montserrat Bold"/>
                <a:ea typeface="Montserrat Bold"/>
                <a:cs typeface="Montserrat Bold"/>
                <a:sym typeface="Montserrat Bold"/>
              </a:rPr>
              <a:t>Action</a:t>
            </a:r>
            <a:r>
              <a:rPr lang="en-US" sz="2799">
                <a:solidFill>
                  <a:srgbClr val="000000"/>
                </a:solidFill>
                <a:latin typeface="Montserrat"/>
                <a:ea typeface="Montserrat"/>
                <a:cs typeface="Montserrat"/>
                <a:sym typeface="Montserrat"/>
              </a:rPr>
              <a:t>: Used regex to extract valid dates, stripped whitespace, and standardized to YYYY-MM-DD.</a:t>
            </a:r>
          </a:p>
          <a:p>
            <a:pPr algn="l">
              <a:lnSpc>
                <a:spcPts val="4759"/>
              </a:lnSpc>
            </a:pPr>
          </a:p>
          <a:p>
            <a:pPr algn="l">
              <a:lnSpc>
                <a:spcPts val="4759"/>
              </a:lnSpc>
            </a:pPr>
            <a:r>
              <a:rPr lang="en-US" b="true" sz="2799">
                <a:solidFill>
                  <a:srgbClr val="000000"/>
                </a:solidFill>
                <a:latin typeface="Montserrat Bold"/>
                <a:ea typeface="Montserrat Bold"/>
                <a:cs typeface="Montserrat Bold"/>
                <a:sym typeface="Montserrat Bold"/>
              </a:rPr>
              <a:t>Problem:</a:t>
            </a:r>
            <a:r>
              <a:rPr lang="en-US" sz="2799">
                <a:solidFill>
                  <a:srgbClr val="000000"/>
                </a:solidFill>
                <a:latin typeface="Montserrat"/>
                <a:ea typeface="Montserrat"/>
                <a:cs typeface="Montserrat"/>
                <a:sym typeface="Montserrat"/>
              </a:rPr>
              <a:t> </a:t>
            </a:r>
            <a:r>
              <a:rPr lang="en-US" sz="2799">
                <a:solidFill>
                  <a:srgbClr val="000000"/>
                </a:solidFill>
                <a:latin typeface="Montserrat"/>
                <a:ea typeface="Montserrat"/>
                <a:cs typeface="Montserrat"/>
                <a:sym typeface="Montserrat"/>
              </a:rPr>
              <a:t>N</a:t>
            </a:r>
            <a:r>
              <a:rPr lang="en-US" sz="2799">
                <a:solidFill>
                  <a:srgbClr val="000000"/>
                </a:solidFill>
                <a:latin typeface="Montserrat"/>
                <a:ea typeface="Montserrat"/>
                <a:cs typeface="Montserrat"/>
                <a:sym typeface="Montserrat"/>
              </a:rPr>
              <a:t>o</a:t>
            </a:r>
            <a:r>
              <a:rPr lang="en-US" sz="2799">
                <a:solidFill>
                  <a:srgbClr val="000000"/>
                </a:solidFill>
                <a:latin typeface="Montserrat"/>
                <a:ea typeface="Montserrat"/>
                <a:cs typeface="Montserrat"/>
                <a:sym typeface="Montserrat"/>
              </a:rPr>
              <a:t>n-Over</a:t>
            </a:r>
            <a:r>
              <a:rPr lang="en-US" sz="2799">
                <a:solidFill>
                  <a:srgbClr val="000000"/>
                </a:solidFill>
                <a:latin typeface="Montserrat"/>
                <a:ea typeface="Montserrat"/>
                <a:cs typeface="Montserrat"/>
                <a:sym typeface="Montserrat"/>
              </a:rPr>
              <a:t>l</a:t>
            </a:r>
            <a:r>
              <a:rPr lang="en-US" sz="2799">
                <a:solidFill>
                  <a:srgbClr val="000000"/>
                </a:solidFill>
                <a:latin typeface="Montserrat"/>
                <a:ea typeface="Montserrat"/>
                <a:cs typeface="Montserrat"/>
                <a:sym typeface="Montserrat"/>
              </a:rPr>
              <a:t>apping T</a:t>
            </a:r>
            <a:r>
              <a:rPr lang="en-US" sz="2799">
                <a:solidFill>
                  <a:srgbClr val="000000"/>
                </a:solidFill>
                <a:latin typeface="Montserrat"/>
                <a:ea typeface="Montserrat"/>
                <a:cs typeface="Montserrat"/>
                <a:sym typeface="Montserrat"/>
              </a:rPr>
              <a:t>i</a:t>
            </a:r>
            <a:r>
              <a:rPr lang="en-US" sz="2799">
                <a:solidFill>
                  <a:srgbClr val="000000"/>
                </a:solidFill>
                <a:latin typeface="Montserrat"/>
                <a:ea typeface="Montserrat"/>
                <a:cs typeface="Montserrat"/>
                <a:sym typeface="Montserrat"/>
              </a:rPr>
              <a:t>me Ra</a:t>
            </a:r>
            <a:r>
              <a:rPr lang="en-US" sz="2799">
                <a:solidFill>
                  <a:srgbClr val="000000"/>
                </a:solidFill>
                <a:latin typeface="Montserrat"/>
                <a:ea typeface="Montserrat"/>
                <a:cs typeface="Montserrat"/>
                <a:sym typeface="Montserrat"/>
              </a:rPr>
              <a:t>n</a:t>
            </a:r>
            <a:r>
              <a:rPr lang="en-US" sz="2799">
                <a:solidFill>
                  <a:srgbClr val="000000"/>
                </a:solidFill>
                <a:latin typeface="Montserrat"/>
                <a:ea typeface="Montserrat"/>
                <a:cs typeface="Montserrat"/>
                <a:sym typeface="Montserrat"/>
              </a:rPr>
              <a:t>ges.</a:t>
            </a:r>
          </a:p>
          <a:p>
            <a:pPr algn="l">
              <a:lnSpc>
                <a:spcPts val="4759"/>
              </a:lnSpc>
            </a:pPr>
            <a:r>
              <a:rPr lang="en-US" sz="2799">
                <a:solidFill>
                  <a:srgbClr val="000000"/>
                </a:solidFill>
                <a:latin typeface="Montserrat"/>
                <a:ea typeface="Montserrat"/>
                <a:cs typeface="Montserrat"/>
                <a:sym typeface="Montserrat"/>
              </a:rPr>
              <a:t>The Real </a:t>
            </a:r>
            <a:r>
              <a:rPr lang="en-US" sz="2799">
                <a:solidFill>
                  <a:srgbClr val="000000"/>
                </a:solidFill>
                <a:latin typeface="Montserrat"/>
                <a:ea typeface="Montserrat"/>
                <a:cs typeface="Montserrat"/>
                <a:sym typeface="Montserrat"/>
              </a:rPr>
              <a:t>and fake news covered different time intervals which can cause temporal bias in time-aware models.</a:t>
            </a:r>
          </a:p>
          <a:p>
            <a:pPr algn="l">
              <a:lnSpc>
                <a:spcPts val="4759"/>
              </a:lnSpc>
            </a:pPr>
            <a:r>
              <a:rPr lang="en-US" b="true" sz="2799">
                <a:solidFill>
                  <a:srgbClr val="000000"/>
                </a:solidFill>
                <a:latin typeface="Montserrat Bold"/>
                <a:ea typeface="Montserrat Bold"/>
                <a:cs typeface="Montserrat Bold"/>
                <a:sym typeface="Montserrat Bold"/>
              </a:rPr>
              <a:t>Action</a:t>
            </a:r>
            <a:r>
              <a:rPr lang="en-US" sz="2799">
                <a:solidFill>
                  <a:srgbClr val="000000"/>
                </a:solidFill>
                <a:latin typeface="Montserrat"/>
                <a:ea typeface="Montserrat"/>
                <a:cs typeface="Montserrat"/>
                <a:sym typeface="Montserrat"/>
              </a:rPr>
              <a:t>: Filtered both datasets to a shared date range.</a:t>
            </a:r>
          </a:p>
        </p:txBody>
      </p:sp>
      <p:sp>
        <p:nvSpPr>
          <p:cNvPr name="Freeform 7" id="7"/>
          <p:cNvSpPr/>
          <p:nvPr/>
        </p:nvSpPr>
        <p:spPr>
          <a:xfrm flipH="false" flipV="false" rot="0">
            <a:off x="12056315" y="3120841"/>
            <a:ext cx="5777303" cy="5914858"/>
          </a:xfrm>
          <a:custGeom>
            <a:avLst/>
            <a:gdLst/>
            <a:ahLst/>
            <a:cxnLst/>
            <a:rect r="r" b="b" t="t" l="l"/>
            <a:pathLst>
              <a:path h="5914858" w="5777303">
                <a:moveTo>
                  <a:pt x="0" y="0"/>
                </a:moveTo>
                <a:lnTo>
                  <a:pt x="5777303" y="0"/>
                </a:lnTo>
                <a:lnTo>
                  <a:pt x="5777303" y="5914858"/>
                </a:lnTo>
                <a:lnTo>
                  <a:pt x="0" y="5914858"/>
                </a:lnTo>
                <a:lnTo>
                  <a:pt x="0" y="0"/>
                </a:lnTo>
                <a:close/>
              </a:path>
            </a:pathLst>
          </a:custGeom>
          <a:blipFill>
            <a:blip r:embed="rId8">
              <a:extLst>
                <a:ext uri="{96DAC541-7B7A-43D3-8B79-37D633B846F1}">
                  <asvg:svgBlip xmlns:asvg="http://schemas.microsoft.com/office/drawing/2016/SVG/main" r:embed="rId9"/>
                </a:ext>
              </a:extLst>
            </a:blip>
            <a:stretch>
              <a:fillRect l="-229858" t="-333507" r="-269828" b="-30692"/>
            </a:stretch>
          </a:blipFill>
        </p:spPr>
      </p:sp>
      <p:sp>
        <p:nvSpPr>
          <p:cNvPr name="Freeform 8" id="8"/>
          <p:cNvSpPr/>
          <p:nvPr/>
        </p:nvSpPr>
        <p:spPr>
          <a:xfrm flipH="false" flipV="false" rot="0">
            <a:off x="12439597" y="4030276"/>
            <a:ext cx="3656206" cy="4131307"/>
          </a:xfrm>
          <a:custGeom>
            <a:avLst/>
            <a:gdLst/>
            <a:ahLst/>
            <a:cxnLst/>
            <a:rect r="r" b="b" t="t" l="l"/>
            <a:pathLst>
              <a:path h="4131307" w="3656206">
                <a:moveTo>
                  <a:pt x="0" y="0"/>
                </a:moveTo>
                <a:lnTo>
                  <a:pt x="3656206" y="0"/>
                </a:lnTo>
                <a:lnTo>
                  <a:pt x="3656206" y="4131306"/>
                </a:lnTo>
                <a:lnTo>
                  <a:pt x="0" y="413130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9" id="9"/>
          <p:cNvSpPr/>
          <p:nvPr/>
        </p:nvSpPr>
        <p:spPr>
          <a:xfrm flipH="false" flipV="false" rot="0">
            <a:off x="15910303" y="6095929"/>
            <a:ext cx="2377697" cy="2267729"/>
          </a:xfrm>
          <a:custGeom>
            <a:avLst/>
            <a:gdLst/>
            <a:ahLst/>
            <a:cxnLst/>
            <a:rect r="r" b="b" t="t" l="l"/>
            <a:pathLst>
              <a:path h="2267729" w="2377697">
                <a:moveTo>
                  <a:pt x="0" y="0"/>
                </a:moveTo>
                <a:lnTo>
                  <a:pt x="2377697" y="0"/>
                </a:lnTo>
                <a:lnTo>
                  <a:pt x="2377697" y="2267729"/>
                </a:lnTo>
                <a:lnTo>
                  <a:pt x="0" y="22677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622801" y="2345752"/>
            <a:ext cx="5310068" cy="3630244"/>
          </a:xfrm>
          <a:custGeom>
            <a:avLst/>
            <a:gdLst/>
            <a:ahLst/>
            <a:cxnLst/>
            <a:rect r="r" b="b" t="t" l="l"/>
            <a:pathLst>
              <a:path h="3630244" w="5310068">
                <a:moveTo>
                  <a:pt x="0" y="0"/>
                </a:moveTo>
                <a:lnTo>
                  <a:pt x="5310068" y="0"/>
                </a:lnTo>
                <a:lnTo>
                  <a:pt x="5310068" y="3630244"/>
                </a:lnTo>
                <a:lnTo>
                  <a:pt x="0" y="3630244"/>
                </a:lnTo>
                <a:lnTo>
                  <a:pt x="0" y="0"/>
                </a:lnTo>
                <a:close/>
              </a:path>
            </a:pathLst>
          </a:custGeom>
          <a:blipFill>
            <a:blip r:embed="rId6">
              <a:extLst>
                <a:ext uri="{96DAC541-7B7A-43D3-8B79-37D633B846F1}">
                  <asvg:svgBlip xmlns:asvg="http://schemas.microsoft.com/office/drawing/2016/SVG/main" r:embed="rId7"/>
                </a:ext>
              </a:extLst>
            </a:blip>
            <a:stretch>
              <a:fillRect l="-14197" t="-86397" r="-52107" b="0"/>
            </a:stretch>
          </a:blipFill>
          <a:ln w="66675" cap="sq">
            <a:solidFill>
              <a:srgbClr val="FEC622"/>
            </a:solidFill>
            <a:prstDash val="solid"/>
            <a:miter/>
          </a:ln>
        </p:spPr>
      </p:sp>
      <p:sp>
        <p:nvSpPr>
          <p:cNvPr name="Freeform 5" id="5"/>
          <p:cNvSpPr/>
          <p:nvPr/>
        </p:nvSpPr>
        <p:spPr>
          <a:xfrm flipH="false" flipV="false" rot="0">
            <a:off x="622801" y="6309371"/>
            <a:ext cx="5310068" cy="3630244"/>
          </a:xfrm>
          <a:custGeom>
            <a:avLst/>
            <a:gdLst/>
            <a:ahLst/>
            <a:cxnLst/>
            <a:rect r="r" b="b" t="t" l="l"/>
            <a:pathLst>
              <a:path h="3630244" w="5310068">
                <a:moveTo>
                  <a:pt x="0" y="0"/>
                </a:moveTo>
                <a:lnTo>
                  <a:pt x="5310068" y="0"/>
                </a:lnTo>
                <a:lnTo>
                  <a:pt x="5310068" y="3630244"/>
                </a:lnTo>
                <a:lnTo>
                  <a:pt x="0" y="3630244"/>
                </a:lnTo>
                <a:lnTo>
                  <a:pt x="0" y="0"/>
                </a:lnTo>
                <a:close/>
              </a:path>
            </a:pathLst>
          </a:custGeom>
          <a:blipFill>
            <a:blip r:embed="rId6">
              <a:extLst>
                <a:ext uri="{96DAC541-7B7A-43D3-8B79-37D633B846F1}">
                  <asvg:svgBlip xmlns:asvg="http://schemas.microsoft.com/office/drawing/2016/SVG/main" r:embed="rId7"/>
                </a:ext>
              </a:extLst>
            </a:blip>
            <a:stretch>
              <a:fillRect l="-14197" t="-86397" r="-52107" b="0"/>
            </a:stretch>
          </a:blipFill>
          <a:ln w="66675" cap="sq">
            <a:solidFill>
              <a:srgbClr val="FEC622"/>
            </a:solidFill>
            <a:prstDash val="solid"/>
            <a:miter/>
          </a:ln>
        </p:spPr>
      </p:sp>
      <p:sp>
        <p:nvSpPr>
          <p:cNvPr name="Freeform 6" id="6"/>
          <p:cNvSpPr/>
          <p:nvPr/>
        </p:nvSpPr>
        <p:spPr>
          <a:xfrm flipH="false" flipV="false" rot="0">
            <a:off x="6566441" y="2345752"/>
            <a:ext cx="5310068" cy="3630244"/>
          </a:xfrm>
          <a:custGeom>
            <a:avLst/>
            <a:gdLst/>
            <a:ahLst/>
            <a:cxnLst/>
            <a:rect r="r" b="b" t="t" l="l"/>
            <a:pathLst>
              <a:path h="3630244" w="5310068">
                <a:moveTo>
                  <a:pt x="0" y="0"/>
                </a:moveTo>
                <a:lnTo>
                  <a:pt x="5310068" y="0"/>
                </a:lnTo>
                <a:lnTo>
                  <a:pt x="5310068" y="3630244"/>
                </a:lnTo>
                <a:lnTo>
                  <a:pt x="0" y="3630244"/>
                </a:lnTo>
                <a:lnTo>
                  <a:pt x="0" y="0"/>
                </a:lnTo>
                <a:close/>
              </a:path>
            </a:pathLst>
          </a:custGeom>
          <a:blipFill>
            <a:blip r:embed="rId6">
              <a:extLst>
                <a:ext uri="{96DAC541-7B7A-43D3-8B79-37D633B846F1}">
                  <asvg:svgBlip xmlns:asvg="http://schemas.microsoft.com/office/drawing/2016/SVG/main" r:embed="rId7"/>
                </a:ext>
              </a:extLst>
            </a:blip>
            <a:stretch>
              <a:fillRect l="-14197" t="-86397" r="-52107" b="0"/>
            </a:stretch>
          </a:blipFill>
          <a:ln w="66675" cap="sq">
            <a:solidFill>
              <a:srgbClr val="FEC622"/>
            </a:solidFill>
            <a:prstDash val="solid"/>
            <a:miter/>
          </a:ln>
        </p:spPr>
      </p:sp>
      <p:sp>
        <p:nvSpPr>
          <p:cNvPr name="Freeform 7" id="7"/>
          <p:cNvSpPr/>
          <p:nvPr/>
        </p:nvSpPr>
        <p:spPr>
          <a:xfrm flipH="false" flipV="false" rot="0">
            <a:off x="6566441" y="6309371"/>
            <a:ext cx="5310068" cy="3630244"/>
          </a:xfrm>
          <a:custGeom>
            <a:avLst/>
            <a:gdLst/>
            <a:ahLst/>
            <a:cxnLst/>
            <a:rect r="r" b="b" t="t" l="l"/>
            <a:pathLst>
              <a:path h="3630244" w="5310068">
                <a:moveTo>
                  <a:pt x="0" y="0"/>
                </a:moveTo>
                <a:lnTo>
                  <a:pt x="5310068" y="0"/>
                </a:lnTo>
                <a:lnTo>
                  <a:pt x="5310068" y="3630244"/>
                </a:lnTo>
                <a:lnTo>
                  <a:pt x="0" y="3630244"/>
                </a:lnTo>
                <a:lnTo>
                  <a:pt x="0" y="0"/>
                </a:lnTo>
                <a:close/>
              </a:path>
            </a:pathLst>
          </a:custGeom>
          <a:blipFill>
            <a:blip r:embed="rId6">
              <a:extLst>
                <a:ext uri="{96DAC541-7B7A-43D3-8B79-37D633B846F1}">
                  <asvg:svgBlip xmlns:asvg="http://schemas.microsoft.com/office/drawing/2016/SVG/main" r:embed="rId7"/>
                </a:ext>
              </a:extLst>
            </a:blip>
            <a:stretch>
              <a:fillRect l="-14197" t="-86397" r="-52107" b="0"/>
            </a:stretch>
          </a:blipFill>
          <a:ln w="66675" cap="sq">
            <a:solidFill>
              <a:srgbClr val="FEC622"/>
            </a:solidFill>
            <a:prstDash val="solid"/>
            <a:miter/>
          </a:ln>
        </p:spPr>
      </p:sp>
      <p:sp>
        <p:nvSpPr>
          <p:cNvPr name="Freeform 8" id="8"/>
          <p:cNvSpPr/>
          <p:nvPr/>
        </p:nvSpPr>
        <p:spPr>
          <a:xfrm flipH="false" flipV="false" rot="0">
            <a:off x="13642989" y="2637504"/>
            <a:ext cx="2834073" cy="4302198"/>
          </a:xfrm>
          <a:custGeom>
            <a:avLst/>
            <a:gdLst/>
            <a:ahLst/>
            <a:cxnLst/>
            <a:rect r="r" b="b" t="t" l="l"/>
            <a:pathLst>
              <a:path h="4302198" w="2834073">
                <a:moveTo>
                  <a:pt x="0" y="0"/>
                </a:moveTo>
                <a:lnTo>
                  <a:pt x="2834073" y="0"/>
                </a:lnTo>
                <a:lnTo>
                  <a:pt x="2834073" y="4302198"/>
                </a:lnTo>
                <a:lnTo>
                  <a:pt x="0" y="43021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9" id="9"/>
          <p:cNvSpPr/>
          <p:nvPr/>
        </p:nvSpPr>
        <p:spPr>
          <a:xfrm flipH="false" flipV="false" rot="0">
            <a:off x="12355131" y="6309371"/>
            <a:ext cx="5310068" cy="3630244"/>
          </a:xfrm>
          <a:custGeom>
            <a:avLst/>
            <a:gdLst/>
            <a:ahLst/>
            <a:cxnLst/>
            <a:rect r="r" b="b" t="t" l="l"/>
            <a:pathLst>
              <a:path h="3630244" w="5310068">
                <a:moveTo>
                  <a:pt x="0" y="0"/>
                </a:moveTo>
                <a:lnTo>
                  <a:pt x="5310068" y="0"/>
                </a:lnTo>
                <a:lnTo>
                  <a:pt x="5310068" y="3630244"/>
                </a:lnTo>
                <a:lnTo>
                  <a:pt x="0" y="3630244"/>
                </a:lnTo>
                <a:lnTo>
                  <a:pt x="0" y="0"/>
                </a:lnTo>
                <a:close/>
              </a:path>
            </a:pathLst>
          </a:custGeom>
          <a:blipFill>
            <a:blip r:embed="rId6">
              <a:extLst>
                <a:ext uri="{96DAC541-7B7A-43D3-8B79-37D633B846F1}">
                  <asvg:svgBlip xmlns:asvg="http://schemas.microsoft.com/office/drawing/2016/SVG/main" r:embed="rId7"/>
                </a:ext>
              </a:extLst>
            </a:blip>
            <a:stretch>
              <a:fillRect l="-14197" t="-86397" r="-52107" b="0"/>
            </a:stretch>
          </a:blipFill>
          <a:ln w="66675" cap="sq">
            <a:solidFill>
              <a:srgbClr val="FEC622"/>
            </a:solidFill>
            <a:prstDash val="solid"/>
            <a:miter/>
          </a:ln>
        </p:spPr>
      </p:sp>
      <p:sp>
        <p:nvSpPr>
          <p:cNvPr name="Freeform 10" id="10"/>
          <p:cNvSpPr/>
          <p:nvPr/>
        </p:nvSpPr>
        <p:spPr>
          <a:xfrm flipH="false" flipV="false" rot="0">
            <a:off x="16770825" y="6617734"/>
            <a:ext cx="674439" cy="674439"/>
          </a:xfrm>
          <a:custGeom>
            <a:avLst/>
            <a:gdLst/>
            <a:ahLst/>
            <a:cxnLst/>
            <a:rect r="r" b="b" t="t" l="l"/>
            <a:pathLst>
              <a:path h="674439" w="674439">
                <a:moveTo>
                  <a:pt x="0" y="0"/>
                </a:moveTo>
                <a:lnTo>
                  <a:pt x="674438" y="0"/>
                </a:lnTo>
                <a:lnTo>
                  <a:pt x="674438" y="674439"/>
                </a:lnTo>
                <a:lnTo>
                  <a:pt x="0" y="67443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DERIVED LINGUISTIC &amp;</a:t>
            </a:r>
            <a:r>
              <a:rPr lang="en-US" b="true" sz="5100" strike="noStrike" u="none">
                <a:solidFill>
                  <a:srgbClr val="000000"/>
                </a:solidFill>
                <a:latin typeface="Montserrat Bold"/>
                <a:ea typeface="Montserrat Bold"/>
                <a:cs typeface="Montserrat Bold"/>
                <a:sym typeface="Montserrat Bold"/>
              </a:rPr>
              <a:t> STRUCTURAL FEATURES</a:t>
            </a:r>
          </a:p>
        </p:txBody>
      </p:sp>
      <p:sp>
        <p:nvSpPr>
          <p:cNvPr name="TextBox 12" id="12"/>
          <p:cNvSpPr txBox="true"/>
          <p:nvPr/>
        </p:nvSpPr>
        <p:spPr>
          <a:xfrm rot="0">
            <a:off x="885307" y="3271404"/>
            <a:ext cx="4782083" cy="514416"/>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000000"/>
                </a:solidFill>
                <a:latin typeface="Montserrat Bold"/>
                <a:ea typeface="Montserrat Bold"/>
                <a:cs typeface="Montserrat Bold"/>
                <a:sym typeface="Montserrat Bold"/>
              </a:rPr>
              <a:t>Punctuation Usage</a:t>
            </a:r>
          </a:p>
        </p:txBody>
      </p:sp>
      <p:sp>
        <p:nvSpPr>
          <p:cNvPr name="TextBox 13" id="13"/>
          <p:cNvSpPr txBox="true"/>
          <p:nvPr/>
        </p:nvSpPr>
        <p:spPr>
          <a:xfrm rot="0">
            <a:off x="885307" y="3906341"/>
            <a:ext cx="4785055" cy="172746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Montserrat"/>
                <a:ea typeface="Montserrat"/>
                <a:cs typeface="Montserrat"/>
                <a:sym typeface="Montserrat"/>
              </a:rPr>
              <a:t>Counted ! ? … “ ” # @ in </a:t>
            </a:r>
            <a:r>
              <a:rPr lang="en-US" b="true" sz="2499">
                <a:solidFill>
                  <a:srgbClr val="000000"/>
                </a:solidFill>
                <a:latin typeface="Montserrat Bold"/>
                <a:ea typeface="Montserrat Bold"/>
                <a:cs typeface="Montserrat Bold"/>
                <a:sym typeface="Montserrat Bold"/>
              </a:rPr>
              <a:t>title </a:t>
            </a:r>
            <a:r>
              <a:rPr lang="en-US" sz="2499">
                <a:solidFill>
                  <a:srgbClr val="000000"/>
                </a:solidFill>
                <a:latin typeface="Montserrat"/>
                <a:ea typeface="Montserrat"/>
                <a:cs typeface="Montserrat"/>
                <a:sym typeface="Montserrat"/>
              </a:rPr>
              <a:t>and </a:t>
            </a:r>
            <a:r>
              <a:rPr lang="en-US" b="true" sz="2499">
                <a:solidFill>
                  <a:srgbClr val="000000"/>
                </a:solidFill>
                <a:latin typeface="Montserrat Bold"/>
                <a:ea typeface="Montserrat Bold"/>
                <a:cs typeface="Montserrat Bold"/>
                <a:sym typeface="Montserrat Bold"/>
              </a:rPr>
              <a:t>body</a:t>
            </a:r>
          </a:p>
          <a:p>
            <a:pPr algn="l" marL="539749" indent="-269875" lvl="1">
              <a:lnSpc>
                <a:spcPts val="3499"/>
              </a:lnSpc>
              <a:spcBef>
                <a:spcPct val="0"/>
              </a:spcBef>
              <a:buFont typeface="Arial"/>
              <a:buChar char="•"/>
            </a:pPr>
            <a:r>
              <a:rPr lang="en-US" sz="2499">
                <a:solidFill>
                  <a:srgbClr val="000000"/>
                </a:solidFill>
                <a:latin typeface="Montserrat"/>
                <a:ea typeface="Montserrat"/>
                <a:cs typeface="Montserrat"/>
                <a:sym typeface="Montserrat"/>
              </a:rPr>
              <a:t>Helps detect sensational or informal tone</a:t>
            </a:r>
          </a:p>
        </p:txBody>
      </p:sp>
      <p:sp>
        <p:nvSpPr>
          <p:cNvPr name="TextBox 14" id="14"/>
          <p:cNvSpPr txBox="true"/>
          <p:nvPr/>
        </p:nvSpPr>
        <p:spPr>
          <a:xfrm rot="0">
            <a:off x="885307" y="7235023"/>
            <a:ext cx="4647441" cy="1047882"/>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Montserrat Bold"/>
                <a:ea typeface="Montserrat Bold"/>
                <a:cs typeface="Montserrat Bold"/>
                <a:sym typeface="Montserrat Bold"/>
              </a:rPr>
              <a:t>POS Tag Ratios</a:t>
            </a:r>
          </a:p>
          <a:p>
            <a:pPr algn="l" marL="0" indent="0" lvl="0">
              <a:lnSpc>
                <a:spcPts val="4200"/>
              </a:lnSpc>
              <a:spcBef>
                <a:spcPct val="0"/>
              </a:spcBef>
            </a:pPr>
          </a:p>
        </p:txBody>
      </p:sp>
      <p:sp>
        <p:nvSpPr>
          <p:cNvPr name="TextBox 15" id="15"/>
          <p:cNvSpPr txBox="true"/>
          <p:nvPr/>
        </p:nvSpPr>
        <p:spPr>
          <a:xfrm rot="0">
            <a:off x="885307" y="7869960"/>
            <a:ext cx="4785055" cy="1726425"/>
          </a:xfrm>
          <a:prstGeom prst="rect">
            <a:avLst/>
          </a:prstGeom>
        </p:spPr>
        <p:txBody>
          <a:bodyPr anchor="t" rtlCol="false" tIns="0" lIns="0" bIns="0" rIns="0">
            <a:spAutoFit/>
          </a:bodyPr>
          <a:lstStyle/>
          <a:p>
            <a:pPr algn="l" marL="539750" indent="-269875" lvl="1">
              <a:lnSpc>
                <a:spcPts val="3499"/>
              </a:lnSpc>
              <a:buFont typeface="Arial"/>
              <a:buChar char="•"/>
            </a:pPr>
            <a:r>
              <a:rPr lang="en-US" sz="2499">
                <a:solidFill>
                  <a:srgbClr val="000000"/>
                </a:solidFill>
                <a:latin typeface="Montserrat"/>
                <a:ea typeface="Montserrat"/>
                <a:cs typeface="Montserrat"/>
                <a:sym typeface="Montserrat"/>
              </a:rPr>
              <a:t>N</a:t>
            </a:r>
            <a:r>
              <a:rPr lang="en-US" sz="2499">
                <a:solidFill>
                  <a:srgbClr val="000000"/>
                </a:solidFill>
                <a:latin typeface="Montserrat"/>
                <a:ea typeface="Montserrat"/>
                <a:cs typeface="Montserrat"/>
                <a:sym typeface="Montserrat"/>
              </a:rPr>
              <a:t>oun, verb, and adjective ratios (title + text)</a:t>
            </a:r>
          </a:p>
          <a:p>
            <a:pPr algn="l" marL="539750" indent="-269875" lvl="1">
              <a:lnSpc>
                <a:spcPts val="3499"/>
              </a:lnSpc>
              <a:spcBef>
                <a:spcPct val="0"/>
              </a:spcBef>
              <a:buFont typeface="Arial"/>
              <a:buChar char="•"/>
            </a:pPr>
            <a:r>
              <a:rPr lang="en-US" sz="2499">
                <a:solidFill>
                  <a:srgbClr val="000000"/>
                </a:solidFill>
                <a:latin typeface="Montserrat"/>
                <a:ea typeface="Montserrat"/>
                <a:cs typeface="Montserrat"/>
                <a:sym typeface="Montserrat"/>
              </a:rPr>
              <a:t>Reflects narrative style and content density</a:t>
            </a:r>
          </a:p>
        </p:txBody>
      </p:sp>
      <p:sp>
        <p:nvSpPr>
          <p:cNvPr name="TextBox 16" id="16"/>
          <p:cNvSpPr txBox="true"/>
          <p:nvPr/>
        </p:nvSpPr>
        <p:spPr>
          <a:xfrm rot="0">
            <a:off x="6828948" y="3271404"/>
            <a:ext cx="4113917" cy="514416"/>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000000"/>
                </a:solidFill>
                <a:latin typeface="Montserrat Bold"/>
                <a:ea typeface="Montserrat Bold"/>
                <a:cs typeface="Montserrat Bold"/>
                <a:sym typeface="Montserrat Bold"/>
              </a:rPr>
              <a:t>Capitalization Ratio</a:t>
            </a:r>
          </a:p>
        </p:txBody>
      </p:sp>
      <p:sp>
        <p:nvSpPr>
          <p:cNvPr name="TextBox 17" id="17"/>
          <p:cNvSpPr txBox="true"/>
          <p:nvPr/>
        </p:nvSpPr>
        <p:spPr>
          <a:xfrm rot="0">
            <a:off x="6828948" y="3906341"/>
            <a:ext cx="4785055" cy="1726425"/>
          </a:xfrm>
          <a:prstGeom prst="rect">
            <a:avLst/>
          </a:prstGeom>
        </p:spPr>
        <p:txBody>
          <a:bodyPr anchor="t" rtlCol="false" tIns="0" lIns="0" bIns="0" rIns="0">
            <a:spAutoFit/>
          </a:bodyPr>
          <a:lstStyle/>
          <a:p>
            <a:pPr algn="l" marL="539750" indent="-269875" lvl="1">
              <a:lnSpc>
                <a:spcPts val="3499"/>
              </a:lnSpc>
              <a:buFont typeface="Arial"/>
              <a:buChar char="•"/>
            </a:pPr>
            <a:r>
              <a:rPr lang="en-US" sz="2499">
                <a:solidFill>
                  <a:srgbClr val="000000"/>
                </a:solidFill>
                <a:latin typeface="Montserrat"/>
                <a:ea typeface="Montserrat"/>
                <a:cs typeface="Montserrat"/>
                <a:sym typeface="Montserrat"/>
              </a:rPr>
              <a:t>Proportio</a:t>
            </a:r>
            <a:r>
              <a:rPr lang="en-US" sz="2499">
                <a:solidFill>
                  <a:srgbClr val="000000"/>
                </a:solidFill>
                <a:latin typeface="Montserrat"/>
                <a:ea typeface="Montserrat"/>
                <a:cs typeface="Montserrat"/>
                <a:sym typeface="Montserrat"/>
              </a:rPr>
              <a:t>n of ALL-CAPS words</a:t>
            </a:r>
          </a:p>
          <a:p>
            <a:pPr algn="l" marL="539750" indent="-269875" lvl="1">
              <a:lnSpc>
                <a:spcPts val="3499"/>
              </a:lnSpc>
              <a:spcBef>
                <a:spcPct val="0"/>
              </a:spcBef>
              <a:buFont typeface="Arial"/>
              <a:buChar char="•"/>
            </a:pPr>
            <a:r>
              <a:rPr lang="en-US" sz="2499">
                <a:solidFill>
                  <a:srgbClr val="000000"/>
                </a:solidFill>
                <a:latin typeface="Montserrat"/>
                <a:ea typeface="Montserrat"/>
                <a:cs typeface="Montserrat"/>
                <a:sym typeface="Montserrat"/>
              </a:rPr>
              <a:t>May signal emphasis or sensationalism</a:t>
            </a:r>
          </a:p>
        </p:txBody>
      </p:sp>
      <p:sp>
        <p:nvSpPr>
          <p:cNvPr name="TextBox 18" id="18"/>
          <p:cNvSpPr txBox="true"/>
          <p:nvPr/>
        </p:nvSpPr>
        <p:spPr>
          <a:xfrm rot="0">
            <a:off x="6828948" y="7235023"/>
            <a:ext cx="4520359" cy="514416"/>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000000"/>
                </a:solidFill>
                <a:latin typeface="Montserrat Bold"/>
                <a:ea typeface="Montserrat Bold"/>
                <a:cs typeface="Montserrat Bold"/>
                <a:sym typeface="Montserrat Bold"/>
              </a:rPr>
              <a:t>Sentiment Analysis</a:t>
            </a:r>
          </a:p>
        </p:txBody>
      </p:sp>
      <p:sp>
        <p:nvSpPr>
          <p:cNvPr name="TextBox 19" id="19"/>
          <p:cNvSpPr txBox="true"/>
          <p:nvPr/>
        </p:nvSpPr>
        <p:spPr>
          <a:xfrm rot="0">
            <a:off x="6828948" y="7869960"/>
            <a:ext cx="4785055" cy="1727465"/>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000000"/>
                </a:solidFill>
                <a:latin typeface="Montserrat Bold"/>
                <a:ea typeface="Montserrat Bold"/>
                <a:cs typeface="Montserrat Bold"/>
                <a:sym typeface="Montserrat Bold"/>
              </a:rPr>
              <a:t>Pol</a:t>
            </a:r>
            <a:r>
              <a:rPr lang="en-US" b="true" sz="2499">
                <a:solidFill>
                  <a:srgbClr val="000000"/>
                </a:solidFill>
                <a:latin typeface="Montserrat Bold"/>
                <a:ea typeface="Montserrat Bold"/>
                <a:cs typeface="Montserrat Bold"/>
                <a:sym typeface="Montserrat Bold"/>
              </a:rPr>
              <a:t>arity: </a:t>
            </a:r>
          </a:p>
          <a:p>
            <a:pPr algn="l">
              <a:lnSpc>
                <a:spcPts val="3499"/>
              </a:lnSpc>
            </a:pPr>
            <a:r>
              <a:rPr lang="en-US" sz="2499">
                <a:solidFill>
                  <a:srgbClr val="000000"/>
                </a:solidFill>
                <a:latin typeface="Montserrat"/>
                <a:ea typeface="Montserrat"/>
                <a:cs typeface="Montserrat"/>
                <a:sym typeface="Montserrat"/>
              </a:rPr>
              <a:t>      </a:t>
            </a:r>
            <a:r>
              <a:rPr lang="en-US" sz="2499">
                <a:solidFill>
                  <a:srgbClr val="000000"/>
                </a:solidFill>
                <a:latin typeface="Montserrat"/>
                <a:ea typeface="Montserrat"/>
                <a:cs typeface="Montserrat"/>
                <a:sym typeface="Montserrat"/>
              </a:rPr>
              <a:t>Positive ↔ Negative</a:t>
            </a:r>
          </a:p>
          <a:p>
            <a:pPr algn="l" marL="539749" indent="-269875" lvl="1">
              <a:lnSpc>
                <a:spcPts val="3499"/>
              </a:lnSpc>
              <a:buFont typeface="Arial"/>
              <a:buChar char="•"/>
            </a:pPr>
            <a:r>
              <a:rPr lang="en-US" b="true" sz="2499">
                <a:solidFill>
                  <a:srgbClr val="000000"/>
                </a:solidFill>
                <a:latin typeface="Montserrat Bold"/>
                <a:ea typeface="Montserrat Bold"/>
                <a:cs typeface="Montserrat Bold"/>
                <a:sym typeface="Montserrat Bold"/>
              </a:rPr>
              <a:t>Subjectivity: </a:t>
            </a:r>
          </a:p>
          <a:p>
            <a:pPr algn="l">
              <a:lnSpc>
                <a:spcPts val="3499"/>
              </a:lnSpc>
              <a:spcBef>
                <a:spcPct val="0"/>
              </a:spcBef>
            </a:pPr>
            <a:r>
              <a:rPr lang="en-US" sz="2499">
                <a:solidFill>
                  <a:srgbClr val="000000"/>
                </a:solidFill>
                <a:latin typeface="Montserrat"/>
                <a:ea typeface="Montserrat"/>
                <a:cs typeface="Montserrat"/>
                <a:sym typeface="Montserrat"/>
              </a:rPr>
              <a:t>      </a:t>
            </a:r>
            <a:r>
              <a:rPr lang="en-US" sz="2499">
                <a:solidFill>
                  <a:srgbClr val="000000"/>
                </a:solidFill>
                <a:latin typeface="Montserrat"/>
                <a:ea typeface="Montserrat"/>
                <a:cs typeface="Montserrat"/>
                <a:sym typeface="Montserrat"/>
              </a:rPr>
              <a:t>Objective ↔ Opinionated</a:t>
            </a:r>
          </a:p>
        </p:txBody>
      </p:sp>
      <p:sp>
        <p:nvSpPr>
          <p:cNvPr name="TextBox 20" id="20"/>
          <p:cNvSpPr txBox="true"/>
          <p:nvPr/>
        </p:nvSpPr>
        <p:spPr>
          <a:xfrm rot="0">
            <a:off x="12617638" y="7235023"/>
            <a:ext cx="4580191" cy="1047882"/>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Montserrat Bold"/>
                <a:ea typeface="Montserrat Bold"/>
                <a:cs typeface="Montserrat Bold"/>
                <a:sym typeface="Montserrat Bold"/>
              </a:rPr>
              <a:t>HTML &amp; Hyperlinks </a:t>
            </a:r>
          </a:p>
          <a:p>
            <a:pPr algn="l" marL="0" indent="0" lvl="0">
              <a:lnSpc>
                <a:spcPts val="4200"/>
              </a:lnSpc>
              <a:spcBef>
                <a:spcPct val="0"/>
              </a:spcBef>
            </a:pPr>
          </a:p>
        </p:txBody>
      </p:sp>
      <p:sp>
        <p:nvSpPr>
          <p:cNvPr name="TextBox 21" id="21"/>
          <p:cNvSpPr txBox="true"/>
          <p:nvPr/>
        </p:nvSpPr>
        <p:spPr>
          <a:xfrm rot="0">
            <a:off x="12617638" y="7869960"/>
            <a:ext cx="4884776" cy="1288468"/>
          </a:xfrm>
          <a:prstGeom prst="rect">
            <a:avLst/>
          </a:prstGeom>
        </p:spPr>
        <p:txBody>
          <a:bodyPr anchor="t" rtlCol="false" tIns="0" lIns="0" bIns="0" rIns="0">
            <a:spAutoFit/>
          </a:bodyPr>
          <a:lstStyle/>
          <a:p>
            <a:pPr algn="l" marL="539750" indent="-269875" lvl="1">
              <a:lnSpc>
                <a:spcPts val="3499"/>
              </a:lnSpc>
              <a:buFont typeface="Arial"/>
              <a:buChar char="•"/>
            </a:pPr>
            <a:r>
              <a:rPr lang="en-US" sz="2499">
                <a:solidFill>
                  <a:srgbClr val="000000"/>
                </a:solidFill>
                <a:latin typeface="Montserrat"/>
                <a:ea typeface="Montserrat"/>
                <a:cs typeface="Montserrat"/>
                <a:sym typeface="Montserrat"/>
              </a:rPr>
              <a:t>Counts of &lt;a href="..."&gt; tags</a:t>
            </a:r>
          </a:p>
          <a:p>
            <a:pPr algn="l" marL="539750" indent="-269875" lvl="1">
              <a:lnSpc>
                <a:spcPts val="3499"/>
              </a:lnSpc>
              <a:spcBef>
                <a:spcPct val="0"/>
              </a:spcBef>
              <a:buFont typeface="Arial"/>
              <a:buChar char="•"/>
            </a:pPr>
            <a:r>
              <a:rPr lang="en-US" sz="2499">
                <a:solidFill>
                  <a:srgbClr val="000000"/>
                </a:solidFill>
                <a:latin typeface="Montserrat"/>
                <a:ea typeface="Montserrat"/>
                <a:cs typeface="Montserrat"/>
                <a:sym typeface="Montserrat"/>
              </a:rPr>
              <a:t>May indicate external sourcing or manipulation</a:t>
            </a:r>
          </a:p>
        </p:txBody>
      </p:sp>
      <p:sp>
        <p:nvSpPr>
          <p:cNvPr name="Freeform 22" id="22"/>
          <p:cNvSpPr/>
          <p:nvPr/>
        </p:nvSpPr>
        <p:spPr>
          <a:xfrm flipH="false" flipV="false" rot="0">
            <a:off x="10939564" y="6617734"/>
            <a:ext cx="674439" cy="674439"/>
          </a:xfrm>
          <a:custGeom>
            <a:avLst/>
            <a:gdLst/>
            <a:ahLst/>
            <a:cxnLst/>
            <a:rect r="r" b="b" t="t" l="l"/>
            <a:pathLst>
              <a:path h="674439" w="674439">
                <a:moveTo>
                  <a:pt x="0" y="0"/>
                </a:moveTo>
                <a:lnTo>
                  <a:pt x="674439" y="0"/>
                </a:lnTo>
                <a:lnTo>
                  <a:pt x="674439" y="674439"/>
                </a:lnTo>
                <a:lnTo>
                  <a:pt x="0" y="67443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4968078" y="6617734"/>
            <a:ext cx="674439" cy="674439"/>
          </a:xfrm>
          <a:custGeom>
            <a:avLst/>
            <a:gdLst/>
            <a:ahLst/>
            <a:cxnLst/>
            <a:rect r="r" b="b" t="t" l="l"/>
            <a:pathLst>
              <a:path h="674439" w="674439">
                <a:moveTo>
                  <a:pt x="0" y="0"/>
                </a:moveTo>
                <a:lnTo>
                  <a:pt x="674438" y="0"/>
                </a:lnTo>
                <a:lnTo>
                  <a:pt x="674438" y="674439"/>
                </a:lnTo>
                <a:lnTo>
                  <a:pt x="0" y="67443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4968078" y="2654115"/>
            <a:ext cx="674439" cy="674439"/>
          </a:xfrm>
          <a:custGeom>
            <a:avLst/>
            <a:gdLst/>
            <a:ahLst/>
            <a:cxnLst/>
            <a:rect r="r" b="b" t="t" l="l"/>
            <a:pathLst>
              <a:path h="674439" w="674439">
                <a:moveTo>
                  <a:pt x="0" y="0"/>
                </a:moveTo>
                <a:lnTo>
                  <a:pt x="674438" y="0"/>
                </a:lnTo>
                <a:lnTo>
                  <a:pt x="674438" y="674439"/>
                </a:lnTo>
                <a:lnTo>
                  <a:pt x="0" y="67443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10939564" y="2570051"/>
            <a:ext cx="674439" cy="674439"/>
          </a:xfrm>
          <a:custGeom>
            <a:avLst/>
            <a:gdLst/>
            <a:ahLst/>
            <a:cxnLst/>
            <a:rect r="r" b="b" t="t" l="l"/>
            <a:pathLst>
              <a:path h="674439" w="674439">
                <a:moveTo>
                  <a:pt x="0" y="0"/>
                </a:moveTo>
                <a:lnTo>
                  <a:pt x="674439" y="0"/>
                </a:lnTo>
                <a:lnTo>
                  <a:pt x="674439" y="674438"/>
                </a:lnTo>
                <a:lnTo>
                  <a:pt x="0" y="67443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TextBox 4" id="4"/>
          <p:cNvSpPr txBox="true"/>
          <p:nvPr/>
        </p:nvSpPr>
        <p:spPr>
          <a:xfrm rot="0">
            <a:off x="1028700" y="545783"/>
            <a:ext cx="16601144" cy="870585"/>
          </a:xfrm>
          <a:prstGeom prst="rect">
            <a:avLst/>
          </a:prstGeom>
        </p:spPr>
        <p:txBody>
          <a:bodyPr anchor="t" rtlCol="false" tIns="0" lIns="0" bIns="0" rIns="0">
            <a:spAutoFit/>
          </a:bodyPr>
          <a:lstStyle/>
          <a:p>
            <a:pPr algn="just">
              <a:lnSpc>
                <a:spcPts val="7140"/>
              </a:lnSpc>
              <a:spcBef>
                <a:spcPct val="0"/>
              </a:spcBef>
            </a:pPr>
            <a:r>
              <a:rPr lang="en-US" b="true" sz="5100">
                <a:solidFill>
                  <a:srgbClr val="000000"/>
                </a:solidFill>
                <a:latin typeface="Montserrat Bold"/>
                <a:ea typeface="Montserrat Bold"/>
                <a:cs typeface="Montserrat Bold"/>
                <a:sym typeface="Montserrat Bold"/>
              </a:rPr>
              <a:t>STRATEGIES AND APPROACHES</a:t>
            </a:r>
          </a:p>
        </p:txBody>
      </p:sp>
      <p:grpSp>
        <p:nvGrpSpPr>
          <p:cNvPr name="Group 5" id="5"/>
          <p:cNvGrpSpPr/>
          <p:nvPr/>
        </p:nvGrpSpPr>
        <p:grpSpPr>
          <a:xfrm rot="0">
            <a:off x="612497" y="4179545"/>
            <a:ext cx="17063006" cy="3630244"/>
            <a:chOff x="0" y="0"/>
            <a:chExt cx="22750675" cy="4840325"/>
          </a:xfrm>
        </p:grpSpPr>
        <p:sp>
          <p:nvSpPr>
            <p:cNvPr name="Freeform 6" id="6"/>
            <p:cNvSpPr/>
            <p:nvPr/>
          </p:nvSpPr>
          <p:spPr>
            <a:xfrm flipH="false" flipV="false" rot="0">
              <a:off x="0" y="0"/>
              <a:ext cx="7080091" cy="4840325"/>
            </a:xfrm>
            <a:custGeom>
              <a:avLst/>
              <a:gdLst/>
              <a:ahLst/>
              <a:cxnLst/>
              <a:rect r="r" b="b" t="t" l="l"/>
              <a:pathLst>
                <a:path h="4840325" w="7080091">
                  <a:moveTo>
                    <a:pt x="0" y="0"/>
                  </a:moveTo>
                  <a:lnTo>
                    <a:pt x="7080091" y="0"/>
                  </a:lnTo>
                  <a:lnTo>
                    <a:pt x="7080091" y="4840325"/>
                  </a:lnTo>
                  <a:lnTo>
                    <a:pt x="0" y="4840325"/>
                  </a:lnTo>
                  <a:lnTo>
                    <a:pt x="0" y="0"/>
                  </a:lnTo>
                  <a:close/>
                </a:path>
              </a:pathLst>
            </a:custGeom>
            <a:blipFill>
              <a:blip r:embed="rId6">
                <a:extLst>
                  <a:ext uri="{96DAC541-7B7A-43D3-8B79-37D633B846F1}">
                    <asvg:svgBlip xmlns:asvg="http://schemas.microsoft.com/office/drawing/2016/SVG/main" r:embed="rId7"/>
                  </a:ext>
                </a:extLst>
              </a:blip>
              <a:stretch>
                <a:fillRect l="-14197" t="-86397" r="-52107" b="0"/>
              </a:stretch>
            </a:blipFill>
            <a:ln w="66675" cap="sq">
              <a:solidFill>
                <a:srgbClr val="FEC622"/>
              </a:solidFill>
              <a:prstDash val="solid"/>
              <a:miter/>
            </a:ln>
          </p:spPr>
        </p:sp>
        <p:sp>
          <p:nvSpPr>
            <p:cNvPr name="TextBox 7" id="7"/>
            <p:cNvSpPr txBox="true"/>
            <p:nvPr/>
          </p:nvSpPr>
          <p:spPr>
            <a:xfrm rot="0">
              <a:off x="350009" y="1253252"/>
              <a:ext cx="6376111" cy="66675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000000"/>
                  </a:solidFill>
                  <a:latin typeface="Montserrat Bold"/>
                  <a:ea typeface="Montserrat Bold"/>
                  <a:cs typeface="Montserrat Bold"/>
                  <a:sym typeface="Montserrat Bold"/>
                </a:rPr>
                <a:t>ML Models</a:t>
              </a:r>
            </a:p>
          </p:txBody>
        </p:sp>
        <p:sp>
          <p:nvSpPr>
            <p:cNvPr name="TextBox 8" id="8"/>
            <p:cNvSpPr txBox="true"/>
            <p:nvPr/>
          </p:nvSpPr>
          <p:spPr>
            <a:xfrm rot="0">
              <a:off x="350009" y="2093485"/>
              <a:ext cx="6380074" cy="1705356"/>
            </a:xfrm>
            <a:prstGeom prst="rect">
              <a:avLst/>
            </a:prstGeom>
          </p:spPr>
          <p:txBody>
            <a:bodyPr anchor="t" rtlCol="false" tIns="0" lIns="0" bIns="0" rIns="0">
              <a:spAutoFit/>
            </a:bodyPr>
            <a:lstStyle/>
            <a:p>
              <a:pPr algn="l" marL="539750" indent="-269875" lvl="1">
                <a:lnSpc>
                  <a:spcPts val="3499"/>
                </a:lnSpc>
                <a:buFont typeface="Arial"/>
                <a:buChar char="•"/>
              </a:pPr>
              <a:r>
                <a:rPr lang="en-US" sz="2499">
                  <a:solidFill>
                    <a:srgbClr val="000000"/>
                  </a:solidFill>
                  <a:latin typeface="Montserrat"/>
                  <a:ea typeface="Montserrat"/>
                  <a:cs typeface="Montserrat"/>
                  <a:sym typeface="Montserrat"/>
                </a:rPr>
                <a:t>Naive Bayes</a:t>
              </a:r>
            </a:p>
            <a:p>
              <a:pPr algn="l" marL="539750" indent="-269875" lvl="1">
                <a:lnSpc>
                  <a:spcPts val="3499"/>
                </a:lnSpc>
                <a:spcBef>
                  <a:spcPct val="0"/>
                </a:spcBef>
                <a:buFont typeface="Arial"/>
                <a:buChar char="•"/>
              </a:pPr>
              <a:r>
                <a:rPr lang="en-US" sz="2499">
                  <a:solidFill>
                    <a:srgbClr val="000000"/>
                  </a:solidFill>
                  <a:latin typeface="Montserrat"/>
                  <a:ea typeface="Montserrat"/>
                  <a:cs typeface="Montserrat"/>
                  <a:sym typeface="Montserrat"/>
                </a:rPr>
                <a:t>Random Forest</a:t>
              </a:r>
            </a:p>
            <a:p>
              <a:pPr algn="l" marL="539750" indent="-269875" lvl="1">
                <a:lnSpc>
                  <a:spcPts val="3499"/>
                </a:lnSpc>
                <a:spcBef>
                  <a:spcPct val="0"/>
                </a:spcBef>
                <a:buFont typeface="Arial"/>
                <a:buChar char="•"/>
              </a:pPr>
              <a:r>
                <a:rPr lang="en-US" sz="2499" strike="noStrike" u="none">
                  <a:solidFill>
                    <a:srgbClr val="000000"/>
                  </a:solidFill>
                  <a:latin typeface="Montserrat"/>
                  <a:ea typeface="Montserrat"/>
                  <a:cs typeface="Montserrat"/>
                  <a:sym typeface="Montserrat"/>
                </a:rPr>
                <a:t>XGBoost</a:t>
              </a:r>
            </a:p>
          </p:txBody>
        </p:sp>
        <p:sp>
          <p:nvSpPr>
            <p:cNvPr name="Freeform 9" id="9"/>
            <p:cNvSpPr/>
            <p:nvPr/>
          </p:nvSpPr>
          <p:spPr>
            <a:xfrm flipH="false" flipV="false" rot="0">
              <a:off x="7835292" y="0"/>
              <a:ext cx="7080091" cy="4840325"/>
            </a:xfrm>
            <a:custGeom>
              <a:avLst/>
              <a:gdLst/>
              <a:ahLst/>
              <a:cxnLst/>
              <a:rect r="r" b="b" t="t" l="l"/>
              <a:pathLst>
                <a:path h="4840325" w="7080091">
                  <a:moveTo>
                    <a:pt x="0" y="0"/>
                  </a:moveTo>
                  <a:lnTo>
                    <a:pt x="7080091" y="0"/>
                  </a:lnTo>
                  <a:lnTo>
                    <a:pt x="7080091" y="4840325"/>
                  </a:lnTo>
                  <a:lnTo>
                    <a:pt x="0" y="4840325"/>
                  </a:lnTo>
                  <a:lnTo>
                    <a:pt x="0" y="0"/>
                  </a:lnTo>
                  <a:close/>
                </a:path>
              </a:pathLst>
            </a:custGeom>
            <a:blipFill>
              <a:blip r:embed="rId6">
                <a:extLst>
                  <a:ext uri="{96DAC541-7B7A-43D3-8B79-37D633B846F1}">
                    <asvg:svgBlip xmlns:asvg="http://schemas.microsoft.com/office/drawing/2016/SVG/main" r:embed="rId7"/>
                  </a:ext>
                </a:extLst>
              </a:blip>
              <a:stretch>
                <a:fillRect l="-14197" t="-86397" r="-52107" b="0"/>
              </a:stretch>
            </a:blipFill>
            <a:ln w="66675" cap="sq">
              <a:solidFill>
                <a:srgbClr val="FEC622"/>
              </a:solidFill>
              <a:prstDash val="solid"/>
              <a:miter/>
            </a:ln>
          </p:spPr>
        </p:sp>
        <p:sp>
          <p:nvSpPr>
            <p:cNvPr name="TextBox 10" id="10"/>
            <p:cNvSpPr txBox="true"/>
            <p:nvPr/>
          </p:nvSpPr>
          <p:spPr>
            <a:xfrm rot="0">
              <a:off x="8185301" y="1253252"/>
              <a:ext cx="6106922" cy="66675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000000"/>
                  </a:solidFill>
                  <a:latin typeface="Montserrat Bold"/>
                  <a:ea typeface="Montserrat Bold"/>
                  <a:cs typeface="Montserrat Bold"/>
                  <a:sym typeface="Montserrat Bold"/>
                </a:rPr>
                <a:t>Few-Shot Learning</a:t>
              </a:r>
            </a:p>
          </p:txBody>
        </p:sp>
        <p:sp>
          <p:nvSpPr>
            <p:cNvPr name="Freeform 11" id="11"/>
            <p:cNvSpPr/>
            <p:nvPr/>
          </p:nvSpPr>
          <p:spPr>
            <a:xfrm flipH="false" flipV="false" rot="0">
              <a:off x="15670584" y="0"/>
              <a:ext cx="7080091" cy="4840325"/>
            </a:xfrm>
            <a:custGeom>
              <a:avLst/>
              <a:gdLst/>
              <a:ahLst/>
              <a:cxnLst/>
              <a:rect r="r" b="b" t="t" l="l"/>
              <a:pathLst>
                <a:path h="4840325" w="7080091">
                  <a:moveTo>
                    <a:pt x="0" y="0"/>
                  </a:moveTo>
                  <a:lnTo>
                    <a:pt x="7080091" y="0"/>
                  </a:lnTo>
                  <a:lnTo>
                    <a:pt x="7080091" y="4840325"/>
                  </a:lnTo>
                  <a:lnTo>
                    <a:pt x="0" y="4840325"/>
                  </a:lnTo>
                  <a:lnTo>
                    <a:pt x="0" y="0"/>
                  </a:lnTo>
                  <a:close/>
                </a:path>
              </a:pathLst>
            </a:custGeom>
            <a:blipFill>
              <a:blip r:embed="rId6">
                <a:extLst>
                  <a:ext uri="{96DAC541-7B7A-43D3-8B79-37D633B846F1}">
                    <asvg:svgBlip xmlns:asvg="http://schemas.microsoft.com/office/drawing/2016/SVG/main" r:embed="rId7"/>
                  </a:ext>
                </a:extLst>
              </a:blip>
              <a:stretch>
                <a:fillRect l="-14197" t="-86397" r="-52107" b="0"/>
              </a:stretch>
            </a:blipFill>
            <a:ln w="66675" cap="sq">
              <a:solidFill>
                <a:srgbClr val="FEC622"/>
              </a:solidFill>
              <a:prstDash val="solid"/>
              <a:miter/>
            </a:ln>
          </p:spPr>
        </p:sp>
        <p:sp>
          <p:nvSpPr>
            <p:cNvPr name="TextBox 12" id="12"/>
            <p:cNvSpPr txBox="true"/>
            <p:nvPr/>
          </p:nvSpPr>
          <p:spPr>
            <a:xfrm rot="0">
              <a:off x="16020593" y="1253252"/>
              <a:ext cx="6106922" cy="137795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000000"/>
                  </a:solidFill>
                  <a:latin typeface="Montserrat Bold"/>
                  <a:ea typeface="Montserrat Bold"/>
                  <a:cs typeface="Montserrat Bold"/>
                  <a:sym typeface="Montserrat Bold"/>
                </a:rPr>
                <a:t>Pre-trained Model Fine-Tuning</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574127" y="2436870"/>
            <a:ext cx="9159674" cy="7108575"/>
          </a:xfrm>
          <a:custGeom>
            <a:avLst/>
            <a:gdLst/>
            <a:ahLst/>
            <a:cxnLst/>
            <a:rect r="r" b="b" t="t" l="l"/>
            <a:pathLst>
              <a:path h="7108575" w="9159674">
                <a:moveTo>
                  <a:pt x="0" y="0"/>
                </a:moveTo>
                <a:lnTo>
                  <a:pt x="9159674" y="0"/>
                </a:lnTo>
                <a:lnTo>
                  <a:pt x="9159674" y="7108575"/>
                </a:lnTo>
                <a:lnTo>
                  <a:pt x="0" y="7108575"/>
                </a:lnTo>
                <a:lnTo>
                  <a:pt x="0" y="0"/>
                </a:lnTo>
                <a:close/>
              </a:path>
            </a:pathLst>
          </a:custGeom>
          <a:blipFill>
            <a:blip r:embed="rId6">
              <a:extLst>
                <a:ext uri="{96DAC541-7B7A-43D3-8B79-37D633B846F1}">
                  <asvg:svgBlip xmlns:asvg="http://schemas.microsoft.com/office/drawing/2016/SVG/main" r:embed="rId7"/>
                </a:ext>
              </a:extLst>
            </a:blip>
            <a:stretch>
              <a:fillRect l="-21263" t="-103435" r="-95429" b="-10514"/>
            </a:stretch>
          </a:blipFill>
          <a:ln w="104775" cap="sq">
            <a:solidFill>
              <a:srgbClr val="FEC622"/>
            </a:solidFill>
            <a:prstDash val="solid"/>
            <a:miter/>
          </a:ln>
        </p:spPr>
      </p:sp>
      <p:sp>
        <p:nvSpPr>
          <p:cNvPr name="TextBox 5" id="5"/>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MACHINE LEARNING APPROACH</a:t>
            </a:r>
          </a:p>
        </p:txBody>
      </p:sp>
      <p:sp>
        <p:nvSpPr>
          <p:cNvPr name="TextBox 6" id="6"/>
          <p:cNvSpPr txBox="true"/>
          <p:nvPr/>
        </p:nvSpPr>
        <p:spPr>
          <a:xfrm rot="0">
            <a:off x="1840777" y="2667901"/>
            <a:ext cx="8158738" cy="6590399"/>
          </a:xfrm>
          <a:prstGeom prst="rect">
            <a:avLst/>
          </a:prstGeom>
        </p:spPr>
        <p:txBody>
          <a:bodyPr anchor="t" rtlCol="false" tIns="0" lIns="0" bIns="0" rIns="0">
            <a:spAutoFit/>
          </a:bodyPr>
          <a:lstStyle/>
          <a:p>
            <a:pPr algn="l">
              <a:lnSpc>
                <a:spcPts val="4359"/>
              </a:lnSpc>
            </a:pPr>
            <a:r>
              <a:rPr lang="en-US" sz="2564">
                <a:solidFill>
                  <a:srgbClr val="000000"/>
                </a:solidFill>
                <a:latin typeface="Montserrat"/>
                <a:ea typeface="Montserrat"/>
                <a:cs typeface="Montserrat"/>
                <a:sym typeface="Montserrat"/>
              </a:rPr>
              <a:t>We eva</a:t>
            </a:r>
            <a:r>
              <a:rPr lang="en-US" sz="2564">
                <a:solidFill>
                  <a:srgbClr val="000000"/>
                </a:solidFill>
                <a:latin typeface="Montserrat"/>
                <a:ea typeface="Montserrat"/>
                <a:cs typeface="Montserrat"/>
                <a:sym typeface="Montserrat"/>
              </a:rPr>
              <a:t>luated fake news detection using traditional machine learning algorithms and different combinations of text representations and feature sets.</a:t>
            </a:r>
          </a:p>
          <a:p>
            <a:pPr algn="l">
              <a:lnSpc>
                <a:spcPts val="4359"/>
              </a:lnSpc>
            </a:pPr>
          </a:p>
          <a:p>
            <a:pPr algn="l">
              <a:lnSpc>
                <a:spcPts val="4359"/>
              </a:lnSpc>
            </a:pPr>
            <a:r>
              <a:rPr lang="en-US" b="true" sz="2564">
                <a:solidFill>
                  <a:srgbClr val="000000"/>
                </a:solidFill>
                <a:latin typeface="Montserrat Bold"/>
                <a:ea typeface="Montserrat Bold"/>
                <a:cs typeface="Montserrat Bold"/>
                <a:sym typeface="Montserrat Bold"/>
              </a:rPr>
              <a:t>Text Representation Techniques:</a:t>
            </a:r>
          </a:p>
          <a:p>
            <a:pPr algn="l" marL="553609" indent="-276804" lvl="1">
              <a:lnSpc>
                <a:spcPts val="4359"/>
              </a:lnSpc>
              <a:buFont typeface="Arial"/>
              <a:buChar char="•"/>
            </a:pPr>
            <a:r>
              <a:rPr lang="en-US" sz="2564" u="sng">
                <a:solidFill>
                  <a:srgbClr val="000000"/>
                </a:solidFill>
                <a:latin typeface="Montserrat"/>
                <a:ea typeface="Montserrat"/>
                <a:cs typeface="Montserrat"/>
                <a:sym typeface="Montserrat"/>
              </a:rPr>
              <a:t>Bag of Words (BoW)</a:t>
            </a:r>
            <a:r>
              <a:rPr lang="en-US" sz="2564">
                <a:solidFill>
                  <a:srgbClr val="000000"/>
                </a:solidFill>
                <a:latin typeface="Montserrat"/>
                <a:ea typeface="Montserrat"/>
                <a:cs typeface="Montserrat"/>
                <a:sym typeface="Montserrat"/>
              </a:rPr>
              <a:t>: Represents the text by counting n-grams (1,2) appears, without considering importance or context.</a:t>
            </a:r>
          </a:p>
          <a:p>
            <a:pPr algn="l" marL="553609" indent="-276804" lvl="1">
              <a:lnSpc>
                <a:spcPts val="4359"/>
              </a:lnSpc>
              <a:buFont typeface="Arial"/>
              <a:buChar char="•"/>
            </a:pPr>
            <a:r>
              <a:rPr lang="en-US" sz="2564" u="sng">
                <a:solidFill>
                  <a:srgbClr val="000000"/>
                </a:solidFill>
                <a:latin typeface="Montserrat"/>
                <a:ea typeface="Montserrat"/>
                <a:cs typeface="Montserrat"/>
                <a:sym typeface="Montserrat"/>
              </a:rPr>
              <a:t>TF-IDF</a:t>
            </a:r>
            <a:r>
              <a:rPr lang="en-US" sz="2564">
                <a:solidFill>
                  <a:srgbClr val="000000"/>
                </a:solidFill>
                <a:latin typeface="Montserrat"/>
                <a:ea typeface="Montserrat"/>
                <a:cs typeface="Montserrat"/>
                <a:sym typeface="Montserrat"/>
              </a:rPr>
              <a:t>: A weighted version of BoW that reduces the influence of common words and emphasizes distinctive ones.</a:t>
            </a:r>
          </a:p>
        </p:txBody>
      </p:sp>
      <p:sp>
        <p:nvSpPr>
          <p:cNvPr name="Freeform 7" id="7"/>
          <p:cNvSpPr/>
          <p:nvPr/>
        </p:nvSpPr>
        <p:spPr>
          <a:xfrm flipH="false" flipV="false" rot="0">
            <a:off x="11030109" y="3035451"/>
            <a:ext cx="7082908" cy="7251549"/>
          </a:xfrm>
          <a:custGeom>
            <a:avLst/>
            <a:gdLst/>
            <a:ahLst/>
            <a:cxnLst/>
            <a:rect r="r" b="b" t="t" l="l"/>
            <a:pathLst>
              <a:path h="7251549" w="7082908">
                <a:moveTo>
                  <a:pt x="0" y="0"/>
                </a:moveTo>
                <a:lnTo>
                  <a:pt x="7082908" y="0"/>
                </a:lnTo>
                <a:lnTo>
                  <a:pt x="7082908" y="7251549"/>
                </a:lnTo>
                <a:lnTo>
                  <a:pt x="0" y="7251549"/>
                </a:lnTo>
                <a:lnTo>
                  <a:pt x="0" y="0"/>
                </a:lnTo>
                <a:close/>
              </a:path>
            </a:pathLst>
          </a:custGeom>
          <a:blipFill>
            <a:blip r:embed="rId8">
              <a:extLst>
                <a:ext uri="{96DAC541-7B7A-43D3-8B79-37D633B846F1}">
                  <asvg:svgBlip xmlns:asvg="http://schemas.microsoft.com/office/drawing/2016/SVG/main" r:embed="rId9"/>
                </a:ext>
              </a:extLst>
            </a:blip>
            <a:stretch>
              <a:fillRect l="-433788" t="-195487" r="-65899" b="-168712"/>
            </a:stretch>
          </a:blipFill>
        </p:spPr>
      </p:sp>
      <p:sp>
        <p:nvSpPr>
          <p:cNvPr name="Freeform 8" id="8"/>
          <p:cNvSpPr/>
          <p:nvPr/>
        </p:nvSpPr>
        <p:spPr>
          <a:xfrm flipH="false" flipV="false" rot="0">
            <a:off x="11725148" y="5846272"/>
            <a:ext cx="6191084" cy="3699173"/>
          </a:xfrm>
          <a:custGeom>
            <a:avLst/>
            <a:gdLst/>
            <a:ahLst/>
            <a:cxnLst/>
            <a:rect r="r" b="b" t="t" l="l"/>
            <a:pathLst>
              <a:path h="3699173" w="6191084">
                <a:moveTo>
                  <a:pt x="0" y="0"/>
                </a:moveTo>
                <a:lnTo>
                  <a:pt x="6191084" y="0"/>
                </a:lnTo>
                <a:lnTo>
                  <a:pt x="6191084" y="3699173"/>
                </a:lnTo>
                <a:lnTo>
                  <a:pt x="0" y="36991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574127" y="2436870"/>
            <a:ext cx="9109360" cy="7019787"/>
          </a:xfrm>
          <a:custGeom>
            <a:avLst/>
            <a:gdLst/>
            <a:ahLst/>
            <a:cxnLst/>
            <a:rect r="r" b="b" t="t" l="l"/>
            <a:pathLst>
              <a:path h="7019787" w="9109360">
                <a:moveTo>
                  <a:pt x="0" y="0"/>
                </a:moveTo>
                <a:lnTo>
                  <a:pt x="9109360" y="0"/>
                </a:lnTo>
                <a:lnTo>
                  <a:pt x="9109360" y="7019787"/>
                </a:lnTo>
                <a:lnTo>
                  <a:pt x="0" y="7019787"/>
                </a:lnTo>
                <a:lnTo>
                  <a:pt x="0" y="0"/>
                </a:lnTo>
                <a:close/>
              </a:path>
            </a:pathLst>
          </a:custGeom>
          <a:blipFill>
            <a:blip r:embed="rId6">
              <a:extLst>
                <a:ext uri="{96DAC541-7B7A-43D3-8B79-37D633B846F1}">
                  <asvg:svgBlip xmlns:asvg="http://schemas.microsoft.com/office/drawing/2016/SVG/main" r:embed="rId7"/>
                </a:ext>
              </a:extLst>
            </a:blip>
            <a:stretch>
              <a:fillRect l="-21380" t="-104743" r="-96509" b="-11912"/>
            </a:stretch>
          </a:blipFill>
          <a:ln w="104775" cap="sq">
            <a:solidFill>
              <a:srgbClr val="FEC622"/>
            </a:solidFill>
            <a:prstDash val="solid"/>
            <a:miter/>
          </a:ln>
        </p:spPr>
      </p:sp>
      <p:sp>
        <p:nvSpPr>
          <p:cNvPr name="TextBox 5" id="5"/>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MACHINE LEARNING APPROACH</a:t>
            </a:r>
          </a:p>
        </p:txBody>
      </p:sp>
      <p:sp>
        <p:nvSpPr>
          <p:cNvPr name="TextBox 6" id="6"/>
          <p:cNvSpPr txBox="true"/>
          <p:nvPr/>
        </p:nvSpPr>
        <p:spPr>
          <a:xfrm rot="0">
            <a:off x="2131399" y="3041445"/>
            <a:ext cx="7012601" cy="5485499"/>
          </a:xfrm>
          <a:prstGeom prst="rect">
            <a:avLst/>
          </a:prstGeom>
        </p:spPr>
        <p:txBody>
          <a:bodyPr anchor="t" rtlCol="false" tIns="0" lIns="0" bIns="0" rIns="0">
            <a:spAutoFit/>
          </a:bodyPr>
          <a:lstStyle/>
          <a:p>
            <a:pPr algn="l">
              <a:lnSpc>
                <a:spcPts val="4359"/>
              </a:lnSpc>
            </a:pPr>
            <a:r>
              <a:rPr lang="en-US" b="true" sz="2564">
                <a:solidFill>
                  <a:srgbClr val="000000"/>
                </a:solidFill>
                <a:latin typeface="Montserrat Bold"/>
                <a:ea typeface="Montserrat Bold"/>
                <a:cs typeface="Montserrat Bold"/>
                <a:sym typeface="Montserrat Bold"/>
              </a:rPr>
              <a:t>Data:</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Title only</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Body only</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Combined title and body</a:t>
            </a:r>
          </a:p>
          <a:p>
            <a:pPr algn="l">
              <a:lnSpc>
                <a:spcPts val="4359"/>
              </a:lnSpc>
            </a:pPr>
          </a:p>
          <a:p>
            <a:pPr algn="l">
              <a:lnSpc>
                <a:spcPts val="4359"/>
              </a:lnSpc>
            </a:pPr>
            <a:r>
              <a:rPr lang="en-US" b="true" sz="2564">
                <a:solidFill>
                  <a:srgbClr val="000000"/>
                </a:solidFill>
                <a:latin typeface="Montserrat Bold"/>
                <a:ea typeface="Montserrat Bold"/>
                <a:cs typeface="Montserrat Bold"/>
                <a:sym typeface="Montserrat Bold"/>
              </a:rPr>
              <a:t>Additional Features:</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For Random Forest and XGBoost, we also incorporated features we extracted from the data (e.g., text length, punctuation ratio, etc.).</a:t>
            </a:r>
          </a:p>
        </p:txBody>
      </p:sp>
      <p:sp>
        <p:nvSpPr>
          <p:cNvPr name="Freeform 7" id="7"/>
          <p:cNvSpPr/>
          <p:nvPr/>
        </p:nvSpPr>
        <p:spPr>
          <a:xfrm flipH="false" flipV="false" rot="0">
            <a:off x="11030109" y="3035451"/>
            <a:ext cx="7082908" cy="7251549"/>
          </a:xfrm>
          <a:custGeom>
            <a:avLst/>
            <a:gdLst/>
            <a:ahLst/>
            <a:cxnLst/>
            <a:rect r="r" b="b" t="t" l="l"/>
            <a:pathLst>
              <a:path h="7251549" w="7082908">
                <a:moveTo>
                  <a:pt x="0" y="0"/>
                </a:moveTo>
                <a:lnTo>
                  <a:pt x="7082908" y="0"/>
                </a:lnTo>
                <a:lnTo>
                  <a:pt x="7082908" y="7251549"/>
                </a:lnTo>
                <a:lnTo>
                  <a:pt x="0" y="7251549"/>
                </a:lnTo>
                <a:lnTo>
                  <a:pt x="0" y="0"/>
                </a:lnTo>
                <a:close/>
              </a:path>
            </a:pathLst>
          </a:custGeom>
          <a:blipFill>
            <a:blip r:embed="rId8">
              <a:extLst>
                <a:ext uri="{96DAC541-7B7A-43D3-8B79-37D633B846F1}">
                  <asvg:svgBlip xmlns:asvg="http://schemas.microsoft.com/office/drawing/2016/SVG/main" r:embed="rId9"/>
                </a:ext>
              </a:extLst>
            </a:blip>
            <a:stretch>
              <a:fillRect l="-433788" t="-195487" r="-65899" b="-168712"/>
            </a:stretch>
          </a:blipFill>
        </p:spPr>
      </p:sp>
      <p:sp>
        <p:nvSpPr>
          <p:cNvPr name="Freeform 8" id="8"/>
          <p:cNvSpPr/>
          <p:nvPr/>
        </p:nvSpPr>
        <p:spPr>
          <a:xfrm flipH="false" flipV="false" rot="0">
            <a:off x="11725148" y="5846272"/>
            <a:ext cx="6191084" cy="3699173"/>
          </a:xfrm>
          <a:custGeom>
            <a:avLst/>
            <a:gdLst/>
            <a:ahLst/>
            <a:cxnLst/>
            <a:rect r="r" b="b" t="t" l="l"/>
            <a:pathLst>
              <a:path h="3699173" w="6191084">
                <a:moveTo>
                  <a:pt x="0" y="0"/>
                </a:moveTo>
                <a:lnTo>
                  <a:pt x="6191084" y="0"/>
                </a:lnTo>
                <a:lnTo>
                  <a:pt x="6191084" y="3699173"/>
                </a:lnTo>
                <a:lnTo>
                  <a:pt x="0" y="36991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200073" y="2370071"/>
            <a:ext cx="16258398" cy="7522421"/>
          </a:xfrm>
          <a:custGeom>
            <a:avLst/>
            <a:gdLst/>
            <a:ahLst/>
            <a:cxnLst/>
            <a:rect r="r" b="b" t="t" l="l"/>
            <a:pathLst>
              <a:path h="7522421" w="16258398">
                <a:moveTo>
                  <a:pt x="0" y="0"/>
                </a:moveTo>
                <a:lnTo>
                  <a:pt x="16258398" y="0"/>
                </a:lnTo>
                <a:lnTo>
                  <a:pt x="16258398" y="7522420"/>
                </a:lnTo>
                <a:lnTo>
                  <a:pt x="0" y="7522420"/>
                </a:lnTo>
                <a:lnTo>
                  <a:pt x="0" y="0"/>
                </a:lnTo>
                <a:close/>
              </a:path>
            </a:pathLst>
          </a:custGeom>
          <a:blipFill>
            <a:blip r:embed="rId6">
              <a:extLst>
                <a:ext uri="{96DAC541-7B7A-43D3-8B79-37D633B846F1}">
                  <asvg:svgBlip xmlns:asvg="http://schemas.microsoft.com/office/drawing/2016/SVG/main" r:embed="rId7"/>
                </a:ext>
              </a:extLst>
            </a:blip>
            <a:stretch>
              <a:fillRect l="-12557" t="-102459" r="-15412" b="-9472"/>
            </a:stretch>
          </a:blipFill>
          <a:ln w="104775" cap="sq">
            <a:solidFill>
              <a:srgbClr val="FEC622"/>
            </a:solidFill>
            <a:prstDash val="solid"/>
            <a:miter/>
          </a:ln>
        </p:spPr>
      </p:sp>
      <p:sp>
        <p:nvSpPr>
          <p:cNvPr name="Freeform 5" id="5"/>
          <p:cNvSpPr/>
          <p:nvPr/>
        </p:nvSpPr>
        <p:spPr>
          <a:xfrm flipH="false" flipV="false" rot="0">
            <a:off x="1665894" y="4673057"/>
            <a:ext cx="9894013" cy="4922271"/>
          </a:xfrm>
          <a:custGeom>
            <a:avLst/>
            <a:gdLst/>
            <a:ahLst/>
            <a:cxnLst/>
            <a:rect r="r" b="b" t="t" l="l"/>
            <a:pathLst>
              <a:path h="4922271" w="9894013">
                <a:moveTo>
                  <a:pt x="0" y="0"/>
                </a:moveTo>
                <a:lnTo>
                  <a:pt x="9894012" y="0"/>
                </a:lnTo>
                <a:lnTo>
                  <a:pt x="9894012" y="4922271"/>
                </a:lnTo>
                <a:lnTo>
                  <a:pt x="0" y="4922271"/>
                </a:lnTo>
                <a:lnTo>
                  <a:pt x="0" y="0"/>
                </a:lnTo>
                <a:close/>
              </a:path>
            </a:pathLst>
          </a:custGeom>
          <a:blipFill>
            <a:blip r:embed="rId8"/>
            <a:stretch>
              <a:fillRect l="0" t="0" r="0" b="0"/>
            </a:stretch>
          </a:blipFill>
        </p:spPr>
      </p:sp>
      <p:sp>
        <p:nvSpPr>
          <p:cNvPr name="TextBox 6" id="6"/>
          <p:cNvSpPr txBox="true"/>
          <p:nvPr/>
        </p:nvSpPr>
        <p:spPr>
          <a:xfrm rot="0">
            <a:off x="1028700" y="545783"/>
            <a:ext cx="16601144" cy="870585"/>
          </a:xfrm>
          <a:prstGeom prst="rect">
            <a:avLst/>
          </a:prstGeom>
        </p:spPr>
        <p:txBody>
          <a:bodyPr anchor="t" rtlCol="false" tIns="0" lIns="0" bIns="0" rIns="0">
            <a:spAutoFit/>
          </a:bodyPr>
          <a:lstStyle/>
          <a:p>
            <a:pPr algn="ctr">
              <a:lnSpc>
                <a:spcPts val="7140"/>
              </a:lnSpc>
              <a:spcBef>
                <a:spcPct val="0"/>
              </a:spcBef>
            </a:pPr>
            <a:r>
              <a:rPr lang="en-US" b="true" sz="5100">
                <a:solidFill>
                  <a:srgbClr val="000000"/>
                </a:solidFill>
                <a:latin typeface="Montserrat Bold"/>
                <a:ea typeface="Montserrat Bold"/>
                <a:cs typeface="Montserrat Bold"/>
                <a:sym typeface="Montserrat Bold"/>
              </a:rPr>
              <a:t>MACHINE LEARNING APPROACH - NAIVE BAYES</a:t>
            </a:r>
          </a:p>
        </p:txBody>
      </p:sp>
      <p:sp>
        <p:nvSpPr>
          <p:cNvPr name="TextBox 7" id="7"/>
          <p:cNvSpPr txBox="true"/>
          <p:nvPr/>
        </p:nvSpPr>
        <p:spPr>
          <a:xfrm rot="0">
            <a:off x="1665894" y="2739161"/>
            <a:ext cx="15326757" cy="1618349"/>
          </a:xfrm>
          <a:prstGeom prst="rect">
            <a:avLst/>
          </a:prstGeom>
        </p:spPr>
        <p:txBody>
          <a:bodyPr anchor="t" rtlCol="false" tIns="0" lIns="0" bIns="0" rIns="0">
            <a:spAutoFit/>
          </a:bodyPr>
          <a:lstStyle/>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We </a:t>
            </a:r>
            <a:r>
              <a:rPr lang="en-US" sz="2564">
                <a:solidFill>
                  <a:srgbClr val="000000"/>
                </a:solidFill>
                <a:latin typeface="Montserrat"/>
                <a:ea typeface="Montserrat"/>
                <a:cs typeface="Montserrat"/>
                <a:sym typeface="Montserrat"/>
              </a:rPr>
              <a:t>applied the Naïve Bayes algorithm as a baseline for fake news classification.</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 This probabilistic model assumes independence between words and is especially effective with high-dimensional, sparse text data.</a:t>
            </a:r>
          </a:p>
        </p:txBody>
      </p:sp>
      <p:sp>
        <p:nvSpPr>
          <p:cNvPr name="TextBox 8" id="8"/>
          <p:cNvSpPr txBox="true"/>
          <p:nvPr/>
        </p:nvSpPr>
        <p:spPr>
          <a:xfrm rot="0">
            <a:off x="11687641" y="4836043"/>
            <a:ext cx="5571659" cy="3828149"/>
          </a:xfrm>
          <a:prstGeom prst="rect">
            <a:avLst/>
          </a:prstGeom>
        </p:spPr>
        <p:txBody>
          <a:bodyPr anchor="t" rtlCol="false" tIns="0" lIns="0" bIns="0" rIns="0">
            <a:spAutoFit/>
          </a:bodyPr>
          <a:lstStyle/>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P</a:t>
            </a:r>
            <a:r>
              <a:rPr lang="en-US" sz="2564">
                <a:solidFill>
                  <a:srgbClr val="000000"/>
                </a:solidFill>
                <a:latin typeface="Montserrat"/>
                <a:ea typeface="Montserrat"/>
                <a:cs typeface="Montserrat"/>
                <a:sym typeface="Montserrat"/>
              </a:rPr>
              <a:t>erformed best when using</a:t>
            </a:r>
            <a:r>
              <a:rPr lang="en-US" sz="2564">
                <a:solidFill>
                  <a:srgbClr val="000000"/>
                </a:solidFill>
                <a:latin typeface="Montserrat"/>
                <a:ea typeface="Montserrat"/>
                <a:cs typeface="Montserrat"/>
                <a:sym typeface="Montserrat"/>
              </a:rPr>
              <a:t> combined title and body as input, especially with BoW.</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All metrics are relatively high, confirming that even a simple model can be effective for this task.</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200073" y="2370071"/>
            <a:ext cx="16258398" cy="7522421"/>
          </a:xfrm>
          <a:custGeom>
            <a:avLst/>
            <a:gdLst/>
            <a:ahLst/>
            <a:cxnLst/>
            <a:rect r="r" b="b" t="t" l="l"/>
            <a:pathLst>
              <a:path h="7522421" w="16258398">
                <a:moveTo>
                  <a:pt x="0" y="0"/>
                </a:moveTo>
                <a:lnTo>
                  <a:pt x="16258398" y="0"/>
                </a:lnTo>
                <a:lnTo>
                  <a:pt x="16258398" y="7522420"/>
                </a:lnTo>
                <a:lnTo>
                  <a:pt x="0" y="7522420"/>
                </a:lnTo>
                <a:lnTo>
                  <a:pt x="0" y="0"/>
                </a:lnTo>
                <a:close/>
              </a:path>
            </a:pathLst>
          </a:custGeom>
          <a:blipFill>
            <a:blip r:embed="rId6">
              <a:extLst>
                <a:ext uri="{96DAC541-7B7A-43D3-8B79-37D633B846F1}">
                  <asvg:svgBlip xmlns:asvg="http://schemas.microsoft.com/office/drawing/2016/SVG/main" r:embed="rId7"/>
                </a:ext>
              </a:extLst>
            </a:blip>
            <a:stretch>
              <a:fillRect l="-12557" t="-102459" r="-15412" b="-9472"/>
            </a:stretch>
          </a:blipFill>
          <a:ln w="104775" cap="sq">
            <a:solidFill>
              <a:srgbClr val="FEC622"/>
            </a:solidFill>
            <a:prstDash val="solid"/>
            <a:miter/>
          </a:ln>
        </p:spPr>
      </p:sp>
      <p:sp>
        <p:nvSpPr>
          <p:cNvPr name="Freeform 5" id="5"/>
          <p:cNvSpPr/>
          <p:nvPr/>
        </p:nvSpPr>
        <p:spPr>
          <a:xfrm flipH="false" flipV="false" rot="0">
            <a:off x="5869725" y="4783784"/>
            <a:ext cx="11389575" cy="4854806"/>
          </a:xfrm>
          <a:custGeom>
            <a:avLst/>
            <a:gdLst/>
            <a:ahLst/>
            <a:cxnLst/>
            <a:rect r="r" b="b" t="t" l="l"/>
            <a:pathLst>
              <a:path h="4854806" w="11389575">
                <a:moveTo>
                  <a:pt x="0" y="0"/>
                </a:moveTo>
                <a:lnTo>
                  <a:pt x="11389575" y="0"/>
                </a:lnTo>
                <a:lnTo>
                  <a:pt x="11389575" y="4854806"/>
                </a:lnTo>
                <a:lnTo>
                  <a:pt x="0" y="4854806"/>
                </a:lnTo>
                <a:lnTo>
                  <a:pt x="0" y="0"/>
                </a:lnTo>
                <a:close/>
              </a:path>
            </a:pathLst>
          </a:custGeom>
          <a:blipFill>
            <a:blip r:embed="rId8"/>
            <a:stretch>
              <a:fillRect l="0" t="0" r="0" b="0"/>
            </a:stretch>
          </a:blipFill>
        </p:spPr>
      </p:sp>
      <p:sp>
        <p:nvSpPr>
          <p:cNvPr name="TextBox 6" id="6"/>
          <p:cNvSpPr txBox="true"/>
          <p:nvPr/>
        </p:nvSpPr>
        <p:spPr>
          <a:xfrm rot="0">
            <a:off x="1028700" y="545783"/>
            <a:ext cx="16601144" cy="870585"/>
          </a:xfrm>
          <a:prstGeom prst="rect">
            <a:avLst/>
          </a:prstGeom>
        </p:spPr>
        <p:txBody>
          <a:bodyPr anchor="t" rtlCol="false" tIns="0" lIns="0" bIns="0" rIns="0">
            <a:spAutoFit/>
          </a:bodyPr>
          <a:lstStyle/>
          <a:p>
            <a:pPr algn="ctr">
              <a:lnSpc>
                <a:spcPts val="7140"/>
              </a:lnSpc>
              <a:spcBef>
                <a:spcPct val="0"/>
              </a:spcBef>
            </a:pPr>
            <a:r>
              <a:rPr lang="en-US" b="true" sz="5100">
                <a:solidFill>
                  <a:srgbClr val="000000"/>
                </a:solidFill>
                <a:latin typeface="Montserrat Bold"/>
                <a:ea typeface="Montserrat Bold"/>
                <a:cs typeface="Montserrat Bold"/>
                <a:sym typeface="Montserrat Bold"/>
              </a:rPr>
              <a:t>MACHINE LEARNING APPROACH - NAIVE BAYES</a:t>
            </a:r>
          </a:p>
        </p:txBody>
      </p:sp>
      <p:sp>
        <p:nvSpPr>
          <p:cNvPr name="TextBox 7" id="7"/>
          <p:cNvSpPr txBox="true"/>
          <p:nvPr/>
        </p:nvSpPr>
        <p:spPr>
          <a:xfrm rot="0">
            <a:off x="1665894" y="2477028"/>
            <a:ext cx="15326757" cy="2723249"/>
          </a:xfrm>
          <a:prstGeom prst="rect">
            <a:avLst/>
          </a:prstGeom>
        </p:spPr>
        <p:txBody>
          <a:bodyPr anchor="t" rtlCol="false" tIns="0" lIns="0" bIns="0" rIns="0">
            <a:spAutoFit/>
          </a:bodyPr>
          <a:lstStyle/>
          <a:p>
            <a:pPr algn="l">
              <a:lnSpc>
                <a:spcPts val="4359"/>
              </a:lnSpc>
            </a:pPr>
            <a:r>
              <a:rPr lang="en-US" sz="2564" b="true">
                <a:solidFill>
                  <a:srgbClr val="000000"/>
                </a:solidFill>
                <a:latin typeface="Montserrat Bold"/>
                <a:ea typeface="Montserrat Bold"/>
                <a:cs typeface="Montserrat Bold"/>
                <a:sym typeface="Montserrat Bold"/>
              </a:rPr>
              <a:t>Fe</a:t>
            </a:r>
            <a:r>
              <a:rPr lang="en-US" b="true" sz="2564">
                <a:solidFill>
                  <a:srgbClr val="000000"/>
                </a:solidFill>
                <a:latin typeface="Montserrat Bold"/>
                <a:ea typeface="Montserrat Bold"/>
                <a:cs typeface="Montserrat Bold"/>
                <a:sym typeface="Montserrat Bold"/>
              </a:rPr>
              <a:t>ature Contributions by Class (Top N-grams):</a:t>
            </a:r>
          </a:p>
          <a:p>
            <a:pPr algn="l" marL="553609" indent="-276804" lvl="1">
              <a:lnSpc>
                <a:spcPts val="4359"/>
              </a:lnSpc>
              <a:buFont typeface="Arial"/>
              <a:buChar char="•"/>
            </a:pPr>
            <a:r>
              <a:rPr lang="en-US" b="true" sz="2564">
                <a:solidFill>
                  <a:srgbClr val="000000"/>
                </a:solidFill>
                <a:latin typeface="Montserrat Bold"/>
                <a:ea typeface="Montserrat Bold"/>
                <a:cs typeface="Montserrat Bold"/>
                <a:sym typeface="Montserrat Bold"/>
              </a:rPr>
              <a:t>Fake news</a:t>
            </a:r>
            <a:r>
              <a:rPr lang="en-US" sz="2564">
                <a:solidFill>
                  <a:srgbClr val="000000"/>
                </a:solidFill>
                <a:latin typeface="Montserrat"/>
                <a:ea typeface="Montserrat"/>
                <a:cs typeface="Montserrat"/>
                <a:sym typeface="Montserrat"/>
              </a:rPr>
              <a:t> (Label=1): Most informative features include visual and media-related terms, indicating a stylistic pattern in fake content.</a:t>
            </a:r>
          </a:p>
          <a:p>
            <a:pPr algn="l" marL="553609" indent="-276804" lvl="1">
              <a:lnSpc>
                <a:spcPts val="4359"/>
              </a:lnSpc>
              <a:buFont typeface="Arial"/>
              <a:buChar char="•"/>
            </a:pPr>
            <a:r>
              <a:rPr lang="en-US" b="true" sz="2564">
                <a:solidFill>
                  <a:srgbClr val="000000"/>
                </a:solidFill>
                <a:latin typeface="Montserrat Bold"/>
                <a:ea typeface="Montserrat Bold"/>
                <a:cs typeface="Montserrat Bold"/>
                <a:sym typeface="Montserrat Bold"/>
              </a:rPr>
              <a:t>Real News </a:t>
            </a:r>
            <a:r>
              <a:rPr lang="en-US" sz="2564">
                <a:solidFill>
                  <a:srgbClr val="000000"/>
                </a:solidFill>
                <a:latin typeface="Montserrat"/>
                <a:ea typeface="Montserrat"/>
                <a:cs typeface="Montserrat"/>
                <a:sym typeface="Montserrat"/>
              </a:rPr>
              <a:t>(Label=0): Dominated by geopolitical or named-entity keywords reflecting real-world reporting focus.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200073" y="2370071"/>
            <a:ext cx="16258398" cy="7522421"/>
          </a:xfrm>
          <a:custGeom>
            <a:avLst/>
            <a:gdLst/>
            <a:ahLst/>
            <a:cxnLst/>
            <a:rect r="r" b="b" t="t" l="l"/>
            <a:pathLst>
              <a:path h="7522421" w="16258398">
                <a:moveTo>
                  <a:pt x="0" y="0"/>
                </a:moveTo>
                <a:lnTo>
                  <a:pt x="16258398" y="0"/>
                </a:lnTo>
                <a:lnTo>
                  <a:pt x="16258398" y="7522420"/>
                </a:lnTo>
                <a:lnTo>
                  <a:pt x="0" y="7522420"/>
                </a:lnTo>
                <a:lnTo>
                  <a:pt x="0" y="0"/>
                </a:lnTo>
                <a:close/>
              </a:path>
            </a:pathLst>
          </a:custGeom>
          <a:blipFill>
            <a:blip r:embed="rId6">
              <a:extLst>
                <a:ext uri="{96DAC541-7B7A-43D3-8B79-37D633B846F1}">
                  <asvg:svgBlip xmlns:asvg="http://schemas.microsoft.com/office/drawing/2016/SVG/main" r:embed="rId7"/>
                </a:ext>
              </a:extLst>
            </a:blip>
            <a:stretch>
              <a:fillRect l="-12557" t="-102459" r="-15412" b="-9472"/>
            </a:stretch>
          </a:blipFill>
          <a:ln w="104775" cap="sq">
            <a:solidFill>
              <a:srgbClr val="FEC622"/>
            </a:solidFill>
            <a:prstDash val="solid"/>
            <a:miter/>
          </a:ln>
        </p:spPr>
      </p:sp>
      <p:sp>
        <p:nvSpPr>
          <p:cNvPr name="Freeform 5" id="5"/>
          <p:cNvSpPr/>
          <p:nvPr/>
        </p:nvSpPr>
        <p:spPr>
          <a:xfrm flipH="false" flipV="false" rot="0">
            <a:off x="1489924" y="4410296"/>
            <a:ext cx="9720309" cy="4848004"/>
          </a:xfrm>
          <a:custGeom>
            <a:avLst/>
            <a:gdLst/>
            <a:ahLst/>
            <a:cxnLst/>
            <a:rect r="r" b="b" t="t" l="l"/>
            <a:pathLst>
              <a:path h="4848004" w="9720309">
                <a:moveTo>
                  <a:pt x="0" y="0"/>
                </a:moveTo>
                <a:lnTo>
                  <a:pt x="9720309" y="0"/>
                </a:lnTo>
                <a:lnTo>
                  <a:pt x="9720309" y="4848004"/>
                </a:lnTo>
                <a:lnTo>
                  <a:pt x="0" y="4848004"/>
                </a:lnTo>
                <a:lnTo>
                  <a:pt x="0" y="0"/>
                </a:lnTo>
                <a:close/>
              </a:path>
            </a:pathLst>
          </a:custGeom>
          <a:blipFill>
            <a:blip r:embed="rId8"/>
            <a:stretch>
              <a:fillRect l="0" t="0" r="0" b="0"/>
            </a:stretch>
          </a:blipFill>
        </p:spPr>
      </p:sp>
      <p:sp>
        <p:nvSpPr>
          <p:cNvPr name="TextBox 6" id="6"/>
          <p:cNvSpPr txBox="true"/>
          <p:nvPr/>
        </p:nvSpPr>
        <p:spPr>
          <a:xfrm rot="0">
            <a:off x="0" y="545783"/>
            <a:ext cx="18288000" cy="870585"/>
          </a:xfrm>
          <a:prstGeom prst="rect">
            <a:avLst/>
          </a:prstGeom>
        </p:spPr>
        <p:txBody>
          <a:bodyPr anchor="t" rtlCol="false" tIns="0" lIns="0" bIns="0" rIns="0">
            <a:spAutoFit/>
          </a:bodyPr>
          <a:lstStyle/>
          <a:p>
            <a:pPr algn="ctr">
              <a:lnSpc>
                <a:spcPts val="7140"/>
              </a:lnSpc>
              <a:spcBef>
                <a:spcPct val="0"/>
              </a:spcBef>
            </a:pPr>
            <a:r>
              <a:rPr lang="en-US" b="true" sz="5100">
                <a:solidFill>
                  <a:srgbClr val="000000"/>
                </a:solidFill>
                <a:latin typeface="Montserrat Bold"/>
                <a:ea typeface="Montserrat Bold"/>
                <a:cs typeface="Montserrat Bold"/>
                <a:sym typeface="Montserrat Bold"/>
              </a:rPr>
              <a:t>MACHINE LEARNING APPROACH - RANDOM FOREST</a:t>
            </a:r>
          </a:p>
        </p:txBody>
      </p:sp>
      <p:sp>
        <p:nvSpPr>
          <p:cNvPr name="TextBox 7" id="7"/>
          <p:cNvSpPr txBox="true"/>
          <p:nvPr/>
        </p:nvSpPr>
        <p:spPr>
          <a:xfrm rot="0">
            <a:off x="1312416" y="2477028"/>
            <a:ext cx="15946884" cy="1618349"/>
          </a:xfrm>
          <a:prstGeom prst="rect">
            <a:avLst/>
          </a:prstGeom>
        </p:spPr>
        <p:txBody>
          <a:bodyPr anchor="t" rtlCol="false" tIns="0" lIns="0" bIns="0" rIns="0">
            <a:spAutoFit/>
          </a:bodyPr>
          <a:lstStyle/>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We used Random Forest, </a:t>
            </a:r>
            <a:r>
              <a:rPr lang="en-US" sz="2564">
                <a:solidFill>
                  <a:srgbClr val="000000"/>
                </a:solidFill>
                <a:latin typeface="Montserrat"/>
                <a:ea typeface="Montserrat"/>
                <a:cs typeface="Montserrat"/>
                <a:sym typeface="Montserrat"/>
              </a:rPr>
              <a:t>an ensemble method that builds multiple decision trees in parallel.</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The final prediction is based on majority voting, which helps reduce overfitting and improve stability.</a:t>
            </a:r>
          </a:p>
        </p:txBody>
      </p:sp>
      <p:sp>
        <p:nvSpPr>
          <p:cNvPr name="TextBox 8" id="8"/>
          <p:cNvSpPr txBox="true"/>
          <p:nvPr/>
        </p:nvSpPr>
        <p:spPr>
          <a:xfrm rot="0">
            <a:off x="11500403" y="4325251"/>
            <a:ext cx="5571659" cy="4933049"/>
          </a:xfrm>
          <a:prstGeom prst="rect">
            <a:avLst/>
          </a:prstGeom>
        </p:spPr>
        <p:txBody>
          <a:bodyPr anchor="t" rtlCol="false" tIns="0" lIns="0" bIns="0" rIns="0">
            <a:spAutoFit/>
          </a:bodyPr>
          <a:lstStyle/>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B</a:t>
            </a:r>
            <a:r>
              <a:rPr lang="en-US" sz="2564">
                <a:solidFill>
                  <a:srgbClr val="000000"/>
                </a:solidFill>
                <a:latin typeface="Montserrat"/>
                <a:ea typeface="Montserrat"/>
                <a:cs typeface="Montserrat"/>
                <a:sym typeface="Montserrat"/>
              </a:rPr>
              <a:t>est </a:t>
            </a:r>
            <a:r>
              <a:rPr lang="en-US" sz="2564">
                <a:solidFill>
                  <a:srgbClr val="000000"/>
                </a:solidFill>
                <a:latin typeface="Montserrat"/>
                <a:ea typeface="Montserrat"/>
                <a:cs typeface="Montserrat"/>
                <a:sym typeface="Montserrat"/>
              </a:rPr>
              <a:t>overall p</a:t>
            </a:r>
            <a:r>
              <a:rPr lang="en-US" sz="2564">
                <a:solidFill>
                  <a:srgbClr val="000000"/>
                </a:solidFill>
                <a:latin typeface="Montserrat"/>
                <a:ea typeface="Montserrat"/>
                <a:cs typeface="Montserrat"/>
                <a:sym typeface="Montserrat"/>
              </a:rPr>
              <a:t>erformance was achieved with TF-IDF + combined title and body.</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Models using title only produced somewhat lower scores, suggesting that headlines alone provide less information for accurate classification.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200073" y="2370071"/>
            <a:ext cx="16258398" cy="7522421"/>
          </a:xfrm>
          <a:custGeom>
            <a:avLst/>
            <a:gdLst/>
            <a:ahLst/>
            <a:cxnLst/>
            <a:rect r="r" b="b" t="t" l="l"/>
            <a:pathLst>
              <a:path h="7522421" w="16258398">
                <a:moveTo>
                  <a:pt x="0" y="0"/>
                </a:moveTo>
                <a:lnTo>
                  <a:pt x="16258398" y="0"/>
                </a:lnTo>
                <a:lnTo>
                  <a:pt x="16258398" y="7522420"/>
                </a:lnTo>
                <a:lnTo>
                  <a:pt x="0" y="7522420"/>
                </a:lnTo>
                <a:lnTo>
                  <a:pt x="0" y="0"/>
                </a:lnTo>
                <a:close/>
              </a:path>
            </a:pathLst>
          </a:custGeom>
          <a:blipFill>
            <a:blip r:embed="rId6">
              <a:extLst>
                <a:ext uri="{96DAC541-7B7A-43D3-8B79-37D633B846F1}">
                  <asvg:svgBlip xmlns:asvg="http://schemas.microsoft.com/office/drawing/2016/SVG/main" r:embed="rId7"/>
                </a:ext>
              </a:extLst>
            </a:blip>
            <a:stretch>
              <a:fillRect l="-12557" t="-102459" r="-15412" b="-9472"/>
            </a:stretch>
          </a:blipFill>
          <a:ln w="104775" cap="sq">
            <a:solidFill>
              <a:srgbClr val="FEC622"/>
            </a:solidFill>
            <a:prstDash val="solid"/>
            <a:miter/>
          </a:ln>
        </p:spPr>
      </p:sp>
      <p:sp>
        <p:nvSpPr>
          <p:cNvPr name="Freeform 5" id="5"/>
          <p:cNvSpPr/>
          <p:nvPr/>
        </p:nvSpPr>
        <p:spPr>
          <a:xfrm flipH="false" flipV="false" rot="0">
            <a:off x="1665894" y="4276352"/>
            <a:ext cx="10242422" cy="5108408"/>
          </a:xfrm>
          <a:custGeom>
            <a:avLst/>
            <a:gdLst/>
            <a:ahLst/>
            <a:cxnLst/>
            <a:rect r="r" b="b" t="t" l="l"/>
            <a:pathLst>
              <a:path h="5108408" w="10242422">
                <a:moveTo>
                  <a:pt x="0" y="0"/>
                </a:moveTo>
                <a:lnTo>
                  <a:pt x="10242422" y="0"/>
                </a:lnTo>
                <a:lnTo>
                  <a:pt x="10242422" y="5108408"/>
                </a:lnTo>
                <a:lnTo>
                  <a:pt x="0" y="5108408"/>
                </a:lnTo>
                <a:lnTo>
                  <a:pt x="0" y="0"/>
                </a:lnTo>
                <a:close/>
              </a:path>
            </a:pathLst>
          </a:custGeom>
          <a:blipFill>
            <a:blip r:embed="rId8"/>
            <a:stretch>
              <a:fillRect l="0" t="0" r="0" b="0"/>
            </a:stretch>
          </a:blipFill>
        </p:spPr>
      </p:sp>
      <p:sp>
        <p:nvSpPr>
          <p:cNvPr name="TextBox 6" id="6"/>
          <p:cNvSpPr txBox="true"/>
          <p:nvPr/>
        </p:nvSpPr>
        <p:spPr>
          <a:xfrm rot="0">
            <a:off x="1028700" y="545783"/>
            <a:ext cx="16601144" cy="870585"/>
          </a:xfrm>
          <a:prstGeom prst="rect">
            <a:avLst/>
          </a:prstGeom>
        </p:spPr>
        <p:txBody>
          <a:bodyPr anchor="t" rtlCol="false" tIns="0" lIns="0" bIns="0" rIns="0">
            <a:spAutoFit/>
          </a:bodyPr>
          <a:lstStyle/>
          <a:p>
            <a:pPr algn="ctr">
              <a:lnSpc>
                <a:spcPts val="7140"/>
              </a:lnSpc>
              <a:spcBef>
                <a:spcPct val="0"/>
              </a:spcBef>
            </a:pPr>
            <a:r>
              <a:rPr lang="en-US" b="true" sz="5100">
                <a:solidFill>
                  <a:srgbClr val="000000"/>
                </a:solidFill>
                <a:latin typeface="Montserrat Bold"/>
                <a:ea typeface="Montserrat Bold"/>
                <a:cs typeface="Montserrat Bold"/>
                <a:sym typeface="Montserrat Bold"/>
              </a:rPr>
              <a:t>MACHINE LEARNING APPROACH - XGBOOST</a:t>
            </a:r>
          </a:p>
        </p:txBody>
      </p:sp>
      <p:sp>
        <p:nvSpPr>
          <p:cNvPr name="TextBox 7" id="7"/>
          <p:cNvSpPr txBox="true"/>
          <p:nvPr/>
        </p:nvSpPr>
        <p:spPr>
          <a:xfrm rot="0">
            <a:off x="1665894" y="2820122"/>
            <a:ext cx="15326757" cy="1065899"/>
          </a:xfrm>
          <a:prstGeom prst="rect">
            <a:avLst/>
          </a:prstGeom>
        </p:spPr>
        <p:txBody>
          <a:bodyPr anchor="t" rtlCol="false" tIns="0" lIns="0" bIns="0" rIns="0">
            <a:spAutoFit/>
          </a:bodyPr>
          <a:lstStyle/>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We used XGBoost, </a:t>
            </a:r>
            <a:r>
              <a:rPr lang="en-US" sz="2564">
                <a:solidFill>
                  <a:srgbClr val="000000"/>
                </a:solidFill>
                <a:latin typeface="Montserrat"/>
                <a:ea typeface="Montserrat"/>
                <a:cs typeface="Montserrat"/>
                <a:sym typeface="Montserrat"/>
              </a:rPr>
              <a:t>a powerful ensemble method based on gradient boosting.</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 It builds decision trees sequentially, improving performance by correcting previous errors.</a:t>
            </a:r>
          </a:p>
        </p:txBody>
      </p:sp>
      <p:sp>
        <p:nvSpPr>
          <p:cNvPr name="TextBox 8" id="8"/>
          <p:cNvSpPr txBox="true"/>
          <p:nvPr/>
        </p:nvSpPr>
        <p:spPr>
          <a:xfrm rot="0">
            <a:off x="11687641" y="4836043"/>
            <a:ext cx="5571659" cy="3275699"/>
          </a:xfrm>
          <a:prstGeom prst="rect">
            <a:avLst/>
          </a:prstGeom>
        </p:spPr>
        <p:txBody>
          <a:bodyPr anchor="t" rtlCol="false" tIns="0" lIns="0" bIns="0" rIns="0">
            <a:spAutoFit/>
          </a:bodyPr>
          <a:lstStyle/>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V</a:t>
            </a:r>
            <a:r>
              <a:rPr lang="en-US" sz="2564">
                <a:solidFill>
                  <a:srgbClr val="000000"/>
                </a:solidFill>
                <a:latin typeface="Montserrat"/>
                <a:ea typeface="Montserrat"/>
                <a:cs typeface="Montserrat"/>
                <a:sym typeface="Montserrat"/>
              </a:rPr>
              <a:t>ery high</a:t>
            </a:r>
            <a:r>
              <a:rPr lang="en-US" sz="2564">
                <a:solidFill>
                  <a:srgbClr val="000000"/>
                </a:solidFill>
                <a:latin typeface="Montserrat"/>
                <a:ea typeface="Montserrat"/>
                <a:cs typeface="Montserrat"/>
                <a:sym typeface="Montserrat"/>
              </a:rPr>
              <a:t> performance across all configurations</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The best results were observed when combining title and body, especially with BoW.</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200073" y="2370071"/>
            <a:ext cx="16258398" cy="7522421"/>
          </a:xfrm>
          <a:custGeom>
            <a:avLst/>
            <a:gdLst/>
            <a:ahLst/>
            <a:cxnLst/>
            <a:rect r="r" b="b" t="t" l="l"/>
            <a:pathLst>
              <a:path h="7522421" w="16258398">
                <a:moveTo>
                  <a:pt x="0" y="0"/>
                </a:moveTo>
                <a:lnTo>
                  <a:pt x="16258398" y="0"/>
                </a:lnTo>
                <a:lnTo>
                  <a:pt x="16258398" y="7522420"/>
                </a:lnTo>
                <a:lnTo>
                  <a:pt x="0" y="7522420"/>
                </a:lnTo>
                <a:lnTo>
                  <a:pt x="0" y="0"/>
                </a:lnTo>
                <a:close/>
              </a:path>
            </a:pathLst>
          </a:custGeom>
          <a:blipFill>
            <a:blip r:embed="rId6">
              <a:extLst>
                <a:ext uri="{96DAC541-7B7A-43D3-8B79-37D633B846F1}">
                  <asvg:svgBlip xmlns:asvg="http://schemas.microsoft.com/office/drawing/2016/SVG/main" r:embed="rId7"/>
                </a:ext>
              </a:extLst>
            </a:blip>
            <a:stretch>
              <a:fillRect l="-12557" t="-102459" r="-15412" b="-9472"/>
            </a:stretch>
          </a:blipFill>
          <a:ln w="104775" cap="sq">
            <a:solidFill>
              <a:srgbClr val="FEC622"/>
            </a:solidFill>
            <a:prstDash val="solid"/>
            <a:miter/>
          </a:ln>
        </p:spPr>
      </p:sp>
      <p:sp>
        <p:nvSpPr>
          <p:cNvPr name="Freeform 5" id="5"/>
          <p:cNvSpPr/>
          <p:nvPr/>
        </p:nvSpPr>
        <p:spPr>
          <a:xfrm flipH="false" flipV="false" rot="0">
            <a:off x="10799838" y="2490244"/>
            <a:ext cx="6535662" cy="7282074"/>
          </a:xfrm>
          <a:custGeom>
            <a:avLst/>
            <a:gdLst/>
            <a:ahLst/>
            <a:cxnLst/>
            <a:rect r="r" b="b" t="t" l="l"/>
            <a:pathLst>
              <a:path h="7282074" w="6535662">
                <a:moveTo>
                  <a:pt x="0" y="0"/>
                </a:moveTo>
                <a:lnTo>
                  <a:pt x="6535662" y="0"/>
                </a:lnTo>
                <a:lnTo>
                  <a:pt x="6535662" y="7282074"/>
                </a:lnTo>
                <a:lnTo>
                  <a:pt x="0" y="7282074"/>
                </a:lnTo>
                <a:lnTo>
                  <a:pt x="0" y="0"/>
                </a:lnTo>
                <a:close/>
              </a:path>
            </a:pathLst>
          </a:custGeom>
          <a:blipFill>
            <a:blip r:embed="rId8"/>
            <a:stretch>
              <a:fillRect l="0" t="0" r="0" b="0"/>
            </a:stretch>
          </a:blipFill>
        </p:spPr>
      </p:sp>
      <p:sp>
        <p:nvSpPr>
          <p:cNvPr name="TextBox 6" id="6"/>
          <p:cNvSpPr txBox="true"/>
          <p:nvPr/>
        </p:nvSpPr>
        <p:spPr>
          <a:xfrm rot="0">
            <a:off x="1028700" y="545783"/>
            <a:ext cx="16601144" cy="870585"/>
          </a:xfrm>
          <a:prstGeom prst="rect">
            <a:avLst/>
          </a:prstGeom>
        </p:spPr>
        <p:txBody>
          <a:bodyPr anchor="t" rtlCol="false" tIns="0" lIns="0" bIns="0" rIns="0">
            <a:spAutoFit/>
          </a:bodyPr>
          <a:lstStyle/>
          <a:p>
            <a:pPr algn="ctr">
              <a:lnSpc>
                <a:spcPts val="7140"/>
              </a:lnSpc>
              <a:spcBef>
                <a:spcPct val="0"/>
              </a:spcBef>
            </a:pPr>
            <a:r>
              <a:rPr lang="en-US" b="true" sz="5100">
                <a:solidFill>
                  <a:srgbClr val="000000"/>
                </a:solidFill>
                <a:latin typeface="Montserrat Bold"/>
                <a:ea typeface="Montserrat Bold"/>
                <a:cs typeface="Montserrat Bold"/>
                <a:sym typeface="Montserrat Bold"/>
              </a:rPr>
              <a:t>MACHINE LEARNING APPROACH - XGBOOST</a:t>
            </a:r>
          </a:p>
        </p:txBody>
      </p:sp>
      <p:sp>
        <p:nvSpPr>
          <p:cNvPr name="TextBox 7" id="7"/>
          <p:cNvSpPr txBox="true"/>
          <p:nvPr/>
        </p:nvSpPr>
        <p:spPr>
          <a:xfrm rot="0">
            <a:off x="1665894" y="2477028"/>
            <a:ext cx="9133945" cy="5485499"/>
          </a:xfrm>
          <a:prstGeom prst="rect">
            <a:avLst/>
          </a:prstGeom>
        </p:spPr>
        <p:txBody>
          <a:bodyPr anchor="t" rtlCol="false" tIns="0" lIns="0" bIns="0" rIns="0">
            <a:spAutoFit/>
          </a:bodyPr>
          <a:lstStyle/>
          <a:p>
            <a:pPr algn="l">
              <a:lnSpc>
                <a:spcPts val="4359"/>
              </a:lnSpc>
            </a:pPr>
            <a:r>
              <a:rPr lang="en-US" b="true" sz="2564">
                <a:solidFill>
                  <a:srgbClr val="000000"/>
                </a:solidFill>
                <a:latin typeface="Montserrat Bold"/>
                <a:ea typeface="Montserrat Bold"/>
                <a:cs typeface="Montserrat Bold"/>
                <a:sym typeface="Montserrat Bold"/>
              </a:rPr>
              <a:t>Top Predictive Fe</a:t>
            </a:r>
            <a:r>
              <a:rPr lang="en-US" b="true" sz="2564">
                <a:solidFill>
                  <a:srgbClr val="000000"/>
                </a:solidFill>
                <a:latin typeface="Montserrat Bold"/>
                <a:ea typeface="Montserrat Bold"/>
                <a:cs typeface="Montserrat Bold"/>
                <a:sym typeface="Montserrat Bold"/>
              </a:rPr>
              <a:t>atures (SHAP Analysis):</a:t>
            </a:r>
          </a:p>
          <a:p>
            <a:pPr algn="l">
              <a:lnSpc>
                <a:spcPts val="4359"/>
              </a:lnSpc>
            </a:pPr>
          </a:p>
          <a:p>
            <a:pPr algn="l">
              <a:lnSpc>
                <a:spcPts val="4359"/>
              </a:lnSpc>
            </a:pPr>
            <a:r>
              <a:rPr lang="en-US" sz="2564" u="sng">
                <a:solidFill>
                  <a:srgbClr val="000000"/>
                </a:solidFill>
                <a:latin typeface="Montserrat"/>
                <a:ea typeface="Montserrat"/>
                <a:cs typeface="Montserrat"/>
                <a:sym typeface="Montserrat"/>
              </a:rPr>
              <a:t>Fake News (Label=1):</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High quote count, verb ratio in titles, and overall verb ratio had </a:t>
            </a:r>
            <a:r>
              <a:rPr lang="en-US" sz="2564" u="sng">
                <a:solidFill>
                  <a:srgbClr val="000000"/>
                </a:solidFill>
                <a:latin typeface="Montserrat"/>
                <a:ea typeface="Montserrat"/>
                <a:cs typeface="Montserrat"/>
                <a:sym typeface="Montserrat"/>
              </a:rPr>
              <a:t>negative SHAP</a:t>
            </a:r>
            <a:r>
              <a:rPr lang="en-US" sz="2564">
                <a:solidFill>
                  <a:srgbClr val="000000"/>
                </a:solidFill>
                <a:latin typeface="Montserrat"/>
                <a:ea typeface="Montserrat"/>
                <a:cs typeface="Montserrat"/>
                <a:sym typeface="Montserrat"/>
              </a:rPr>
              <a:t> values, meaning they </a:t>
            </a:r>
            <a:r>
              <a:rPr lang="en-US" sz="2564" u="sng">
                <a:solidFill>
                  <a:srgbClr val="000000"/>
                </a:solidFill>
                <a:latin typeface="Montserrat"/>
                <a:ea typeface="Montserrat"/>
                <a:cs typeface="Montserrat"/>
                <a:sym typeface="Montserrat"/>
              </a:rPr>
              <a:t>reduced</a:t>
            </a:r>
            <a:r>
              <a:rPr lang="en-US" sz="2564">
                <a:solidFill>
                  <a:srgbClr val="000000"/>
                </a:solidFill>
                <a:latin typeface="Montserrat"/>
                <a:ea typeface="Montserrat"/>
                <a:cs typeface="Montserrat"/>
                <a:sym typeface="Montserrat"/>
              </a:rPr>
              <a:t> the likelihood of Fake News.</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In contrast, words like "was", "reports", and punctuation such as ellipses (...) had </a:t>
            </a:r>
            <a:r>
              <a:rPr lang="en-US" sz="2564" u="sng">
                <a:solidFill>
                  <a:srgbClr val="000000"/>
                </a:solidFill>
                <a:latin typeface="Montserrat"/>
                <a:ea typeface="Montserrat"/>
                <a:cs typeface="Montserrat"/>
                <a:sym typeface="Montserrat"/>
              </a:rPr>
              <a:t>positive SHAP</a:t>
            </a:r>
            <a:r>
              <a:rPr lang="en-US" sz="2564">
                <a:solidFill>
                  <a:srgbClr val="000000"/>
                </a:solidFill>
                <a:latin typeface="Montserrat"/>
                <a:ea typeface="Montserrat"/>
                <a:cs typeface="Montserrat"/>
                <a:sym typeface="Montserrat"/>
              </a:rPr>
              <a:t> values, </a:t>
            </a:r>
            <a:r>
              <a:rPr lang="en-US" sz="2564" u="sng">
                <a:solidFill>
                  <a:srgbClr val="000000"/>
                </a:solidFill>
                <a:latin typeface="Montserrat"/>
                <a:ea typeface="Montserrat"/>
                <a:cs typeface="Montserrat"/>
                <a:sym typeface="Montserrat"/>
              </a:rPr>
              <a:t>increasing</a:t>
            </a:r>
            <a:r>
              <a:rPr lang="en-US" sz="2564">
                <a:solidFill>
                  <a:srgbClr val="000000"/>
                </a:solidFill>
                <a:latin typeface="Montserrat"/>
                <a:ea typeface="Montserrat"/>
                <a:cs typeface="Montserrat"/>
                <a:sym typeface="Montserrat"/>
              </a:rPr>
              <a:t> the likelihood of Fake News.</a:t>
            </a:r>
          </a:p>
          <a:p>
            <a:pPr algn="l">
              <a:lnSpc>
                <a:spcPts val="435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200073" y="2370071"/>
            <a:ext cx="16258398" cy="7522421"/>
          </a:xfrm>
          <a:custGeom>
            <a:avLst/>
            <a:gdLst/>
            <a:ahLst/>
            <a:cxnLst/>
            <a:rect r="r" b="b" t="t" l="l"/>
            <a:pathLst>
              <a:path h="7522421" w="16258398">
                <a:moveTo>
                  <a:pt x="0" y="0"/>
                </a:moveTo>
                <a:lnTo>
                  <a:pt x="16258398" y="0"/>
                </a:lnTo>
                <a:lnTo>
                  <a:pt x="16258398" y="7522420"/>
                </a:lnTo>
                <a:lnTo>
                  <a:pt x="0" y="7522420"/>
                </a:lnTo>
                <a:lnTo>
                  <a:pt x="0" y="0"/>
                </a:lnTo>
                <a:close/>
              </a:path>
            </a:pathLst>
          </a:custGeom>
          <a:blipFill>
            <a:blip r:embed="rId6">
              <a:extLst>
                <a:ext uri="{96DAC541-7B7A-43D3-8B79-37D633B846F1}">
                  <asvg:svgBlip xmlns:asvg="http://schemas.microsoft.com/office/drawing/2016/SVG/main" r:embed="rId7"/>
                </a:ext>
              </a:extLst>
            </a:blip>
            <a:stretch>
              <a:fillRect l="-12557" t="-102459" r="-15412" b="-9472"/>
            </a:stretch>
          </a:blipFill>
          <a:ln w="104775" cap="sq">
            <a:solidFill>
              <a:srgbClr val="FEC622"/>
            </a:solidFill>
            <a:prstDash val="solid"/>
            <a:miter/>
          </a:ln>
        </p:spPr>
      </p:sp>
      <p:sp>
        <p:nvSpPr>
          <p:cNvPr name="Freeform 5" id="5"/>
          <p:cNvSpPr/>
          <p:nvPr/>
        </p:nvSpPr>
        <p:spPr>
          <a:xfrm flipH="false" flipV="false" rot="0">
            <a:off x="10773406" y="2493896"/>
            <a:ext cx="6571619" cy="7261457"/>
          </a:xfrm>
          <a:custGeom>
            <a:avLst/>
            <a:gdLst/>
            <a:ahLst/>
            <a:cxnLst/>
            <a:rect r="r" b="b" t="t" l="l"/>
            <a:pathLst>
              <a:path h="7261457" w="6571619">
                <a:moveTo>
                  <a:pt x="0" y="0"/>
                </a:moveTo>
                <a:lnTo>
                  <a:pt x="6571619" y="0"/>
                </a:lnTo>
                <a:lnTo>
                  <a:pt x="6571619" y="7261457"/>
                </a:lnTo>
                <a:lnTo>
                  <a:pt x="0" y="7261457"/>
                </a:lnTo>
                <a:lnTo>
                  <a:pt x="0" y="0"/>
                </a:lnTo>
                <a:close/>
              </a:path>
            </a:pathLst>
          </a:custGeom>
          <a:blipFill>
            <a:blip r:embed="rId8"/>
            <a:stretch>
              <a:fillRect l="0" t="0" r="0" b="0"/>
            </a:stretch>
          </a:blipFill>
        </p:spPr>
      </p:sp>
      <p:sp>
        <p:nvSpPr>
          <p:cNvPr name="TextBox 6" id="6"/>
          <p:cNvSpPr txBox="true"/>
          <p:nvPr/>
        </p:nvSpPr>
        <p:spPr>
          <a:xfrm rot="0">
            <a:off x="1028700" y="545783"/>
            <a:ext cx="16601144" cy="870585"/>
          </a:xfrm>
          <a:prstGeom prst="rect">
            <a:avLst/>
          </a:prstGeom>
        </p:spPr>
        <p:txBody>
          <a:bodyPr anchor="t" rtlCol="false" tIns="0" lIns="0" bIns="0" rIns="0">
            <a:spAutoFit/>
          </a:bodyPr>
          <a:lstStyle/>
          <a:p>
            <a:pPr algn="ctr">
              <a:lnSpc>
                <a:spcPts val="7140"/>
              </a:lnSpc>
              <a:spcBef>
                <a:spcPct val="0"/>
              </a:spcBef>
            </a:pPr>
            <a:r>
              <a:rPr lang="en-US" b="true" sz="5100">
                <a:solidFill>
                  <a:srgbClr val="000000"/>
                </a:solidFill>
                <a:latin typeface="Montserrat Bold"/>
                <a:ea typeface="Montserrat Bold"/>
                <a:cs typeface="Montserrat Bold"/>
                <a:sym typeface="Montserrat Bold"/>
              </a:rPr>
              <a:t>MACHINE LEARNING APPROACH - XGBOOST</a:t>
            </a:r>
          </a:p>
        </p:txBody>
      </p:sp>
      <p:sp>
        <p:nvSpPr>
          <p:cNvPr name="TextBox 7" id="7"/>
          <p:cNvSpPr txBox="true"/>
          <p:nvPr/>
        </p:nvSpPr>
        <p:spPr>
          <a:xfrm rot="0">
            <a:off x="1665894" y="2477028"/>
            <a:ext cx="9107513" cy="7142849"/>
          </a:xfrm>
          <a:prstGeom prst="rect">
            <a:avLst/>
          </a:prstGeom>
        </p:spPr>
        <p:txBody>
          <a:bodyPr anchor="t" rtlCol="false" tIns="0" lIns="0" bIns="0" rIns="0">
            <a:spAutoFit/>
          </a:bodyPr>
          <a:lstStyle/>
          <a:p>
            <a:pPr algn="l">
              <a:lnSpc>
                <a:spcPts val="4359"/>
              </a:lnSpc>
            </a:pPr>
            <a:r>
              <a:rPr lang="en-US" b="true" sz="2564">
                <a:solidFill>
                  <a:srgbClr val="000000"/>
                </a:solidFill>
                <a:latin typeface="Montserrat Bold"/>
                <a:ea typeface="Montserrat Bold"/>
                <a:cs typeface="Montserrat Bold"/>
                <a:sym typeface="Montserrat Bold"/>
              </a:rPr>
              <a:t>Top Predictive Fe</a:t>
            </a:r>
            <a:r>
              <a:rPr lang="en-US" b="true" sz="2564">
                <a:solidFill>
                  <a:srgbClr val="000000"/>
                </a:solidFill>
                <a:latin typeface="Montserrat Bold"/>
                <a:ea typeface="Montserrat Bold"/>
                <a:cs typeface="Montserrat Bold"/>
                <a:sym typeface="Montserrat Bold"/>
              </a:rPr>
              <a:t>atures (SHAP Analysis):</a:t>
            </a:r>
          </a:p>
          <a:p>
            <a:pPr algn="l">
              <a:lnSpc>
                <a:spcPts val="4359"/>
              </a:lnSpc>
            </a:pPr>
          </a:p>
          <a:p>
            <a:pPr algn="l">
              <a:lnSpc>
                <a:spcPts val="4359"/>
              </a:lnSpc>
            </a:pPr>
            <a:r>
              <a:rPr lang="en-US" sz="2564" u="sng">
                <a:solidFill>
                  <a:srgbClr val="000000"/>
                </a:solidFill>
                <a:latin typeface="Montserrat"/>
                <a:ea typeface="Montserrat"/>
                <a:cs typeface="Montserrat"/>
                <a:sym typeface="Montserrat"/>
              </a:rPr>
              <a:t>Real News (Label=0):</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Features like quote count, noun ratio in titles, and common words such as "this", "that", and "here" had </a:t>
            </a:r>
            <a:r>
              <a:rPr lang="en-US" sz="2564" u="sng">
                <a:solidFill>
                  <a:srgbClr val="000000"/>
                </a:solidFill>
                <a:latin typeface="Montserrat"/>
                <a:ea typeface="Montserrat"/>
                <a:cs typeface="Montserrat"/>
                <a:sym typeface="Montserrat"/>
              </a:rPr>
              <a:t>positive SHAP</a:t>
            </a:r>
            <a:r>
              <a:rPr lang="en-US" sz="2564">
                <a:solidFill>
                  <a:srgbClr val="000000"/>
                </a:solidFill>
                <a:latin typeface="Montserrat"/>
                <a:ea typeface="Montserrat"/>
                <a:cs typeface="Montserrat"/>
                <a:sym typeface="Montserrat"/>
              </a:rPr>
              <a:t> values, meaning they pushed predictions toward Real News.</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The</a:t>
            </a:r>
            <a:r>
              <a:rPr lang="en-US" sz="2564">
                <a:solidFill>
                  <a:srgbClr val="000000"/>
                </a:solidFill>
                <a:latin typeface="Montserrat"/>
                <a:ea typeface="Montserrat"/>
                <a:cs typeface="Montserrat"/>
                <a:sym typeface="Montserrat"/>
              </a:rPr>
              <a:t> presence of the word "said", a high verb ratio in titles, and low subjectivity in titles had </a:t>
            </a:r>
            <a:r>
              <a:rPr lang="en-US" sz="2564" u="sng">
                <a:solidFill>
                  <a:srgbClr val="000000"/>
                </a:solidFill>
                <a:latin typeface="Montserrat"/>
                <a:ea typeface="Montserrat"/>
                <a:cs typeface="Montserrat"/>
                <a:sym typeface="Montserrat"/>
              </a:rPr>
              <a:t>negative SHAP</a:t>
            </a:r>
            <a:r>
              <a:rPr lang="en-US" sz="2564">
                <a:solidFill>
                  <a:srgbClr val="000000"/>
                </a:solidFill>
                <a:latin typeface="Montserrat"/>
                <a:ea typeface="Montserrat"/>
                <a:cs typeface="Montserrat"/>
                <a:sym typeface="Montserrat"/>
              </a:rPr>
              <a:t> values, meaning they reduced the likelihood of Real News and pushed the prediction toward Fake.</a:t>
            </a:r>
          </a:p>
          <a:p>
            <a:pPr algn="l">
              <a:lnSpc>
                <a:spcPts val="4359"/>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376484" y="2554208"/>
            <a:ext cx="15535033" cy="7187734"/>
          </a:xfrm>
          <a:custGeom>
            <a:avLst/>
            <a:gdLst/>
            <a:ahLst/>
            <a:cxnLst/>
            <a:rect r="r" b="b" t="t" l="l"/>
            <a:pathLst>
              <a:path h="7187734" w="15535033">
                <a:moveTo>
                  <a:pt x="0" y="0"/>
                </a:moveTo>
                <a:lnTo>
                  <a:pt x="15535032" y="0"/>
                </a:lnTo>
                <a:lnTo>
                  <a:pt x="15535032" y="7187734"/>
                </a:lnTo>
                <a:lnTo>
                  <a:pt x="0" y="7187734"/>
                </a:lnTo>
                <a:lnTo>
                  <a:pt x="0" y="0"/>
                </a:lnTo>
                <a:close/>
              </a:path>
            </a:pathLst>
          </a:custGeom>
          <a:blipFill>
            <a:blip r:embed="rId6">
              <a:extLst>
                <a:ext uri="{96DAC541-7B7A-43D3-8B79-37D633B846F1}">
                  <asvg:svgBlip xmlns:asvg="http://schemas.microsoft.com/office/drawing/2016/SVG/main" r:embed="rId7"/>
                </a:ext>
              </a:extLst>
            </a:blip>
            <a:stretch>
              <a:fillRect l="-12557" t="-102459" r="-15412" b="-9472"/>
            </a:stretch>
          </a:blipFill>
          <a:ln w="104775" cap="sq">
            <a:solidFill>
              <a:srgbClr val="FEC622"/>
            </a:solidFill>
            <a:prstDash val="solid"/>
            <a:miter/>
          </a:ln>
        </p:spPr>
      </p:sp>
      <p:sp>
        <p:nvSpPr>
          <p:cNvPr name="TextBox 5" id="5"/>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FEW-SHOT LEARNING</a:t>
            </a:r>
          </a:p>
        </p:txBody>
      </p:sp>
      <p:sp>
        <p:nvSpPr>
          <p:cNvPr name="TextBox 6" id="6"/>
          <p:cNvSpPr txBox="true"/>
          <p:nvPr/>
        </p:nvSpPr>
        <p:spPr>
          <a:xfrm rot="0">
            <a:off x="1706236" y="2790764"/>
            <a:ext cx="14826452" cy="7142849"/>
          </a:xfrm>
          <a:prstGeom prst="rect">
            <a:avLst/>
          </a:prstGeom>
        </p:spPr>
        <p:txBody>
          <a:bodyPr anchor="t" rtlCol="false" tIns="0" lIns="0" bIns="0" rIns="0">
            <a:spAutoFit/>
          </a:bodyPr>
          <a:lstStyle/>
          <a:p>
            <a:pPr algn="l">
              <a:lnSpc>
                <a:spcPts val="4359"/>
              </a:lnSpc>
            </a:pPr>
            <a:r>
              <a:rPr lang="en-US" sz="2564" b="true">
                <a:solidFill>
                  <a:srgbClr val="000000"/>
                </a:solidFill>
                <a:latin typeface="Montserrat Bold"/>
                <a:ea typeface="Montserrat Bold"/>
                <a:cs typeface="Montserrat Bold"/>
                <a:sym typeface="Montserrat Bold"/>
              </a:rPr>
              <a:t>Wh</a:t>
            </a:r>
            <a:r>
              <a:rPr lang="en-US" b="true" sz="2564">
                <a:solidFill>
                  <a:srgbClr val="000000"/>
                </a:solidFill>
                <a:latin typeface="Montserrat Bold"/>
                <a:ea typeface="Montserrat Bold"/>
                <a:cs typeface="Montserrat Bold"/>
                <a:sym typeface="Montserrat Bold"/>
              </a:rPr>
              <a:t>at is Few-Shot Learning?</a:t>
            </a:r>
          </a:p>
          <a:p>
            <a:pPr algn="l">
              <a:lnSpc>
                <a:spcPts val="4359"/>
              </a:lnSpc>
            </a:pPr>
            <a:r>
              <a:rPr lang="en-US" sz="2564">
                <a:solidFill>
                  <a:srgbClr val="000000"/>
                </a:solidFill>
                <a:latin typeface="Montserrat"/>
                <a:ea typeface="Montserrat"/>
                <a:cs typeface="Montserrat"/>
                <a:sym typeface="Montserrat"/>
              </a:rPr>
              <a:t>It's a method where the model is given a small number of examples (usually in the form of a prompt) to guide its understanding, instead of full training.</a:t>
            </a:r>
          </a:p>
          <a:p>
            <a:pPr algn="l">
              <a:lnSpc>
                <a:spcPts val="4359"/>
              </a:lnSpc>
            </a:pPr>
          </a:p>
          <a:p>
            <a:pPr algn="l">
              <a:lnSpc>
                <a:spcPts val="4359"/>
              </a:lnSpc>
            </a:pPr>
            <a:r>
              <a:rPr lang="en-US" b="true" sz="2564">
                <a:solidFill>
                  <a:srgbClr val="000000"/>
                </a:solidFill>
                <a:latin typeface="Montserrat Bold"/>
                <a:ea typeface="Montserrat Bold"/>
                <a:cs typeface="Montserrat Bold"/>
                <a:sym typeface="Montserrat Bold"/>
              </a:rPr>
              <a:t>The Challenge:</a:t>
            </a:r>
            <a:r>
              <a:rPr lang="en-US" sz="2564">
                <a:solidFill>
                  <a:srgbClr val="000000"/>
                </a:solidFill>
                <a:latin typeface="Montserrat"/>
                <a:ea typeface="Montserrat"/>
                <a:cs typeface="Montserrat"/>
                <a:sym typeface="Montserrat"/>
              </a:rPr>
              <a:t> </a:t>
            </a:r>
          </a:p>
          <a:p>
            <a:pPr algn="l">
              <a:lnSpc>
                <a:spcPts val="4359"/>
              </a:lnSpc>
            </a:pPr>
            <a:r>
              <a:rPr lang="en-US" sz="2564">
                <a:solidFill>
                  <a:srgbClr val="000000"/>
                </a:solidFill>
                <a:latin typeface="Montserrat"/>
                <a:ea typeface="Montserrat"/>
                <a:cs typeface="Montserrat"/>
                <a:sym typeface="Montserrat"/>
              </a:rPr>
              <a:t>Traditional models rely on large amounts of data to learn effectively. Few-Shot Learning challenges models to generalize from just a few samples with minimal guidance.</a:t>
            </a:r>
          </a:p>
          <a:p>
            <a:pPr algn="l">
              <a:lnSpc>
                <a:spcPts val="4359"/>
              </a:lnSpc>
            </a:pPr>
          </a:p>
          <a:p>
            <a:pPr algn="l">
              <a:lnSpc>
                <a:spcPts val="4359"/>
              </a:lnSpc>
            </a:pPr>
            <a:r>
              <a:rPr lang="en-US" b="true" sz="2564">
                <a:solidFill>
                  <a:srgbClr val="000000"/>
                </a:solidFill>
                <a:latin typeface="Montserrat Bold"/>
                <a:ea typeface="Montserrat Bold"/>
                <a:cs typeface="Montserrat Bold"/>
                <a:sym typeface="Montserrat Bold"/>
              </a:rPr>
              <a:t>How Does it Work? </a:t>
            </a:r>
          </a:p>
          <a:p>
            <a:pPr algn="l">
              <a:lnSpc>
                <a:spcPts val="4359"/>
              </a:lnSpc>
            </a:pPr>
            <a:r>
              <a:rPr lang="en-US" sz="2564">
                <a:solidFill>
                  <a:srgbClr val="000000"/>
                </a:solidFill>
                <a:latin typeface="Montserrat"/>
                <a:ea typeface="Montserrat"/>
                <a:cs typeface="Montserrat"/>
                <a:sym typeface="Montserrat"/>
              </a:rPr>
              <a:t>Pre-trained models are provided with a prompt that includes a few examples, enabling them to make accurate predictions with limited data.</a:t>
            </a:r>
          </a:p>
          <a:p>
            <a:pPr algn="l">
              <a:lnSpc>
                <a:spcPts val="4359"/>
              </a:lnSpc>
            </a:pPr>
          </a:p>
          <a:p>
            <a:pPr algn="l">
              <a:lnSpc>
                <a:spcPts val="4359"/>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376484" y="2554208"/>
            <a:ext cx="15535033" cy="7187734"/>
          </a:xfrm>
          <a:custGeom>
            <a:avLst/>
            <a:gdLst/>
            <a:ahLst/>
            <a:cxnLst/>
            <a:rect r="r" b="b" t="t" l="l"/>
            <a:pathLst>
              <a:path h="7187734" w="15535033">
                <a:moveTo>
                  <a:pt x="0" y="0"/>
                </a:moveTo>
                <a:lnTo>
                  <a:pt x="15535032" y="0"/>
                </a:lnTo>
                <a:lnTo>
                  <a:pt x="15535032" y="7187734"/>
                </a:lnTo>
                <a:lnTo>
                  <a:pt x="0" y="7187734"/>
                </a:lnTo>
                <a:lnTo>
                  <a:pt x="0" y="0"/>
                </a:lnTo>
                <a:close/>
              </a:path>
            </a:pathLst>
          </a:custGeom>
          <a:blipFill>
            <a:blip r:embed="rId6">
              <a:extLst>
                <a:ext uri="{96DAC541-7B7A-43D3-8B79-37D633B846F1}">
                  <asvg:svgBlip xmlns:asvg="http://schemas.microsoft.com/office/drawing/2016/SVG/main" r:embed="rId7"/>
                </a:ext>
              </a:extLst>
            </a:blip>
            <a:stretch>
              <a:fillRect l="-12557" t="-102459" r="-15412" b="-9472"/>
            </a:stretch>
          </a:blipFill>
          <a:ln w="104775" cap="sq">
            <a:solidFill>
              <a:srgbClr val="FEC622"/>
            </a:solidFill>
            <a:prstDash val="solid"/>
            <a:miter/>
          </a:ln>
        </p:spPr>
      </p:sp>
      <p:sp>
        <p:nvSpPr>
          <p:cNvPr name="TextBox 5" id="5"/>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FEW-SHOT LEARNING</a:t>
            </a:r>
          </a:p>
        </p:txBody>
      </p:sp>
      <p:sp>
        <p:nvSpPr>
          <p:cNvPr name="TextBox 6" id="6"/>
          <p:cNvSpPr txBox="true"/>
          <p:nvPr/>
        </p:nvSpPr>
        <p:spPr>
          <a:xfrm rot="0">
            <a:off x="1706236" y="2790764"/>
            <a:ext cx="14826452" cy="6590399"/>
          </a:xfrm>
          <a:prstGeom prst="rect">
            <a:avLst/>
          </a:prstGeom>
        </p:spPr>
        <p:txBody>
          <a:bodyPr anchor="t" rtlCol="false" tIns="0" lIns="0" bIns="0" rIns="0">
            <a:spAutoFit/>
          </a:bodyPr>
          <a:lstStyle/>
          <a:p>
            <a:pPr algn="l">
              <a:lnSpc>
                <a:spcPts val="4359"/>
              </a:lnSpc>
            </a:pPr>
            <a:r>
              <a:rPr lang="en-US" sz="2564" b="true">
                <a:solidFill>
                  <a:srgbClr val="000000"/>
                </a:solidFill>
                <a:latin typeface="Montserrat Bold"/>
                <a:ea typeface="Montserrat Bold"/>
                <a:cs typeface="Montserrat Bold"/>
                <a:sym typeface="Montserrat Bold"/>
              </a:rPr>
              <a:t>A</a:t>
            </a:r>
            <a:r>
              <a:rPr lang="en-US" b="true" sz="2564">
                <a:solidFill>
                  <a:srgbClr val="000000"/>
                </a:solidFill>
                <a:latin typeface="Montserrat Bold"/>
                <a:ea typeface="Montserrat Bold"/>
                <a:cs typeface="Montserrat Bold"/>
                <a:sym typeface="Montserrat Bold"/>
              </a:rPr>
              <a:t>dvantages:</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Rapid adaptation to new tasks</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No need for large data</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Minimal resource requirements</a:t>
            </a:r>
          </a:p>
          <a:p>
            <a:pPr algn="l">
              <a:lnSpc>
                <a:spcPts val="4359"/>
              </a:lnSpc>
            </a:pPr>
          </a:p>
          <a:p>
            <a:pPr algn="l">
              <a:lnSpc>
                <a:spcPts val="4359"/>
              </a:lnSpc>
            </a:pPr>
          </a:p>
          <a:p>
            <a:pPr algn="l">
              <a:lnSpc>
                <a:spcPts val="4359"/>
              </a:lnSpc>
            </a:pPr>
            <a:r>
              <a:rPr lang="en-US" b="true" sz="2564">
                <a:solidFill>
                  <a:srgbClr val="000000"/>
                </a:solidFill>
                <a:latin typeface="Montserrat Bold"/>
                <a:ea typeface="Montserrat Bold"/>
                <a:cs typeface="Montserrat Bold"/>
                <a:sym typeface="Montserrat Bold"/>
              </a:rPr>
              <a:t>When is Few-Shot Learning used?</a:t>
            </a:r>
          </a:p>
          <a:p>
            <a:pPr algn="l">
              <a:lnSpc>
                <a:spcPts val="4359"/>
              </a:lnSpc>
            </a:pPr>
            <a:r>
              <a:rPr lang="en-US" sz="2564">
                <a:solidFill>
                  <a:srgbClr val="000000"/>
                </a:solidFill>
                <a:latin typeface="Montserrat"/>
                <a:ea typeface="Montserrat"/>
                <a:cs typeface="Montserrat"/>
                <a:sym typeface="Montserrat"/>
              </a:rPr>
              <a:t>Few-shot learning is particularly useful in scenarios where labeled data is scarce or expensive to obtain. It is well-suited for dynamic and evolving domains - such as natural language processing, where new tasks, categories, or topics frequently emerge. This approach allows models to generalize and adapt quickly to new situations using only a few labeled examples.</a:t>
            </a:r>
          </a:p>
        </p:txBody>
      </p:sp>
      <p:sp>
        <p:nvSpPr>
          <p:cNvPr name="TextBox 7" id="7"/>
          <p:cNvSpPr txBox="true"/>
          <p:nvPr/>
        </p:nvSpPr>
        <p:spPr>
          <a:xfrm rot="0">
            <a:off x="9119462" y="2790764"/>
            <a:ext cx="7565626" cy="3275699"/>
          </a:xfrm>
          <a:prstGeom prst="rect">
            <a:avLst/>
          </a:prstGeom>
        </p:spPr>
        <p:txBody>
          <a:bodyPr anchor="t" rtlCol="false" tIns="0" lIns="0" bIns="0" rIns="0">
            <a:spAutoFit/>
          </a:bodyPr>
          <a:lstStyle/>
          <a:p>
            <a:pPr algn="l">
              <a:lnSpc>
                <a:spcPts val="4359"/>
              </a:lnSpc>
            </a:pPr>
            <a:r>
              <a:rPr lang="en-US" sz="2564" b="true">
                <a:solidFill>
                  <a:srgbClr val="000000"/>
                </a:solidFill>
                <a:latin typeface="Montserrat Bold"/>
                <a:ea typeface="Montserrat Bold"/>
                <a:cs typeface="Montserrat Bold"/>
                <a:sym typeface="Montserrat Bold"/>
              </a:rPr>
              <a:t>Disadvantages:</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Lack of explainability</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May struggle with highly complex tasks</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Performance can degrade if the few examples provided are not diverse or representative.</a:t>
            </a:r>
          </a:p>
        </p:txBody>
      </p:sp>
      <p:sp>
        <p:nvSpPr>
          <p:cNvPr name="Freeform 8" id="8"/>
          <p:cNvSpPr/>
          <p:nvPr/>
        </p:nvSpPr>
        <p:spPr>
          <a:xfrm flipH="false" flipV="false" rot="0">
            <a:off x="7431278" y="2771714"/>
            <a:ext cx="674439" cy="674439"/>
          </a:xfrm>
          <a:custGeom>
            <a:avLst/>
            <a:gdLst/>
            <a:ahLst/>
            <a:cxnLst/>
            <a:rect r="r" b="b" t="t" l="l"/>
            <a:pathLst>
              <a:path h="674439" w="674439">
                <a:moveTo>
                  <a:pt x="0" y="0"/>
                </a:moveTo>
                <a:lnTo>
                  <a:pt x="674439" y="0"/>
                </a:lnTo>
                <a:lnTo>
                  <a:pt x="674439" y="674439"/>
                </a:lnTo>
                <a:lnTo>
                  <a:pt x="0" y="6744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555851" y="2771714"/>
            <a:ext cx="668167" cy="774686"/>
          </a:xfrm>
          <a:custGeom>
            <a:avLst/>
            <a:gdLst/>
            <a:ahLst/>
            <a:cxnLst/>
            <a:rect r="r" b="b" t="t" l="l"/>
            <a:pathLst>
              <a:path h="774686" w="668167">
                <a:moveTo>
                  <a:pt x="0" y="0"/>
                </a:moveTo>
                <a:lnTo>
                  <a:pt x="668167" y="0"/>
                </a:lnTo>
                <a:lnTo>
                  <a:pt x="668167" y="774686"/>
                </a:lnTo>
                <a:lnTo>
                  <a:pt x="0" y="7746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376484" y="2554208"/>
            <a:ext cx="15535033" cy="7187734"/>
          </a:xfrm>
          <a:custGeom>
            <a:avLst/>
            <a:gdLst/>
            <a:ahLst/>
            <a:cxnLst/>
            <a:rect r="r" b="b" t="t" l="l"/>
            <a:pathLst>
              <a:path h="7187734" w="15535033">
                <a:moveTo>
                  <a:pt x="0" y="0"/>
                </a:moveTo>
                <a:lnTo>
                  <a:pt x="15535032" y="0"/>
                </a:lnTo>
                <a:lnTo>
                  <a:pt x="15535032" y="7187734"/>
                </a:lnTo>
                <a:lnTo>
                  <a:pt x="0" y="7187734"/>
                </a:lnTo>
                <a:lnTo>
                  <a:pt x="0" y="0"/>
                </a:lnTo>
                <a:close/>
              </a:path>
            </a:pathLst>
          </a:custGeom>
          <a:blipFill>
            <a:blip r:embed="rId6">
              <a:extLst>
                <a:ext uri="{96DAC541-7B7A-43D3-8B79-37D633B846F1}">
                  <asvg:svgBlip xmlns:asvg="http://schemas.microsoft.com/office/drawing/2016/SVG/main" r:embed="rId7"/>
                </a:ext>
              </a:extLst>
            </a:blip>
            <a:stretch>
              <a:fillRect l="-12557" t="-102459" r="-15412" b="-9472"/>
            </a:stretch>
          </a:blipFill>
          <a:ln w="104775" cap="sq">
            <a:solidFill>
              <a:srgbClr val="FEC622"/>
            </a:solidFill>
            <a:prstDash val="solid"/>
            <a:miter/>
          </a:ln>
        </p:spPr>
      </p:sp>
      <p:sp>
        <p:nvSpPr>
          <p:cNvPr name="Freeform 5" id="5"/>
          <p:cNvSpPr/>
          <p:nvPr/>
        </p:nvSpPr>
        <p:spPr>
          <a:xfrm flipH="false" flipV="false" rot="0">
            <a:off x="1430592" y="3014090"/>
            <a:ext cx="15388716" cy="6405553"/>
          </a:xfrm>
          <a:custGeom>
            <a:avLst/>
            <a:gdLst/>
            <a:ahLst/>
            <a:cxnLst/>
            <a:rect r="r" b="b" t="t" l="l"/>
            <a:pathLst>
              <a:path h="6405553" w="15388716">
                <a:moveTo>
                  <a:pt x="0" y="0"/>
                </a:moveTo>
                <a:lnTo>
                  <a:pt x="15388716" y="0"/>
                </a:lnTo>
                <a:lnTo>
                  <a:pt x="15388716" y="6405553"/>
                </a:lnTo>
                <a:lnTo>
                  <a:pt x="0" y="6405553"/>
                </a:lnTo>
                <a:lnTo>
                  <a:pt x="0" y="0"/>
                </a:lnTo>
                <a:close/>
              </a:path>
            </a:pathLst>
          </a:custGeom>
          <a:blipFill>
            <a:blip r:embed="rId8"/>
            <a:stretch>
              <a:fillRect l="0" t="0" r="0" b="0"/>
            </a:stretch>
          </a:blipFill>
        </p:spPr>
      </p:sp>
      <p:sp>
        <p:nvSpPr>
          <p:cNvPr name="TextBox 6" id="6"/>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FEW-SHOT LEARNING - PROCESS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TextBox 4" id="4"/>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FEW-SHOT LEARNING - EVALUATION</a:t>
            </a:r>
          </a:p>
        </p:txBody>
      </p:sp>
      <p:grpSp>
        <p:nvGrpSpPr>
          <p:cNvPr name="Group 5" id="5"/>
          <p:cNvGrpSpPr/>
          <p:nvPr/>
        </p:nvGrpSpPr>
        <p:grpSpPr>
          <a:xfrm rot="0">
            <a:off x="468213" y="2883950"/>
            <a:ext cx="7540452" cy="6068080"/>
            <a:chOff x="0" y="0"/>
            <a:chExt cx="10053936" cy="8090773"/>
          </a:xfrm>
        </p:grpSpPr>
        <p:sp>
          <p:nvSpPr>
            <p:cNvPr name="Freeform 6" id="6"/>
            <p:cNvSpPr/>
            <p:nvPr/>
          </p:nvSpPr>
          <p:spPr>
            <a:xfrm flipH="false" flipV="false" rot="0">
              <a:off x="0" y="-578930"/>
              <a:ext cx="7440874" cy="10063851"/>
            </a:xfrm>
            <a:custGeom>
              <a:avLst/>
              <a:gdLst/>
              <a:ahLst/>
              <a:cxnLst/>
              <a:rect r="r" b="b" t="t" l="l"/>
              <a:pathLst>
                <a:path h="10063851" w="7440874">
                  <a:moveTo>
                    <a:pt x="0" y="0"/>
                  </a:moveTo>
                  <a:lnTo>
                    <a:pt x="7440874" y="0"/>
                  </a:lnTo>
                  <a:lnTo>
                    <a:pt x="7440874" y="10063851"/>
                  </a:lnTo>
                  <a:lnTo>
                    <a:pt x="0" y="10063851"/>
                  </a:lnTo>
                  <a:lnTo>
                    <a:pt x="0" y="0"/>
                  </a:lnTo>
                  <a:close/>
                </a:path>
              </a:pathLst>
            </a:custGeom>
            <a:blipFill>
              <a:blip r:embed="rId6">
                <a:extLst>
                  <a:ext uri="{96DAC541-7B7A-43D3-8B79-37D633B846F1}">
                    <asvg:svgBlip xmlns:asvg="http://schemas.microsoft.com/office/drawing/2016/SVG/main" r:embed="rId7"/>
                  </a:ext>
                </a:extLst>
              </a:blip>
              <a:stretch>
                <a:fillRect l="-49859" t="-28239" r="-131599" b="-31217"/>
              </a:stretch>
            </a:blipFill>
            <a:ln w="76200" cap="sq">
              <a:solidFill>
                <a:srgbClr val="FEC622"/>
              </a:solidFill>
              <a:prstDash val="solid"/>
              <a:miter/>
            </a:ln>
          </p:spPr>
        </p:sp>
        <p:sp>
          <p:nvSpPr>
            <p:cNvPr name="TextBox 7" id="7"/>
            <p:cNvSpPr txBox="true"/>
            <p:nvPr/>
          </p:nvSpPr>
          <p:spPr>
            <a:xfrm rot="0">
              <a:off x="469141" y="603932"/>
              <a:ext cx="6243596" cy="654081"/>
            </a:xfrm>
            <a:prstGeom prst="rect">
              <a:avLst/>
            </a:prstGeom>
          </p:spPr>
          <p:txBody>
            <a:bodyPr anchor="t" rtlCol="false" tIns="0" lIns="0" bIns="0" rIns="0">
              <a:spAutoFit/>
            </a:bodyPr>
            <a:lstStyle/>
            <a:p>
              <a:pPr algn="l">
                <a:lnSpc>
                  <a:spcPts val="4112"/>
                </a:lnSpc>
                <a:spcBef>
                  <a:spcPct val="0"/>
                </a:spcBef>
              </a:pPr>
              <a:r>
                <a:rPr lang="en-US" b="true" sz="2937">
                  <a:solidFill>
                    <a:srgbClr val="000000"/>
                  </a:solidFill>
                  <a:latin typeface="Montserrat Bold"/>
                  <a:ea typeface="Montserrat Bold"/>
                  <a:cs typeface="Montserrat Bold"/>
                  <a:sym typeface="Montserrat Bold"/>
                </a:rPr>
                <a:t>Title</a:t>
              </a:r>
            </a:p>
          </p:txBody>
        </p:sp>
      </p:grpSp>
      <p:graphicFrame>
        <p:nvGraphicFramePr>
          <p:cNvPr name="Table 8" id="8"/>
          <p:cNvGraphicFramePr>
            <a:graphicFrameLocks noGrp="true"/>
          </p:cNvGraphicFramePr>
          <p:nvPr/>
        </p:nvGraphicFramePr>
        <p:xfrm>
          <a:off x="829801" y="3932027"/>
          <a:ext cx="4352146" cy="5020002"/>
        </p:xfrm>
        <a:graphic>
          <a:graphicData uri="http://schemas.openxmlformats.org/drawingml/2006/table">
            <a:tbl>
              <a:tblPr/>
              <a:tblGrid>
                <a:gridCol w="2176073"/>
                <a:gridCol w="2176073"/>
              </a:tblGrid>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b="true">
                          <a:solidFill>
                            <a:srgbClr val="41B93C"/>
                          </a:solidFill>
                          <a:latin typeface="Montserrat Bold"/>
                          <a:ea typeface="Montserrat Bold"/>
                          <a:cs typeface="Montserrat Bold"/>
                          <a:sym typeface="Montserrat Bold"/>
                        </a:rPr>
                        <a:t>0.77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Precision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0.72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Recall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b="true">
                          <a:solidFill>
                            <a:srgbClr val="41B93C"/>
                          </a:solidFill>
                          <a:latin typeface="Montserrat Bold"/>
                          <a:ea typeface="Montserrat Bold"/>
                          <a:cs typeface="Montserrat Bold"/>
                          <a:sym typeface="Montserrat Bold"/>
                        </a:rPr>
                        <a:t>0.78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F1 Score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b="true">
                          <a:solidFill>
                            <a:srgbClr val="41B93C"/>
                          </a:solidFill>
                          <a:latin typeface="Montserrat Bold"/>
                          <a:ea typeface="Montserrat Bold"/>
                          <a:cs typeface="Montserrat Bold"/>
                          <a:sym typeface="Montserrat Bold"/>
                        </a:rPr>
                        <a:t>0.75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FPR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0.24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grpSp>
        <p:nvGrpSpPr>
          <p:cNvPr name="Group 9" id="9"/>
          <p:cNvGrpSpPr/>
          <p:nvPr/>
        </p:nvGrpSpPr>
        <p:grpSpPr>
          <a:xfrm rot="0">
            <a:off x="6387626" y="2883950"/>
            <a:ext cx="7540452" cy="6068080"/>
            <a:chOff x="0" y="0"/>
            <a:chExt cx="10053936" cy="8090773"/>
          </a:xfrm>
        </p:grpSpPr>
        <p:sp>
          <p:nvSpPr>
            <p:cNvPr name="Freeform 10" id="10"/>
            <p:cNvSpPr/>
            <p:nvPr/>
          </p:nvSpPr>
          <p:spPr>
            <a:xfrm flipH="false" flipV="false" rot="0">
              <a:off x="0" y="-578930"/>
              <a:ext cx="7440874" cy="10063851"/>
            </a:xfrm>
            <a:custGeom>
              <a:avLst/>
              <a:gdLst/>
              <a:ahLst/>
              <a:cxnLst/>
              <a:rect r="r" b="b" t="t" l="l"/>
              <a:pathLst>
                <a:path h="10063851" w="7440874">
                  <a:moveTo>
                    <a:pt x="0" y="0"/>
                  </a:moveTo>
                  <a:lnTo>
                    <a:pt x="7440874" y="0"/>
                  </a:lnTo>
                  <a:lnTo>
                    <a:pt x="7440874" y="10063851"/>
                  </a:lnTo>
                  <a:lnTo>
                    <a:pt x="0" y="10063851"/>
                  </a:lnTo>
                  <a:lnTo>
                    <a:pt x="0" y="0"/>
                  </a:lnTo>
                  <a:close/>
                </a:path>
              </a:pathLst>
            </a:custGeom>
            <a:blipFill>
              <a:blip r:embed="rId6">
                <a:extLst>
                  <a:ext uri="{96DAC541-7B7A-43D3-8B79-37D633B846F1}">
                    <asvg:svgBlip xmlns:asvg="http://schemas.microsoft.com/office/drawing/2016/SVG/main" r:embed="rId7"/>
                  </a:ext>
                </a:extLst>
              </a:blip>
              <a:stretch>
                <a:fillRect l="-49859" t="-28239" r="-131599" b="-31217"/>
              </a:stretch>
            </a:blipFill>
            <a:ln w="76200" cap="sq">
              <a:solidFill>
                <a:srgbClr val="FEC622"/>
              </a:solidFill>
              <a:prstDash val="solid"/>
              <a:miter/>
            </a:ln>
          </p:spPr>
        </p:sp>
        <p:sp>
          <p:nvSpPr>
            <p:cNvPr name="TextBox 11" id="11"/>
            <p:cNvSpPr txBox="true"/>
            <p:nvPr/>
          </p:nvSpPr>
          <p:spPr>
            <a:xfrm rot="0">
              <a:off x="469141" y="603932"/>
              <a:ext cx="6243596" cy="654081"/>
            </a:xfrm>
            <a:prstGeom prst="rect">
              <a:avLst/>
            </a:prstGeom>
          </p:spPr>
          <p:txBody>
            <a:bodyPr anchor="t" rtlCol="false" tIns="0" lIns="0" bIns="0" rIns="0">
              <a:spAutoFit/>
            </a:bodyPr>
            <a:lstStyle/>
            <a:p>
              <a:pPr algn="l">
                <a:lnSpc>
                  <a:spcPts val="4112"/>
                </a:lnSpc>
                <a:spcBef>
                  <a:spcPct val="0"/>
                </a:spcBef>
              </a:pPr>
              <a:r>
                <a:rPr lang="en-US" b="true" sz="2937">
                  <a:solidFill>
                    <a:srgbClr val="000000"/>
                  </a:solidFill>
                  <a:latin typeface="Montserrat Bold"/>
                  <a:ea typeface="Montserrat Bold"/>
                  <a:cs typeface="Montserrat Bold"/>
                  <a:sym typeface="Montserrat Bold"/>
                </a:rPr>
                <a:t>Text</a:t>
              </a:r>
            </a:p>
          </p:txBody>
        </p:sp>
      </p:grpSp>
      <p:grpSp>
        <p:nvGrpSpPr>
          <p:cNvPr name="Group 12" id="12"/>
          <p:cNvGrpSpPr/>
          <p:nvPr/>
        </p:nvGrpSpPr>
        <p:grpSpPr>
          <a:xfrm rot="0">
            <a:off x="12303212" y="2883950"/>
            <a:ext cx="7540452" cy="6068080"/>
            <a:chOff x="0" y="0"/>
            <a:chExt cx="10053936" cy="8090773"/>
          </a:xfrm>
        </p:grpSpPr>
        <p:sp>
          <p:nvSpPr>
            <p:cNvPr name="Freeform 13" id="13"/>
            <p:cNvSpPr/>
            <p:nvPr/>
          </p:nvSpPr>
          <p:spPr>
            <a:xfrm flipH="false" flipV="false" rot="0">
              <a:off x="0" y="-578930"/>
              <a:ext cx="7440874" cy="10063851"/>
            </a:xfrm>
            <a:custGeom>
              <a:avLst/>
              <a:gdLst/>
              <a:ahLst/>
              <a:cxnLst/>
              <a:rect r="r" b="b" t="t" l="l"/>
              <a:pathLst>
                <a:path h="10063851" w="7440874">
                  <a:moveTo>
                    <a:pt x="0" y="0"/>
                  </a:moveTo>
                  <a:lnTo>
                    <a:pt x="7440874" y="0"/>
                  </a:lnTo>
                  <a:lnTo>
                    <a:pt x="7440874" y="10063851"/>
                  </a:lnTo>
                  <a:lnTo>
                    <a:pt x="0" y="10063851"/>
                  </a:lnTo>
                  <a:lnTo>
                    <a:pt x="0" y="0"/>
                  </a:lnTo>
                  <a:close/>
                </a:path>
              </a:pathLst>
            </a:custGeom>
            <a:blipFill>
              <a:blip r:embed="rId6">
                <a:extLst>
                  <a:ext uri="{96DAC541-7B7A-43D3-8B79-37D633B846F1}">
                    <asvg:svgBlip xmlns:asvg="http://schemas.microsoft.com/office/drawing/2016/SVG/main" r:embed="rId7"/>
                  </a:ext>
                </a:extLst>
              </a:blip>
              <a:stretch>
                <a:fillRect l="-49859" t="-28239" r="-131599" b="-31217"/>
              </a:stretch>
            </a:blipFill>
            <a:ln w="76200" cap="sq">
              <a:solidFill>
                <a:srgbClr val="FEC622"/>
              </a:solidFill>
              <a:prstDash val="solid"/>
              <a:miter/>
            </a:ln>
          </p:spPr>
        </p:sp>
        <p:sp>
          <p:nvSpPr>
            <p:cNvPr name="TextBox 14" id="14"/>
            <p:cNvSpPr txBox="true"/>
            <p:nvPr/>
          </p:nvSpPr>
          <p:spPr>
            <a:xfrm rot="0">
              <a:off x="469141" y="603932"/>
              <a:ext cx="6243596" cy="654081"/>
            </a:xfrm>
            <a:prstGeom prst="rect">
              <a:avLst/>
            </a:prstGeom>
          </p:spPr>
          <p:txBody>
            <a:bodyPr anchor="t" rtlCol="false" tIns="0" lIns="0" bIns="0" rIns="0">
              <a:spAutoFit/>
            </a:bodyPr>
            <a:lstStyle/>
            <a:p>
              <a:pPr algn="l">
                <a:lnSpc>
                  <a:spcPts val="4112"/>
                </a:lnSpc>
                <a:spcBef>
                  <a:spcPct val="0"/>
                </a:spcBef>
              </a:pPr>
              <a:r>
                <a:rPr lang="en-US" b="true" sz="2937">
                  <a:solidFill>
                    <a:srgbClr val="000000"/>
                  </a:solidFill>
                  <a:latin typeface="Montserrat Bold"/>
                  <a:ea typeface="Montserrat Bold"/>
                  <a:cs typeface="Montserrat Bold"/>
                  <a:sym typeface="Montserrat Bold"/>
                </a:rPr>
                <a:t>Title</a:t>
              </a:r>
              <a:r>
                <a:rPr lang="en-US" b="true" sz="2937">
                  <a:solidFill>
                    <a:srgbClr val="000000"/>
                  </a:solidFill>
                  <a:latin typeface="Montserrat Bold"/>
                  <a:ea typeface="Montserrat Bold"/>
                  <a:cs typeface="Montserrat Bold"/>
                  <a:sym typeface="Montserrat Bold"/>
                </a:rPr>
                <a:t> &amp; Text</a:t>
              </a:r>
            </a:p>
          </p:txBody>
        </p:sp>
      </p:grpSp>
      <p:graphicFrame>
        <p:nvGraphicFramePr>
          <p:cNvPr name="Table 15" id="15"/>
          <p:cNvGraphicFramePr>
            <a:graphicFrameLocks noGrp="true"/>
          </p:cNvGraphicFramePr>
          <p:nvPr/>
        </p:nvGraphicFramePr>
        <p:xfrm>
          <a:off x="6751393" y="3932027"/>
          <a:ext cx="4352146" cy="5020002"/>
        </p:xfrm>
        <a:graphic>
          <a:graphicData uri="http://schemas.openxmlformats.org/drawingml/2006/table">
            <a:tbl>
              <a:tblPr/>
              <a:tblGrid>
                <a:gridCol w="2176073"/>
                <a:gridCol w="2176073"/>
              </a:tblGrid>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0.67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Precision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0.82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Recall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0.32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F1 Score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0.47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FPR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0.055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graphicFrame>
        <p:nvGraphicFramePr>
          <p:cNvPr name="Table 16" id="16"/>
          <p:cNvGraphicFramePr>
            <a:graphicFrameLocks noGrp="true"/>
          </p:cNvGraphicFramePr>
          <p:nvPr/>
        </p:nvGraphicFramePr>
        <p:xfrm>
          <a:off x="12675164" y="3932027"/>
          <a:ext cx="4352146" cy="5020002"/>
        </p:xfrm>
        <a:graphic>
          <a:graphicData uri="http://schemas.openxmlformats.org/drawingml/2006/table">
            <a:tbl>
              <a:tblPr/>
              <a:tblGrid>
                <a:gridCol w="2176073"/>
                <a:gridCol w="2176073"/>
              </a:tblGrid>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0.75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Precision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b="true">
                          <a:solidFill>
                            <a:srgbClr val="41B93C"/>
                          </a:solidFill>
                          <a:latin typeface="Montserrat Bold"/>
                          <a:ea typeface="Montserrat Bold"/>
                          <a:cs typeface="Montserrat Bold"/>
                          <a:sym typeface="Montserrat Bold"/>
                        </a:rPr>
                        <a:t>0.91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Recall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0.475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F1 Score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0.62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04000">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FPR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b="true">
                          <a:solidFill>
                            <a:srgbClr val="41B93C"/>
                          </a:solidFill>
                          <a:latin typeface="Montserrat Bold"/>
                          <a:ea typeface="Montserrat Bold"/>
                          <a:cs typeface="Montserrat Bold"/>
                          <a:sym typeface="Montserrat Bold"/>
                        </a:rPr>
                        <a:t>0.038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TextBox 4" id="4"/>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FEW-SHOT LEARNING - EVALUATION</a:t>
            </a:r>
          </a:p>
        </p:txBody>
      </p:sp>
      <p:grpSp>
        <p:nvGrpSpPr>
          <p:cNvPr name="Group 5" id="5"/>
          <p:cNvGrpSpPr/>
          <p:nvPr/>
        </p:nvGrpSpPr>
        <p:grpSpPr>
          <a:xfrm rot="0">
            <a:off x="2087616" y="2295607"/>
            <a:ext cx="7560666" cy="7728239"/>
            <a:chOff x="0" y="0"/>
            <a:chExt cx="10080888" cy="10304318"/>
          </a:xfrm>
        </p:grpSpPr>
        <p:sp>
          <p:nvSpPr>
            <p:cNvPr name="Freeform 6" id="6"/>
            <p:cNvSpPr/>
            <p:nvPr/>
          </p:nvSpPr>
          <p:spPr>
            <a:xfrm flipH="false" flipV="false" rot="0">
              <a:off x="0" y="0"/>
              <a:ext cx="10080888" cy="10304318"/>
            </a:xfrm>
            <a:custGeom>
              <a:avLst/>
              <a:gdLst/>
              <a:ahLst/>
              <a:cxnLst/>
              <a:rect r="r" b="b" t="t" l="l"/>
              <a:pathLst>
                <a:path h="10304318" w="10080888">
                  <a:moveTo>
                    <a:pt x="0" y="0"/>
                  </a:moveTo>
                  <a:lnTo>
                    <a:pt x="10080888" y="0"/>
                  </a:lnTo>
                  <a:lnTo>
                    <a:pt x="10080888" y="10304318"/>
                  </a:lnTo>
                  <a:lnTo>
                    <a:pt x="0" y="10304318"/>
                  </a:lnTo>
                  <a:lnTo>
                    <a:pt x="0" y="0"/>
                  </a:lnTo>
                  <a:close/>
                </a:path>
              </a:pathLst>
            </a:custGeom>
            <a:blipFill>
              <a:blip r:embed="rId6">
                <a:extLst>
                  <a:ext uri="{96DAC541-7B7A-43D3-8B79-37D633B846F1}">
                    <asvg:svgBlip xmlns:asvg="http://schemas.microsoft.com/office/drawing/2016/SVG/main" r:embed="rId7"/>
                  </a:ext>
                </a:extLst>
              </a:blip>
              <a:stretch>
                <a:fillRect l="-36801" t="-27580" r="-70947" b="-28155"/>
              </a:stretch>
            </a:blipFill>
            <a:ln w="66675" cap="sq">
              <a:solidFill>
                <a:srgbClr val="FEC622"/>
              </a:solidFill>
              <a:prstDash val="solid"/>
              <a:miter/>
            </a:ln>
          </p:spPr>
        </p:sp>
        <p:sp>
          <p:nvSpPr>
            <p:cNvPr name="TextBox 7" id="7"/>
            <p:cNvSpPr txBox="true"/>
            <p:nvPr/>
          </p:nvSpPr>
          <p:spPr>
            <a:xfrm rot="0">
              <a:off x="701107" y="256923"/>
              <a:ext cx="8678675" cy="9733323"/>
            </a:xfrm>
            <a:prstGeom prst="rect">
              <a:avLst/>
            </a:prstGeom>
          </p:spPr>
          <p:txBody>
            <a:bodyPr anchor="t" rtlCol="false" tIns="0" lIns="0" bIns="0" rIns="0">
              <a:spAutoFit/>
            </a:bodyPr>
            <a:lstStyle/>
            <a:p>
              <a:pPr algn="l">
                <a:lnSpc>
                  <a:spcPts val="3612"/>
                </a:lnSpc>
                <a:spcBef>
                  <a:spcPct val="0"/>
                </a:spcBef>
              </a:pPr>
              <a:r>
                <a:rPr lang="en-US" sz="2580">
                  <a:solidFill>
                    <a:srgbClr val="000000"/>
                  </a:solidFill>
                  <a:latin typeface="Montserrat"/>
                  <a:ea typeface="Montserrat"/>
                  <a:cs typeface="Montserrat"/>
                  <a:sym typeface="Montserrat"/>
                </a:rPr>
                <a:t>It s easy to blame the  White man that way, you don t have to be accountable for your actions I lived in Oakland [CA] all my life, and the people that robbed my mama at gun-point, when she was just a hard-working immigrant trying to get ahead honestly, it wasn t  White, right-wing extremists,  it was black and brown people. Why don t you cheat on your wife and blame her for it? My hardworking mom was not robbed by "White Right wingers."My dead friends were not shot by "White Right wingers" pic.twitter.com/RqyeWnShpu  Oak-Town Unfiltered  (@hrtablaze) August 30, 2016</a:t>
              </a:r>
            </a:p>
          </p:txBody>
        </p:sp>
      </p:grpSp>
      <p:grpSp>
        <p:nvGrpSpPr>
          <p:cNvPr name="Group 8" id="8"/>
          <p:cNvGrpSpPr/>
          <p:nvPr/>
        </p:nvGrpSpPr>
        <p:grpSpPr>
          <a:xfrm rot="0">
            <a:off x="10099996" y="7228241"/>
            <a:ext cx="5834942" cy="2795605"/>
            <a:chOff x="0" y="0"/>
            <a:chExt cx="7779923" cy="3727473"/>
          </a:xfrm>
        </p:grpSpPr>
        <p:sp>
          <p:nvSpPr>
            <p:cNvPr name="Freeform 9" id="9"/>
            <p:cNvSpPr/>
            <p:nvPr/>
          </p:nvSpPr>
          <p:spPr>
            <a:xfrm flipH="false" flipV="false" rot="0">
              <a:off x="0" y="0"/>
              <a:ext cx="7779923" cy="3727473"/>
            </a:xfrm>
            <a:custGeom>
              <a:avLst/>
              <a:gdLst/>
              <a:ahLst/>
              <a:cxnLst/>
              <a:rect r="r" b="b" t="t" l="l"/>
              <a:pathLst>
                <a:path h="3727473" w="7779923">
                  <a:moveTo>
                    <a:pt x="0" y="0"/>
                  </a:moveTo>
                  <a:lnTo>
                    <a:pt x="7779923" y="0"/>
                  </a:lnTo>
                  <a:lnTo>
                    <a:pt x="7779923" y="3727473"/>
                  </a:lnTo>
                  <a:lnTo>
                    <a:pt x="0" y="3727473"/>
                  </a:lnTo>
                  <a:lnTo>
                    <a:pt x="0" y="0"/>
                  </a:lnTo>
                  <a:close/>
                </a:path>
              </a:pathLst>
            </a:custGeom>
            <a:blipFill>
              <a:blip r:embed="rId6">
                <a:extLst>
                  <a:ext uri="{96DAC541-7B7A-43D3-8B79-37D633B846F1}">
                    <asvg:svgBlip xmlns:asvg="http://schemas.microsoft.com/office/drawing/2016/SVG/main" r:embed="rId7"/>
                  </a:ext>
                </a:extLst>
              </a:blip>
              <a:stretch>
                <a:fillRect l="-47686" t="-76244" r="-121506" b="-254276"/>
              </a:stretch>
            </a:blipFill>
            <a:ln w="66675" cap="sq">
              <a:solidFill>
                <a:srgbClr val="FEC622"/>
              </a:solidFill>
              <a:prstDash val="solid"/>
              <a:miter/>
            </a:ln>
          </p:spPr>
        </p:sp>
        <p:sp>
          <p:nvSpPr>
            <p:cNvPr name="TextBox 10" id="10"/>
            <p:cNvSpPr txBox="true"/>
            <p:nvPr/>
          </p:nvSpPr>
          <p:spPr>
            <a:xfrm rot="0">
              <a:off x="634304" y="260844"/>
              <a:ext cx="6315025" cy="3133873"/>
            </a:xfrm>
            <a:prstGeom prst="rect">
              <a:avLst/>
            </a:prstGeom>
          </p:spPr>
          <p:txBody>
            <a:bodyPr anchor="t" rtlCol="false" tIns="0" lIns="0" bIns="0" rIns="0">
              <a:spAutoFit/>
            </a:bodyPr>
            <a:lstStyle/>
            <a:p>
              <a:pPr algn="l">
                <a:lnSpc>
                  <a:spcPts val="6300"/>
                </a:lnSpc>
              </a:pPr>
              <a:r>
                <a:rPr lang="en-US" sz="4500" b="true">
                  <a:solidFill>
                    <a:srgbClr val="000000"/>
                  </a:solidFill>
                  <a:latin typeface="Montserrat Bold"/>
                  <a:ea typeface="Montserrat Bold"/>
                  <a:cs typeface="Montserrat Bold"/>
                  <a:sym typeface="Montserrat Bold"/>
                </a:rPr>
                <a:t>Label:</a:t>
              </a:r>
              <a:r>
                <a:rPr lang="en-US" sz="4500">
                  <a:solidFill>
                    <a:srgbClr val="000000"/>
                  </a:solidFill>
                  <a:latin typeface="Montserrat"/>
                  <a:ea typeface="Montserrat"/>
                  <a:cs typeface="Montserrat"/>
                  <a:sym typeface="Montserrat"/>
                </a:rPr>
                <a:t> FAKE</a:t>
              </a:r>
            </a:p>
            <a:p>
              <a:pPr algn="l">
                <a:lnSpc>
                  <a:spcPts val="6300"/>
                </a:lnSpc>
              </a:pPr>
              <a:r>
                <a:rPr lang="en-US" sz="4500" b="true">
                  <a:solidFill>
                    <a:srgbClr val="000000"/>
                  </a:solidFill>
                  <a:latin typeface="Montserrat Bold"/>
                  <a:ea typeface="Montserrat Bold"/>
                  <a:cs typeface="Montserrat Bold"/>
                  <a:sym typeface="Montserrat Bold"/>
                </a:rPr>
                <a:t>LLaMA 3.1:</a:t>
              </a:r>
              <a:r>
                <a:rPr lang="en-US" sz="4500">
                  <a:solidFill>
                    <a:srgbClr val="000000"/>
                  </a:solidFill>
                  <a:latin typeface="Montserrat"/>
                  <a:ea typeface="Montserrat"/>
                  <a:cs typeface="Montserrat"/>
                  <a:sym typeface="Montserrat"/>
                </a:rPr>
                <a:t> REAL</a:t>
              </a:r>
            </a:p>
            <a:p>
              <a:pPr algn="l">
                <a:lnSpc>
                  <a:spcPts val="6300"/>
                </a:lnSpc>
                <a:spcBef>
                  <a:spcPct val="0"/>
                </a:spcBef>
              </a:pPr>
              <a:r>
                <a:rPr lang="en-US" b="true" sz="4500">
                  <a:solidFill>
                    <a:srgbClr val="000000"/>
                  </a:solidFill>
                  <a:latin typeface="Montserrat Bold"/>
                  <a:ea typeface="Montserrat Bold"/>
                  <a:cs typeface="Montserrat Bold"/>
                  <a:sym typeface="Montserrat Bold"/>
                </a:rPr>
                <a:t>OpenAI:</a:t>
              </a:r>
              <a:r>
                <a:rPr lang="en-US" sz="4500">
                  <a:solidFill>
                    <a:srgbClr val="000000"/>
                  </a:solidFill>
                  <a:latin typeface="Montserrat"/>
                  <a:ea typeface="Montserrat"/>
                  <a:cs typeface="Montserrat"/>
                  <a:sym typeface="Montserrat"/>
                </a:rPr>
                <a:t> FAKE</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TextBox 4" id="4"/>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FEW-SHOT LEARNING - EVALUATION</a:t>
            </a:r>
          </a:p>
        </p:txBody>
      </p:sp>
      <p:grpSp>
        <p:nvGrpSpPr>
          <p:cNvPr name="Group 5" id="5"/>
          <p:cNvGrpSpPr/>
          <p:nvPr/>
        </p:nvGrpSpPr>
        <p:grpSpPr>
          <a:xfrm rot="0">
            <a:off x="1099286" y="2574236"/>
            <a:ext cx="9707657" cy="7291076"/>
            <a:chOff x="0" y="0"/>
            <a:chExt cx="12943543" cy="9721435"/>
          </a:xfrm>
        </p:grpSpPr>
        <p:sp>
          <p:nvSpPr>
            <p:cNvPr name="Freeform 6" id="6"/>
            <p:cNvSpPr/>
            <p:nvPr/>
          </p:nvSpPr>
          <p:spPr>
            <a:xfrm flipH="false" flipV="false" rot="0">
              <a:off x="0" y="0"/>
              <a:ext cx="12943543" cy="9721435"/>
            </a:xfrm>
            <a:custGeom>
              <a:avLst/>
              <a:gdLst/>
              <a:ahLst/>
              <a:cxnLst/>
              <a:rect r="r" b="b" t="t" l="l"/>
              <a:pathLst>
                <a:path h="9721435" w="12943543">
                  <a:moveTo>
                    <a:pt x="0" y="0"/>
                  </a:moveTo>
                  <a:lnTo>
                    <a:pt x="12943543" y="0"/>
                  </a:lnTo>
                  <a:lnTo>
                    <a:pt x="12943543" y="9721435"/>
                  </a:lnTo>
                  <a:lnTo>
                    <a:pt x="0" y="9721435"/>
                  </a:lnTo>
                  <a:lnTo>
                    <a:pt x="0" y="0"/>
                  </a:lnTo>
                  <a:close/>
                </a:path>
              </a:pathLst>
            </a:custGeom>
            <a:blipFill>
              <a:blip r:embed="rId6">
                <a:extLst>
                  <a:ext uri="{96DAC541-7B7A-43D3-8B79-37D633B846F1}">
                    <asvg:svgBlip xmlns:asvg="http://schemas.microsoft.com/office/drawing/2016/SVG/main" r:embed="rId7"/>
                  </a:ext>
                </a:extLst>
              </a:blip>
              <a:stretch>
                <a:fillRect l="0" t="-10818" r="-19668" b="-11269"/>
              </a:stretch>
            </a:blipFill>
            <a:ln w="66675" cap="sq">
              <a:solidFill>
                <a:srgbClr val="FEC622"/>
              </a:solidFill>
              <a:prstDash val="solid"/>
              <a:miter/>
            </a:ln>
          </p:spPr>
        </p:sp>
        <p:sp>
          <p:nvSpPr>
            <p:cNvPr name="TextBox 7" id="7"/>
            <p:cNvSpPr txBox="true"/>
            <p:nvPr/>
          </p:nvSpPr>
          <p:spPr>
            <a:xfrm rot="0">
              <a:off x="900199" y="488307"/>
              <a:ext cx="11143145" cy="8687670"/>
            </a:xfrm>
            <a:prstGeom prst="rect">
              <a:avLst/>
            </a:prstGeom>
          </p:spPr>
          <p:txBody>
            <a:bodyPr anchor="t" rtlCol="false" tIns="0" lIns="0" bIns="0" rIns="0">
              <a:spAutoFit/>
            </a:bodyPr>
            <a:lstStyle/>
            <a:p>
              <a:pPr algn="l">
                <a:lnSpc>
                  <a:spcPts val="4376"/>
                </a:lnSpc>
                <a:spcBef>
                  <a:spcPct val="0"/>
                </a:spcBef>
              </a:pPr>
              <a:r>
                <a:rPr lang="en-US" sz="3126">
                  <a:solidFill>
                    <a:srgbClr val="000000"/>
                  </a:solidFill>
                  <a:latin typeface="Montserrat"/>
                  <a:ea typeface="Montserrat"/>
                  <a:cs typeface="Montserrat"/>
                  <a:sym typeface="Montserrat"/>
                </a:rPr>
                <a:t>A</a:t>
              </a:r>
              <a:r>
                <a:rPr lang="en-US" sz="3126">
                  <a:solidFill>
                    <a:srgbClr val="000000"/>
                  </a:solidFill>
                  <a:latin typeface="Montserrat"/>
                  <a:ea typeface="Montserrat"/>
                  <a:cs typeface="Montserrat"/>
                  <a:sym typeface="Montserrat"/>
                </a:rPr>
                <a:t> recanvass of Kentucky s Democratic presidential primary results found Hillary Clinton won the contest by 1,911 votes, Kentucky Secretary of State Alison Grimes said on Thursday. Clinton s rival for the party s nomination, Senator Bernie Sanders, had requested a recount in the razor-close contest earlier this week. Grimes, in posts on Twitter, said the results of the recanvass would be certified by the state€™s Board of Elections on May 31.</a:t>
              </a:r>
            </a:p>
          </p:txBody>
        </p:sp>
      </p:grpSp>
      <p:grpSp>
        <p:nvGrpSpPr>
          <p:cNvPr name="Group 8" id="8"/>
          <p:cNvGrpSpPr/>
          <p:nvPr/>
        </p:nvGrpSpPr>
        <p:grpSpPr>
          <a:xfrm rot="0">
            <a:off x="11353772" y="7069707"/>
            <a:ext cx="5834942" cy="2795605"/>
            <a:chOff x="0" y="0"/>
            <a:chExt cx="7779923" cy="3727473"/>
          </a:xfrm>
        </p:grpSpPr>
        <p:sp>
          <p:nvSpPr>
            <p:cNvPr name="Freeform 9" id="9"/>
            <p:cNvSpPr/>
            <p:nvPr/>
          </p:nvSpPr>
          <p:spPr>
            <a:xfrm flipH="false" flipV="false" rot="0">
              <a:off x="0" y="0"/>
              <a:ext cx="7779923" cy="3727473"/>
            </a:xfrm>
            <a:custGeom>
              <a:avLst/>
              <a:gdLst/>
              <a:ahLst/>
              <a:cxnLst/>
              <a:rect r="r" b="b" t="t" l="l"/>
              <a:pathLst>
                <a:path h="3727473" w="7779923">
                  <a:moveTo>
                    <a:pt x="0" y="0"/>
                  </a:moveTo>
                  <a:lnTo>
                    <a:pt x="7779923" y="0"/>
                  </a:lnTo>
                  <a:lnTo>
                    <a:pt x="7779923" y="3727473"/>
                  </a:lnTo>
                  <a:lnTo>
                    <a:pt x="0" y="3727473"/>
                  </a:lnTo>
                  <a:lnTo>
                    <a:pt x="0" y="0"/>
                  </a:lnTo>
                  <a:close/>
                </a:path>
              </a:pathLst>
            </a:custGeom>
            <a:blipFill>
              <a:blip r:embed="rId6">
                <a:extLst>
                  <a:ext uri="{96DAC541-7B7A-43D3-8B79-37D633B846F1}">
                    <asvg:svgBlip xmlns:asvg="http://schemas.microsoft.com/office/drawing/2016/SVG/main" r:embed="rId7"/>
                  </a:ext>
                </a:extLst>
              </a:blip>
              <a:stretch>
                <a:fillRect l="-47686" t="-76244" r="-121506" b="-254276"/>
              </a:stretch>
            </a:blipFill>
            <a:ln w="66675" cap="sq">
              <a:solidFill>
                <a:srgbClr val="FEC622"/>
              </a:solidFill>
              <a:prstDash val="solid"/>
              <a:miter/>
            </a:ln>
          </p:spPr>
        </p:sp>
        <p:sp>
          <p:nvSpPr>
            <p:cNvPr name="TextBox 10" id="10"/>
            <p:cNvSpPr txBox="true"/>
            <p:nvPr/>
          </p:nvSpPr>
          <p:spPr>
            <a:xfrm rot="0">
              <a:off x="634304" y="260844"/>
              <a:ext cx="6315025" cy="3133873"/>
            </a:xfrm>
            <a:prstGeom prst="rect">
              <a:avLst/>
            </a:prstGeom>
          </p:spPr>
          <p:txBody>
            <a:bodyPr anchor="t" rtlCol="false" tIns="0" lIns="0" bIns="0" rIns="0">
              <a:spAutoFit/>
            </a:bodyPr>
            <a:lstStyle/>
            <a:p>
              <a:pPr algn="l">
                <a:lnSpc>
                  <a:spcPts val="6300"/>
                </a:lnSpc>
              </a:pPr>
              <a:r>
                <a:rPr lang="en-US" sz="4500" b="true">
                  <a:solidFill>
                    <a:srgbClr val="000000"/>
                  </a:solidFill>
                  <a:latin typeface="Montserrat Bold"/>
                  <a:ea typeface="Montserrat Bold"/>
                  <a:cs typeface="Montserrat Bold"/>
                  <a:sym typeface="Montserrat Bold"/>
                </a:rPr>
                <a:t>Label:</a:t>
              </a:r>
              <a:r>
                <a:rPr lang="en-US" sz="4500">
                  <a:solidFill>
                    <a:srgbClr val="000000"/>
                  </a:solidFill>
                  <a:latin typeface="Montserrat"/>
                  <a:ea typeface="Montserrat"/>
                  <a:cs typeface="Montserrat"/>
                  <a:sym typeface="Montserrat"/>
                </a:rPr>
                <a:t> REAL</a:t>
              </a:r>
            </a:p>
            <a:p>
              <a:pPr algn="l">
                <a:lnSpc>
                  <a:spcPts val="6300"/>
                </a:lnSpc>
              </a:pPr>
              <a:r>
                <a:rPr lang="en-US" sz="4500" b="true">
                  <a:solidFill>
                    <a:srgbClr val="000000"/>
                  </a:solidFill>
                  <a:latin typeface="Montserrat Bold"/>
                  <a:ea typeface="Montserrat Bold"/>
                  <a:cs typeface="Montserrat Bold"/>
                  <a:sym typeface="Montserrat Bold"/>
                </a:rPr>
                <a:t>LLaMA 3.1:</a:t>
              </a:r>
              <a:r>
                <a:rPr lang="en-US" sz="4500">
                  <a:solidFill>
                    <a:srgbClr val="000000"/>
                  </a:solidFill>
                  <a:latin typeface="Montserrat"/>
                  <a:ea typeface="Montserrat"/>
                  <a:cs typeface="Montserrat"/>
                  <a:sym typeface="Montserrat"/>
                </a:rPr>
                <a:t> FAKE</a:t>
              </a:r>
            </a:p>
            <a:p>
              <a:pPr algn="l">
                <a:lnSpc>
                  <a:spcPts val="6300"/>
                </a:lnSpc>
                <a:spcBef>
                  <a:spcPct val="0"/>
                </a:spcBef>
              </a:pPr>
              <a:r>
                <a:rPr lang="en-US" b="true" sz="4500">
                  <a:solidFill>
                    <a:srgbClr val="000000"/>
                  </a:solidFill>
                  <a:latin typeface="Montserrat Bold"/>
                  <a:ea typeface="Montserrat Bold"/>
                  <a:cs typeface="Montserrat Bold"/>
                  <a:sym typeface="Montserrat Bold"/>
                </a:rPr>
                <a:t>OpenAI:</a:t>
              </a:r>
              <a:r>
                <a:rPr lang="en-US" sz="4500">
                  <a:solidFill>
                    <a:srgbClr val="000000"/>
                  </a:solidFill>
                  <a:latin typeface="Montserrat"/>
                  <a:ea typeface="Montserrat"/>
                  <a:cs typeface="Montserrat"/>
                  <a:sym typeface="Montserrat"/>
                </a:rPr>
                <a:t> REAL</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TextBox 4" id="4"/>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FEW-SHOT LEARNING - EVALUATION</a:t>
            </a:r>
          </a:p>
        </p:txBody>
      </p:sp>
      <p:grpSp>
        <p:nvGrpSpPr>
          <p:cNvPr name="Group 5" id="5"/>
          <p:cNvGrpSpPr/>
          <p:nvPr/>
        </p:nvGrpSpPr>
        <p:grpSpPr>
          <a:xfrm rot="0">
            <a:off x="710018" y="3109895"/>
            <a:ext cx="10391325" cy="6713378"/>
            <a:chOff x="0" y="0"/>
            <a:chExt cx="13855101" cy="8951170"/>
          </a:xfrm>
        </p:grpSpPr>
        <p:sp>
          <p:nvSpPr>
            <p:cNvPr name="Freeform 6" id="6"/>
            <p:cNvSpPr/>
            <p:nvPr/>
          </p:nvSpPr>
          <p:spPr>
            <a:xfrm flipH="false" flipV="false" rot="0">
              <a:off x="0" y="0"/>
              <a:ext cx="13855101" cy="8951170"/>
            </a:xfrm>
            <a:custGeom>
              <a:avLst/>
              <a:gdLst/>
              <a:ahLst/>
              <a:cxnLst/>
              <a:rect r="r" b="b" t="t" l="l"/>
              <a:pathLst>
                <a:path h="8951170" w="13855101">
                  <a:moveTo>
                    <a:pt x="0" y="0"/>
                  </a:moveTo>
                  <a:lnTo>
                    <a:pt x="13855101" y="0"/>
                  </a:lnTo>
                  <a:lnTo>
                    <a:pt x="13855101" y="8951170"/>
                  </a:lnTo>
                  <a:lnTo>
                    <a:pt x="0" y="8951170"/>
                  </a:lnTo>
                  <a:lnTo>
                    <a:pt x="0" y="0"/>
                  </a:lnTo>
                  <a:close/>
                </a:path>
              </a:pathLst>
            </a:custGeom>
            <a:blipFill>
              <a:blip r:embed="rId6">
                <a:extLst>
                  <a:ext uri="{96DAC541-7B7A-43D3-8B79-37D633B846F1}">
                    <asvg:svgBlip xmlns:asvg="http://schemas.microsoft.com/office/drawing/2016/SVG/main" r:embed="rId7"/>
                  </a:ext>
                </a:extLst>
              </a:blip>
              <a:stretch>
                <a:fillRect l="0" t="-20704" r="-19668" b="-21228"/>
              </a:stretch>
            </a:blipFill>
            <a:ln w="66675" cap="sq">
              <a:solidFill>
                <a:srgbClr val="FEC622"/>
              </a:solidFill>
              <a:prstDash val="solid"/>
              <a:miter/>
            </a:ln>
          </p:spPr>
        </p:sp>
        <p:sp>
          <p:nvSpPr>
            <p:cNvPr name="TextBox 7" id="7"/>
            <p:cNvSpPr txBox="true"/>
            <p:nvPr/>
          </p:nvSpPr>
          <p:spPr>
            <a:xfrm rot="0">
              <a:off x="963596" y="275973"/>
              <a:ext cx="11927909" cy="8361124"/>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Montserrat"/>
                  <a:ea typeface="Montserrat"/>
                  <a:cs typeface="Montserrat"/>
                  <a:sym typeface="Montserrat"/>
                </a:rPr>
                <a:t>If you haven t noticed by now, some people have some very strong opinions about Donald Trump. So much so, that when Uber CEO Travis Kalanick felt the pressure of thousands and thousands dropping their Uber accounts because of his association with Trump, he backed out the Trump s business advisory council.Then, after Trump insisted on banning Muslims from this country because apparently he believes all Muslims are evil, people rose up all across the country. And then when his ban was shot down by a federal judge and denied a stay, it just went to prove that all those opposed to Trump are absolutely correct.Trump didn t take ANY of this rejection very well. In fact, he keeps going to his Twitter to tell us how  evil  people are pouring into the country (they re not), and went so far as to angry tweet this:We must keep "evil" out of our country!  Donald J. Trump (@realDonaldTrump) February 3, 2017And seeing as most people see Trump as evil, most people responded to this by asking him to leave if he truly feels that way.However, there was one response that was simply the best. It s hilarious on multiple levels, and the reason why I included the Uber link above. In response to Trump s  evil  tweet, model Chrissy Teigan tweets in reply: What time should we call your Uber? @realDonaldTrump what time should we call your Uber?  christine teigen (@chrissyteigen) February 4, 2017BOOM! HA!Well played, Teigan. Well played indeed!Featured Photo by Michael Buckner/Getty Images</a:t>
              </a:r>
            </a:p>
          </p:txBody>
        </p:sp>
      </p:grpSp>
      <p:grpSp>
        <p:nvGrpSpPr>
          <p:cNvPr name="Group 8" id="8"/>
          <p:cNvGrpSpPr/>
          <p:nvPr/>
        </p:nvGrpSpPr>
        <p:grpSpPr>
          <a:xfrm rot="0">
            <a:off x="11693189" y="7027667"/>
            <a:ext cx="5834942" cy="2795605"/>
            <a:chOff x="0" y="0"/>
            <a:chExt cx="7779923" cy="3727473"/>
          </a:xfrm>
        </p:grpSpPr>
        <p:sp>
          <p:nvSpPr>
            <p:cNvPr name="Freeform 9" id="9"/>
            <p:cNvSpPr/>
            <p:nvPr/>
          </p:nvSpPr>
          <p:spPr>
            <a:xfrm flipH="false" flipV="false" rot="0">
              <a:off x="0" y="0"/>
              <a:ext cx="7779923" cy="3727473"/>
            </a:xfrm>
            <a:custGeom>
              <a:avLst/>
              <a:gdLst/>
              <a:ahLst/>
              <a:cxnLst/>
              <a:rect r="r" b="b" t="t" l="l"/>
              <a:pathLst>
                <a:path h="3727473" w="7779923">
                  <a:moveTo>
                    <a:pt x="0" y="0"/>
                  </a:moveTo>
                  <a:lnTo>
                    <a:pt x="7779923" y="0"/>
                  </a:lnTo>
                  <a:lnTo>
                    <a:pt x="7779923" y="3727473"/>
                  </a:lnTo>
                  <a:lnTo>
                    <a:pt x="0" y="3727473"/>
                  </a:lnTo>
                  <a:lnTo>
                    <a:pt x="0" y="0"/>
                  </a:lnTo>
                  <a:close/>
                </a:path>
              </a:pathLst>
            </a:custGeom>
            <a:blipFill>
              <a:blip r:embed="rId6">
                <a:extLst>
                  <a:ext uri="{96DAC541-7B7A-43D3-8B79-37D633B846F1}">
                    <asvg:svgBlip xmlns:asvg="http://schemas.microsoft.com/office/drawing/2016/SVG/main" r:embed="rId7"/>
                  </a:ext>
                </a:extLst>
              </a:blip>
              <a:stretch>
                <a:fillRect l="-47686" t="-76244" r="-121506" b="-254276"/>
              </a:stretch>
            </a:blipFill>
            <a:ln w="66675" cap="sq">
              <a:solidFill>
                <a:srgbClr val="FEC622"/>
              </a:solidFill>
              <a:prstDash val="solid"/>
              <a:miter/>
            </a:ln>
          </p:spPr>
        </p:sp>
        <p:sp>
          <p:nvSpPr>
            <p:cNvPr name="TextBox 10" id="10"/>
            <p:cNvSpPr txBox="true"/>
            <p:nvPr/>
          </p:nvSpPr>
          <p:spPr>
            <a:xfrm rot="0">
              <a:off x="634304" y="260844"/>
              <a:ext cx="6315025" cy="3133873"/>
            </a:xfrm>
            <a:prstGeom prst="rect">
              <a:avLst/>
            </a:prstGeom>
          </p:spPr>
          <p:txBody>
            <a:bodyPr anchor="t" rtlCol="false" tIns="0" lIns="0" bIns="0" rIns="0">
              <a:spAutoFit/>
            </a:bodyPr>
            <a:lstStyle/>
            <a:p>
              <a:pPr algn="l">
                <a:lnSpc>
                  <a:spcPts val="6300"/>
                </a:lnSpc>
              </a:pPr>
              <a:r>
                <a:rPr lang="en-US" sz="4500" b="true">
                  <a:solidFill>
                    <a:srgbClr val="000000"/>
                  </a:solidFill>
                  <a:latin typeface="Montserrat Bold"/>
                  <a:ea typeface="Montserrat Bold"/>
                  <a:cs typeface="Montserrat Bold"/>
                  <a:sym typeface="Montserrat Bold"/>
                </a:rPr>
                <a:t>Label:</a:t>
              </a:r>
              <a:r>
                <a:rPr lang="en-US" sz="4500">
                  <a:solidFill>
                    <a:srgbClr val="000000"/>
                  </a:solidFill>
                  <a:latin typeface="Montserrat"/>
                  <a:ea typeface="Montserrat"/>
                  <a:cs typeface="Montserrat"/>
                  <a:sym typeface="Montserrat"/>
                </a:rPr>
                <a:t> FAKE</a:t>
              </a:r>
            </a:p>
            <a:p>
              <a:pPr algn="l">
                <a:lnSpc>
                  <a:spcPts val="6300"/>
                </a:lnSpc>
              </a:pPr>
              <a:r>
                <a:rPr lang="en-US" sz="4500" b="true">
                  <a:solidFill>
                    <a:srgbClr val="000000"/>
                  </a:solidFill>
                  <a:latin typeface="Montserrat Bold"/>
                  <a:ea typeface="Montserrat Bold"/>
                  <a:cs typeface="Montserrat Bold"/>
                  <a:sym typeface="Montserrat Bold"/>
                </a:rPr>
                <a:t>LLaMA 3.1:</a:t>
              </a:r>
              <a:r>
                <a:rPr lang="en-US" sz="4500">
                  <a:solidFill>
                    <a:srgbClr val="000000"/>
                  </a:solidFill>
                  <a:latin typeface="Montserrat"/>
                  <a:ea typeface="Montserrat"/>
                  <a:cs typeface="Montserrat"/>
                  <a:sym typeface="Montserrat"/>
                </a:rPr>
                <a:t> REAL</a:t>
              </a:r>
            </a:p>
            <a:p>
              <a:pPr algn="l">
                <a:lnSpc>
                  <a:spcPts val="6300"/>
                </a:lnSpc>
                <a:spcBef>
                  <a:spcPct val="0"/>
                </a:spcBef>
              </a:pPr>
              <a:r>
                <a:rPr lang="en-US" b="true" sz="4500">
                  <a:solidFill>
                    <a:srgbClr val="000000"/>
                  </a:solidFill>
                  <a:latin typeface="Montserrat Bold"/>
                  <a:ea typeface="Montserrat Bold"/>
                  <a:cs typeface="Montserrat Bold"/>
                  <a:sym typeface="Montserrat Bold"/>
                </a:rPr>
                <a:t>OpenAI:</a:t>
              </a:r>
              <a:r>
                <a:rPr lang="en-US" sz="4500">
                  <a:solidFill>
                    <a:srgbClr val="000000"/>
                  </a:solidFill>
                  <a:latin typeface="Montserrat"/>
                  <a:ea typeface="Montserrat"/>
                  <a:cs typeface="Montserrat"/>
                  <a:sym typeface="Montserrat"/>
                </a:rPr>
                <a:t> REAL</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376484" y="2554208"/>
            <a:ext cx="10475698" cy="7068658"/>
          </a:xfrm>
          <a:custGeom>
            <a:avLst/>
            <a:gdLst/>
            <a:ahLst/>
            <a:cxnLst/>
            <a:rect r="r" b="b" t="t" l="l"/>
            <a:pathLst>
              <a:path h="7068658" w="10475698">
                <a:moveTo>
                  <a:pt x="0" y="0"/>
                </a:moveTo>
                <a:lnTo>
                  <a:pt x="10475697" y="0"/>
                </a:lnTo>
                <a:lnTo>
                  <a:pt x="10475697" y="7068657"/>
                </a:lnTo>
                <a:lnTo>
                  <a:pt x="0" y="7068657"/>
                </a:lnTo>
                <a:lnTo>
                  <a:pt x="0" y="0"/>
                </a:lnTo>
                <a:close/>
              </a:path>
            </a:pathLst>
          </a:custGeom>
          <a:blipFill>
            <a:blip r:embed="rId6">
              <a:extLst>
                <a:ext uri="{96DAC541-7B7A-43D3-8B79-37D633B846F1}">
                  <asvg:svgBlip xmlns:asvg="http://schemas.microsoft.com/office/drawing/2016/SVG/main" r:embed="rId7"/>
                </a:ext>
              </a:extLst>
            </a:blip>
            <a:stretch>
              <a:fillRect l="-18621" t="-104185" r="-71151" b="-11316"/>
            </a:stretch>
          </a:blipFill>
          <a:ln w="104775" cap="sq">
            <a:solidFill>
              <a:srgbClr val="FEC622"/>
            </a:solidFill>
            <a:prstDash val="solid"/>
            <a:miter/>
          </a:ln>
        </p:spPr>
      </p:sp>
      <p:sp>
        <p:nvSpPr>
          <p:cNvPr name="TextBox 5" id="5"/>
          <p:cNvSpPr txBox="true"/>
          <p:nvPr/>
        </p:nvSpPr>
        <p:spPr>
          <a:xfrm rot="0">
            <a:off x="1706236" y="2790764"/>
            <a:ext cx="9759244" cy="6591292"/>
          </a:xfrm>
          <a:prstGeom prst="rect">
            <a:avLst/>
          </a:prstGeom>
        </p:spPr>
        <p:txBody>
          <a:bodyPr anchor="t" rtlCol="false" tIns="0" lIns="0" bIns="0" rIns="0">
            <a:spAutoFit/>
          </a:bodyPr>
          <a:lstStyle/>
          <a:p>
            <a:pPr algn="l">
              <a:lnSpc>
                <a:spcPts val="4359"/>
              </a:lnSpc>
            </a:pPr>
            <a:r>
              <a:rPr lang="en-US" sz="2564" b="true">
                <a:solidFill>
                  <a:srgbClr val="000000"/>
                </a:solidFill>
                <a:latin typeface="Montserrat Bold"/>
                <a:ea typeface="Montserrat Bold"/>
                <a:cs typeface="Montserrat Bold"/>
                <a:sym typeface="Montserrat Bold"/>
              </a:rPr>
              <a:t>What is Fine-Tuning?</a:t>
            </a:r>
          </a:p>
          <a:p>
            <a:pPr algn="l">
              <a:lnSpc>
                <a:spcPts val="4359"/>
              </a:lnSpc>
            </a:pPr>
            <a:r>
              <a:rPr lang="en-US" sz="2564" b="true">
                <a:solidFill>
                  <a:srgbClr val="000000"/>
                </a:solidFill>
                <a:latin typeface="Montserrat Bold"/>
                <a:ea typeface="Montserrat Bold"/>
                <a:cs typeface="Montserrat Bold"/>
                <a:sym typeface="Montserrat Bold"/>
              </a:rPr>
              <a:t>Fine-Tuning</a:t>
            </a:r>
            <a:r>
              <a:rPr lang="en-US" sz="2564">
                <a:solidFill>
                  <a:srgbClr val="000000"/>
                </a:solidFill>
                <a:latin typeface="Montserrat"/>
                <a:ea typeface="Montserrat"/>
                <a:cs typeface="Montserrat"/>
                <a:sym typeface="Montserrat"/>
              </a:rPr>
              <a:t> is the process of taking a pre-trained language model and continuing its training on a specific labeled dataset, usually with supervised learning.</a:t>
            </a:r>
          </a:p>
          <a:p>
            <a:pPr algn="l">
              <a:lnSpc>
                <a:spcPts val="4359"/>
              </a:lnSpc>
            </a:pPr>
            <a:r>
              <a:rPr lang="en-US" sz="2564">
                <a:solidFill>
                  <a:srgbClr val="000000"/>
                </a:solidFill>
                <a:latin typeface="Montserrat"/>
                <a:ea typeface="Montserrat"/>
                <a:cs typeface="Montserrat"/>
                <a:sym typeface="Montserrat"/>
              </a:rPr>
              <a:t>Unlike prompting methods like Few-Shot Learning, fine-tuning </a:t>
            </a:r>
            <a:r>
              <a:rPr lang="en-US" sz="2564" b="true">
                <a:solidFill>
                  <a:srgbClr val="000000"/>
                </a:solidFill>
                <a:latin typeface="Montserrat Bold"/>
                <a:ea typeface="Montserrat Bold"/>
                <a:cs typeface="Montserrat Bold"/>
                <a:sym typeface="Montserrat Bold"/>
              </a:rPr>
              <a:t>updates the model’s internal weights</a:t>
            </a:r>
            <a:r>
              <a:rPr lang="en-US" sz="2564">
                <a:solidFill>
                  <a:srgbClr val="000000"/>
                </a:solidFill>
                <a:latin typeface="Montserrat"/>
                <a:ea typeface="Montserrat"/>
                <a:cs typeface="Montserrat"/>
                <a:sym typeface="Montserrat"/>
              </a:rPr>
              <a:t>, making it more specialized and accurate for a given task.</a:t>
            </a:r>
          </a:p>
          <a:p>
            <a:pPr algn="l">
              <a:lnSpc>
                <a:spcPts val="4359"/>
              </a:lnSpc>
            </a:pPr>
          </a:p>
          <a:p>
            <a:pPr algn="l">
              <a:lnSpc>
                <a:spcPts val="4359"/>
              </a:lnSpc>
            </a:pPr>
            <a:r>
              <a:rPr lang="en-US" sz="2564" b="true">
                <a:solidFill>
                  <a:srgbClr val="000000"/>
                </a:solidFill>
                <a:latin typeface="Montserrat Bold"/>
                <a:ea typeface="Montserrat Bold"/>
                <a:cs typeface="Montserrat Bold"/>
                <a:sym typeface="Montserrat Bold"/>
              </a:rPr>
              <a:t>The Challenge:</a:t>
            </a:r>
          </a:p>
          <a:p>
            <a:pPr algn="l">
              <a:lnSpc>
                <a:spcPts val="4359"/>
              </a:lnSpc>
            </a:pPr>
            <a:r>
              <a:rPr lang="en-US" sz="2564">
                <a:solidFill>
                  <a:srgbClr val="000000"/>
                </a:solidFill>
                <a:latin typeface="Montserrat"/>
                <a:ea typeface="Montserrat"/>
                <a:cs typeface="Montserrat"/>
                <a:sym typeface="Montserrat"/>
              </a:rPr>
              <a:t>Pre-trained models are general-purpose. Without adaptation, their performance on niche or domain-specific tasks (like detecting fake news) may be suboptimal.</a:t>
            </a:r>
          </a:p>
        </p:txBody>
      </p:sp>
      <p:grpSp>
        <p:nvGrpSpPr>
          <p:cNvPr name="Group 6" id="6"/>
          <p:cNvGrpSpPr/>
          <p:nvPr/>
        </p:nvGrpSpPr>
        <p:grpSpPr>
          <a:xfrm rot="0">
            <a:off x="13471149" y="5812698"/>
            <a:ext cx="3339618" cy="333961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774700"/>
            </a:xfrm>
            <a:prstGeom prst="rect">
              <a:avLst/>
            </a:prstGeom>
          </p:spPr>
          <p:txBody>
            <a:bodyPr anchor="ctr" rtlCol="false" tIns="50800" lIns="50800" bIns="50800" rIns="50800"/>
            <a:lstStyle/>
            <a:p>
              <a:pPr algn="ctr">
                <a:lnSpc>
                  <a:spcPts val="3910"/>
                </a:lnSpc>
              </a:pPr>
            </a:p>
          </p:txBody>
        </p:sp>
      </p:grpSp>
      <p:sp>
        <p:nvSpPr>
          <p:cNvPr name="Freeform 9" id="9"/>
          <p:cNvSpPr/>
          <p:nvPr/>
        </p:nvSpPr>
        <p:spPr>
          <a:xfrm flipH="false" flipV="false" rot="0">
            <a:off x="13831737" y="5583453"/>
            <a:ext cx="3798107" cy="3798107"/>
          </a:xfrm>
          <a:custGeom>
            <a:avLst/>
            <a:gdLst/>
            <a:ahLst/>
            <a:cxnLst/>
            <a:rect r="r" b="b" t="t" l="l"/>
            <a:pathLst>
              <a:path h="3798107" w="3798107">
                <a:moveTo>
                  <a:pt x="0" y="0"/>
                </a:moveTo>
                <a:lnTo>
                  <a:pt x="3798107" y="0"/>
                </a:lnTo>
                <a:lnTo>
                  <a:pt x="3798107" y="3798107"/>
                </a:lnTo>
                <a:lnTo>
                  <a:pt x="0" y="3798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10" id="10"/>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FINE-TUNE PRE-TRAINED MODEL</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TextBox 4" id="4"/>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FINE-TUNE PRE-TRAINED MODEL</a:t>
            </a:r>
          </a:p>
        </p:txBody>
      </p:sp>
      <p:grpSp>
        <p:nvGrpSpPr>
          <p:cNvPr name="Group 5" id="5"/>
          <p:cNvGrpSpPr/>
          <p:nvPr/>
        </p:nvGrpSpPr>
        <p:grpSpPr>
          <a:xfrm rot="0">
            <a:off x="1017482" y="3186098"/>
            <a:ext cx="16241818" cy="5112600"/>
            <a:chOff x="0" y="0"/>
            <a:chExt cx="21655758" cy="6816799"/>
          </a:xfrm>
        </p:grpSpPr>
        <p:sp>
          <p:nvSpPr>
            <p:cNvPr name="Freeform 6" id="6"/>
            <p:cNvSpPr/>
            <p:nvPr/>
          </p:nvSpPr>
          <p:spPr>
            <a:xfrm flipH="false" flipV="false" rot="0">
              <a:off x="0" y="0"/>
              <a:ext cx="10497577" cy="6816799"/>
            </a:xfrm>
            <a:custGeom>
              <a:avLst/>
              <a:gdLst/>
              <a:ahLst/>
              <a:cxnLst/>
              <a:rect r="r" b="b" t="t" l="l"/>
              <a:pathLst>
                <a:path h="6816799" w="10497577">
                  <a:moveTo>
                    <a:pt x="0" y="0"/>
                  </a:moveTo>
                  <a:lnTo>
                    <a:pt x="10497577" y="0"/>
                  </a:lnTo>
                  <a:lnTo>
                    <a:pt x="10497577" y="6816799"/>
                  </a:lnTo>
                  <a:lnTo>
                    <a:pt x="0" y="6816799"/>
                  </a:lnTo>
                  <a:lnTo>
                    <a:pt x="0" y="0"/>
                  </a:lnTo>
                  <a:close/>
                </a:path>
              </a:pathLst>
            </a:custGeom>
            <a:blipFill>
              <a:blip r:embed="rId6">
                <a:extLst>
                  <a:ext uri="{96DAC541-7B7A-43D3-8B79-37D633B846F1}">
                    <asvg:svgBlip xmlns:asvg="http://schemas.microsoft.com/office/drawing/2016/SVG/main" r:embed="rId7"/>
                  </a:ext>
                </a:extLst>
              </a:blip>
              <a:stretch>
                <a:fillRect l="-20629" t="-135041" r="-89599" b="-13026"/>
              </a:stretch>
            </a:blipFill>
            <a:ln w="104775" cap="sq">
              <a:solidFill>
                <a:srgbClr val="FEC622"/>
              </a:solidFill>
              <a:prstDash val="solid"/>
              <a:miter/>
            </a:ln>
          </p:spPr>
        </p:sp>
        <p:sp>
          <p:nvSpPr>
            <p:cNvPr name="TextBox 7" id="7"/>
            <p:cNvSpPr txBox="true"/>
            <p:nvPr/>
          </p:nvSpPr>
          <p:spPr>
            <a:xfrm rot="0">
              <a:off x="457800" y="2036635"/>
              <a:ext cx="9618363" cy="4333123"/>
            </a:xfrm>
            <a:prstGeom prst="rect">
              <a:avLst/>
            </a:prstGeom>
          </p:spPr>
          <p:txBody>
            <a:bodyPr anchor="t" rtlCol="false" tIns="0" lIns="0" bIns="0" rIns="0">
              <a:spAutoFit/>
            </a:bodyPr>
            <a:lstStyle/>
            <a:p>
              <a:pPr algn="l">
                <a:lnSpc>
                  <a:spcPts val="4365"/>
                </a:lnSpc>
              </a:pPr>
              <a:r>
                <a:rPr lang="en-US" sz="2567" b="true">
                  <a:solidFill>
                    <a:srgbClr val="000000"/>
                  </a:solidFill>
                  <a:latin typeface="Montserrat Bold"/>
                  <a:ea typeface="Montserrat Bold"/>
                  <a:cs typeface="Montserrat Bold"/>
                  <a:sym typeface="Montserrat Bold"/>
                </a:rPr>
                <a:t>Advantages:</a:t>
              </a:r>
            </a:p>
            <a:p>
              <a:pPr algn="l" marL="554426" indent="-277213" lvl="1">
                <a:lnSpc>
                  <a:spcPts val="4365"/>
                </a:lnSpc>
                <a:buFont typeface="Arial"/>
                <a:buChar char="•"/>
              </a:pPr>
              <a:r>
                <a:rPr lang="en-US" sz="2567">
                  <a:solidFill>
                    <a:srgbClr val="000000"/>
                  </a:solidFill>
                  <a:latin typeface="Montserrat"/>
                  <a:ea typeface="Montserrat"/>
                  <a:cs typeface="Montserrat"/>
                  <a:sym typeface="Montserrat"/>
                </a:rPr>
                <a:t>High accuracy for domain-specific tasks</a:t>
              </a:r>
            </a:p>
            <a:p>
              <a:pPr algn="l" marL="554426" indent="-277213" lvl="1">
                <a:lnSpc>
                  <a:spcPts val="4365"/>
                </a:lnSpc>
                <a:buFont typeface="Arial"/>
                <a:buChar char="•"/>
              </a:pPr>
              <a:r>
                <a:rPr lang="en-US" sz="2567">
                  <a:solidFill>
                    <a:srgbClr val="000000"/>
                  </a:solidFill>
                  <a:latin typeface="Montserrat"/>
                  <a:ea typeface="Montserrat"/>
                  <a:cs typeface="Montserrat"/>
                  <a:sym typeface="Montserrat"/>
                </a:rPr>
                <a:t>R</a:t>
              </a:r>
              <a:r>
                <a:rPr lang="en-US" sz="2567">
                  <a:solidFill>
                    <a:srgbClr val="000000"/>
                  </a:solidFill>
                  <a:latin typeface="Montserrat"/>
                  <a:ea typeface="Montserrat"/>
                  <a:cs typeface="Montserrat"/>
                  <a:sym typeface="Montserrat"/>
                </a:rPr>
                <a:t>eusable model – once fine-tuned, the model can be deployed directly</a:t>
              </a:r>
            </a:p>
            <a:p>
              <a:pPr algn="l" marL="554426" indent="-277213" lvl="1">
                <a:lnSpc>
                  <a:spcPts val="4365"/>
                </a:lnSpc>
                <a:buFont typeface="Arial"/>
                <a:buChar char="•"/>
              </a:pPr>
              <a:r>
                <a:rPr lang="en-US" sz="2567">
                  <a:solidFill>
                    <a:srgbClr val="000000"/>
                  </a:solidFill>
                  <a:latin typeface="Montserrat"/>
                  <a:ea typeface="Montserrat"/>
                  <a:cs typeface="Montserrat"/>
                  <a:sym typeface="Montserrat"/>
                </a:rPr>
                <a:t>Can encod</a:t>
              </a:r>
              <a:r>
                <a:rPr lang="en-US" sz="2567">
                  <a:solidFill>
                    <a:srgbClr val="000000"/>
                  </a:solidFill>
                  <a:latin typeface="Montserrat"/>
                  <a:ea typeface="Montserrat"/>
                  <a:cs typeface="Montserrat"/>
                  <a:sym typeface="Montserrat"/>
                </a:rPr>
                <a:t>e subtl</a:t>
              </a:r>
              <a:r>
                <a:rPr lang="en-US" sz="2567">
                  <a:solidFill>
                    <a:srgbClr val="000000"/>
                  </a:solidFill>
                  <a:latin typeface="Montserrat"/>
                  <a:ea typeface="Montserrat"/>
                  <a:cs typeface="Montserrat"/>
                  <a:sym typeface="Montserrat"/>
                </a:rPr>
                <a:t>e patterns in data (e.g., tone, phrasing of fake news)</a:t>
              </a:r>
            </a:p>
          </p:txBody>
        </p:sp>
        <p:sp>
          <p:nvSpPr>
            <p:cNvPr name="Freeform 8" id="8"/>
            <p:cNvSpPr/>
            <p:nvPr/>
          </p:nvSpPr>
          <p:spPr>
            <a:xfrm flipH="false" flipV="false" rot="0">
              <a:off x="9175583" y="389923"/>
              <a:ext cx="900579" cy="900579"/>
            </a:xfrm>
            <a:custGeom>
              <a:avLst/>
              <a:gdLst/>
              <a:ahLst/>
              <a:cxnLst/>
              <a:rect r="r" b="b" t="t" l="l"/>
              <a:pathLst>
                <a:path h="900579" w="900579">
                  <a:moveTo>
                    <a:pt x="0" y="0"/>
                  </a:moveTo>
                  <a:lnTo>
                    <a:pt x="900580" y="0"/>
                  </a:lnTo>
                  <a:lnTo>
                    <a:pt x="900580" y="900579"/>
                  </a:lnTo>
                  <a:lnTo>
                    <a:pt x="0" y="900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9" id="9"/>
            <p:cNvSpPr/>
            <p:nvPr/>
          </p:nvSpPr>
          <p:spPr>
            <a:xfrm flipH="false" flipV="false" rot="0">
              <a:off x="11067429" y="0"/>
              <a:ext cx="10588328" cy="6816799"/>
            </a:xfrm>
            <a:custGeom>
              <a:avLst/>
              <a:gdLst/>
              <a:ahLst/>
              <a:cxnLst/>
              <a:rect r="r" b="b" t="t" l="l"/>
              <a:pathLst>
                <a:path h="6816799" w="10588328">
                  <a:moveTo>
                    <a:pt x="0" y="0"/>
                  </a:moveTo>
                  <a:lnTo>
                    <a:pt x="10588329" y="0"/>
                  </a:lnTo>
                  <a:lnTo>
                    <a:pt x="10588329" y="6816799"/>
                  </a:lnTo>
                  <a:lnTo>
                    <a:pt x="0" y="6816799"/>
                  </a:lnTo>
                  <a:lnTo>
                    <a:pt x="0" y="0"/>
                  </a:lnTo>
                  <a:close/>
                </a:path>
              </a:pathLst>
            </a:custGeom>
            <a:blipFill>
              <a:blip r:embed="rId6">
                <a:extLst>
                  <a:ext uri="{96DAC541-7B7A-43D3-8B79-37D633B846F1}">
                    <asvg:svgBlip xmlns:asvg="http://schemas.microsoft.com/office/drawing/2016/SVG/main" r:embed="rId7"/>
                  </a:ext>
                </a:extLst>
              </a:blip>
              <a:stretch>
                <a:fillRect l="-11211" t="-116666" r="-70830" b="0"/>
              </a:stretch>
            </a:blipFill>
            <a:ln w="104775" cap="sq">
              <a:solidFill>
                <a:srgbClr val="FEC622"/>
              </a:solidFill>
              <a:prstDash val="solid"/>
              <a:miter/>
            </a:ln>
          </p:spPr>
        </p:sp>
        <p:sp>
          <p:nvSpPr>
            <p:cNvPr name="TextBox 10" id="10"/>
            <p:cNvSpPr txBox="true"/>
            <p:nvPr/>
          </p:nvSpPr>
          <p:spPr>
            <a:xfrm rot="0">
              <a:off x="11579143" y="1296806"/>
              <a:ext cx="9604186" cy="5063618"/>
            </a:xfrm>
            <a:prstGeom prst="rect">
              <a:avLst/>
            </a:prstGeom>
          </p:spPr>
          <p:txBody>
            <a:bodyPr anchor="t" rtlCol="false" tIns="0" lIns="0" bIns="0" rIns="0">
              <a:spAutoFit/>
            </a:bodyPr>
            <a:lstStyle/>
            <a:p>
              <a:pPr algn="l">
                <a:lnSpc>
                  <a:spcPts val="4359"/>
                </a:lnSpc>
              </a:pPr>
              <a:r>
                <a:rPr lang="en-US" sz="2564" b="true">
                  <a:solidFill>
                    <a:srgbClr val="000000"/>
                  </a:solidFill>
                  <a:latin typeface="Montserrat Bold"/>
                  <a:ea typeface="Montserrat Bold"/>
                  <a:cs typeface="Montserrat Bold"/>
                  <a:sym typeface="Montserrat Bold"/>
                </a:rPr>
                <a:t>Disadvantages:</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High computational resources required for training, especially with large models</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Training can be time-consuming even with small datasets</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Requires high-quality labeled data, which can be costly or hard to obtain</a:t>
              </a:r>
            </a:p>
          </p:txBody>
        </p:sp>
        <p:sp>
          <p:nvSpPr>
            <p:cNvPr name="Freeform 11" id="11"/>
            <p:cNvSpPr/>
            <p:nvPr/>
          </p:nvSpPr>
          <p:spPr>
            <a:xfrm flipH="false" flipV="false" rot="0">
              <a:off x="20292440" y="389349"/>
              <a:ext cx="890889" cy="1032915"/>
            </a:xfrm>
            <a:custGeom>
              <a:avLst/>
              <a:gdLst/>
              <a:ahLst/>
              <a:cxnLst/>
              <a:rect r="r" b="b" t="t" l="l"/>
              <a:pathLst>
                <a:path h="1032915" w="890889">
                  <a:moveTo>
                    <a:pt x="0" y="0"/>
                  </a:moveTo>
                  <a:lnTo>
                    <a:pt x="890889" y="0"/>
                  </a:lnTo>
                  <a:lnTo>
                    <a:pt x="890889" y="1032914"/>
                  </a:lnTo>
                  <a:lnTo>
                    <a:pt x="0" y="10329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TextBox 4" id="4"/>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FINE-TUNE PRE-TRAINED MODEL</a:t>
            </a:r>
          </a:p>
        </p:txBody>
      </p:sp>
      <p:grpSp>
        <p:nvGrpSpPr>
          <p:cNvPr name="Group 5" id="5"/>
          <p:cNvGrpSpPr/>
          <p:nvPr/>
        </p:nvGrpSpPr>
        <p:grpSpPr>
          <a:xfrm rot="0">
            <a:off x="1179065" y="2908309"/>
            <a:ext cx="8051877" cy="6349991"/>
            <a:chOff x="0" y="0"/>
            <a:chExt cx="10735836" cy="8466655"/>
          </a:xfrm>
        </p:grpSpPr>
        <p:sp>
          <p:nvSpPr>
            <p:cNvPr name="Freeform 6" id="6"/>
            <p:cNvSpPr/>
            <p:nvPr/>
          </p:nvSpPr>
          <p:spPr>
            <a:xfrm flipH="false" flipV="false" rot="0">
              <a:off x="0" y="0"/>
              <a:ext cx="10735836" cy="8466655"/>
            </a:xfrm>
            <a:custGeom>
              <a:avLst/>
              <a:gdLst/>
              <a:ahLst/>
              <a:cxnLst/>
              <a:rect r="r" b="b" t="t" l="l"/>
              <a:pathLst>
                <a:path h="8466655" w="10735836">
                  <a:moveTo>
                    <a:pt x="0" y="0"/>
                  </a:moveTo>
                  <a:lnTo>
                    <a:pt x="10735836" y="0"/>
                  </a:lnTo>
                  <a:lnTo>
                    <a:pt x="10735836" y="8466655"/>
                  </a:lnTo>
                  <a:lnTo>
                    <a:pt x="0" y="8466655"/>
                  </a:lnTo>
                  <a:lnTo>
                    <a:pt x="0" y="0"/>
                  </a:lnTo>
                  <a:close/>
                </a:path>
              </a:pathLst>
            </a:custGeom>
            <a:blipFill>
              <a:blip r:embed="rId6">
                <a:extLst>
                  <a:ext uri="{96DAC541-7B7A-43D3-8B79-37D633B846F1}">
                    <asvg:svgBlip xmlns:asvg="http://schemas.microsoft.com/office/drawing/2016/SVG/main" r:embed="rId7"/>
                  </a:ext>
                </a:extLst>
              </a:blip>
              <a:stretch>
                <a:fillRect l="-15992" t="-56925" r="-46988" b="-1429"/>
              </a:stretch>
            </a:blipFill>
            <a:ln w="104775" cap="sq">
              <a:solidFill>
                <a:srgbClr val="FEC622"/>
              </a:solidFill>
              <a:prstDash val="solid"/>
              <a:miter/>
            </a:ln>
          </p:spPr>
        </p:sp>
        <p:sp>
          <p:nvSpPr>
            <p:cNvPr name="TextBox 7" id="7"/>
            <p:cNvSpPr txBox="true"/>
            <p:nvPr/>
          </p:nvSpPr>
          <p:spPr>
            <a:xfrm rot="0">
              <a:off x="486172" y="534718"/>
              <a:ext cx="9655867" cy="7273395"/>
            </a:xfrm>
            <a:prstGeom prst="rect">
              <a:avLst/>
            </a:prstGeom>
          </p:spPr>
          <p:txBody>
            <a:bodyPr anchor="t" rtlCol="false" tIns="0" lIns="0" bIns="0" rIns="0">
              <a:spAutoFit/>
            </a:bodyPr>
            <a:lstStyle/>
            <a:p>
              <a:pPr algn="l">
                <a:lnSpc>
                  <a:spcPts val="4365"/>
                </a:lnSpc>
              </a:pPr>
              <a:r>
                <a:rPr lang="en-US" sz="2567" b="true">
                  <a:solidFill>
                    <a:srgbClr val="000000"/>
                  </a:solidFill>
                  <a:latin typeface="Montserrat Bold"/>
                  <a:ea typeface="Montserrat Bold"/>
                  <a:cs typeface="Montserrat Bold"/>
                  <a:sym typeface="Montserrat Bold"/>
                </a:rPr>
                <a:t>When is Fine-Tuning Used?</a:t>
              </a:r>
            </a:p>
            <a:p>
              <a:pPr algn="l" marL="554426" indent="-277213" lvl="1">
                <a:lnSpc>
                  <a:spcPts val="4365"/>
                </a:lnSpc>
                <a:buFont typeface="Arial"/>
                <a:buChar char="•"/>
              </a:pPr>
              <a:r>
                <a:rPr lang="en-US" sz="2567">
                  <a:solidFill>
                    <a:srgbClr val="000000"/>
                  </a:solidFill>
                  <a:latin typeface="Montserrat"/>
                  <a:ea typeface="Montserrat"/>
                  <a:cs typeface="Montserrat"/>
                  <a:sym typeface="Montserrat"/>
                </a:rPr>
                <a:t>When you have labeled data for a specific task</a:t>
              </a:r>
            </a:p>
            <a:p>
              <a:pPr algn="l" marL="554426" indent="-277213" lvl="1">
                <a:lnSpc>
                  <a:spcPts val="4365"/>
                </a:lnSpc>
                <a:buFont typeface="Arial"/>
                <a:buChar char="•"/>
              </a:pPr>
              <a:r>
                <a:rPr lang="en-US" sz="2567">
                  <a:solidFill>
                    <a:srgbClr val="000000"/>
                  </a:solidFill>
                  <a:latin typeface="Montserrat"/>
                  <a:ea typeface="Montserrat"/>
                  <a:cs typeface="Montserrat"/>
                  <a:sym typeface="Montserrat"/>
                </a:rPr>
                <a:t>Wh</a:t>
              </a:r>
              <a:r>
                <a:rPr lang="en-US" sz="2567">
                  <a:solidFill>
                    <a:srgbClr val="000000"/>
                  </a:solidFill>
                  <a:latin typeface="Montserrat"/>
                  <a:ea typeface="Montserrat"/>
                  <a:cs typeface="Montserrat"/>
                  <a:sym typeface="Montserrat"/>
                </a:rPr>
                <a:t>en task accuracy is critical (e.g., detecting misinformation)</a:t>
              </a:r>
            </a:p>
            <a:p>
              <a:pPr algn="l" marL="554426" indent="-277213" lvl="1">
                <a:lnSpc>
                  <a:spcPts val="4365"/>
                </a:lnSpc>
                <a:buFont typeface="Arial"/>
                <a:buChar char="•"/>
              </a:pPr>
              <a:r>
                <a:rPr lang="en-US" sz="2567">
                  <a:solidFill>
                    <a:srgbClr val="000000"/>
                  </a:solidFill>
                  <a:latin typeface="Montserrat"/>
                  <a:ea typeface="Montserrat"/>
                  <a:cs typeface="Montserrat"/>
                  <a:sym typeface="Montserrat"/>
                </a:rPr>
                <a:t>When the model needs to generate or classify with reliability</a:t>
              </a:r>
            </a:p>
            <a:p>
              <a:pPr algn="l" marL="554426" indent="-277213" lvl="1">
                <a:lnSpc>
                  <a:spcPts val="4365"/>
                </a:lnSpc>
                <a:buFont typeface="Arial"/>
                <a:buChar char="•"/>
              </a:pPr>
              <a:r>
                <a:rPr lang="en-US" sz="2567">
                  <a:solidFill>
                    <a:srgbClr val="000000"/>
                  </a:solidFill>
                  <a:latin typeface="Montserrat"/>
                  <a:ea typeface="Montserrat"/>
                  <a:cs typeface="Montserrat"/>
                  <a:sym typeface="Montserrat"/>
                </a:rPr>
                <a:t>Especi</a:t>
              </a:r>
              <a:r>
                <a:rPr lang="en-US" sz="2567">
                  <a:solidFill>
                    <a:srgbClr val="000000"/>
                  </a:solidFill>
                  <a:latin typeface="Montserrat"/>
                  <a:ea typeface="Montserrat"/>
                  <a:cs typeface="Montserrat"/>
                  <a:sym typeface="Montserrat"/>
                </a:rPr>
                <a:t>ally useful when in-cont</a:t>
              </a:r>
              <a:r>
                <a:rPr lang="en-US" sz="2567">
                  <a:solidFill>
                    <a:srgbClr val="000000"/>
                  </a:solidFill>
                  <a:latin typeface="Montserrat"/>
                  <a:ea typeface="Montserrat"/>
                  <a:cs typeface="Montserrat"/>
                  <a:sym typeface="Montserrat"/>
                </a:rPr>
                <a:t>ext l</a:t>
              </a:r>
              <a:r>
                <a:rPr lang="en-US" sz="2567">
                  <a:solidFill>
                    <a:srgbClr val="000000"/>
                  </a:solidFill>
                  <a:latin typeface="Montserrat"/>
                  <a:ea typeface="Montserrat"/>
                  <a:cs typeface="Montserrat"/>
                  <a:sym typeface="Montserrat"/>
                </a:rPr>
                <a:t>earning (e.g., few-shot) doesn’t provide sufficient performance</a:t>
              </a:r>
            </a:p>
          </p:txBody>
        </p:sp>
      </p:grpSp>
      <p:grpSp>
        <p:nvGrpSpPr>
          <p:cNvPr name="Group 8" id="8"/>
          <p:cNvGrpSpPr/>
          <p:nvPr/>
        </p:nvGrpSpPr>
        <p:grpSpPr>
          <a:xfrm rot="0">
            <a:off x="9613691" y="2908309"/>
            <a:ext cx="7865788" cy="6349991"/>
            <a:chOff x="0" y="0"/>
            <a:chExt cx="10487717" cy="8466655"/>
          </a:xfrm>
        </p:grpSpPr>
        <p:sp>
          <p:nvSpPr>
            <p:cNvPr name="Freeform 9" id="9"/>
            <p:cNvSpPr/>
            <p:nvPr/>
          </p:nvSpPr>
          <p:spPr>
            <a:xfrm flipH="false" flipV="false" rot="0">
              <a:off x="0" y="0"/>
              <a:ext cx="10487717" cy="8466655"/>
            </a:xfrm>
            <a:custGeom>
              <a:avLst/>
              <a:gdLst/>
              <a:ahLst/>
              <a:cxnLst/>
              <a:rect r="r" b="b" t="t" l="l"/>
              <a:pathLst>
                <a:path h="8466655" w="10487717">
                  <a:moveTo>
                    <a:pt x="0" y="0"/>
                  </a:moveTo>
                  <a:lnTo>
                    <a:pt x="10487717" y="0"/>
                  </a:lnTo>
                  <a:lnTo>
                    <a:pt x="10487717" y="8466655"/>
                  </a:lnTo>
                  <a:lnTo>
                    <a:pt x="0" y="8466655"/>
                  </a:lnTo>
                  <a:lnTo>
                    <a:pt x="0" y="0"/>
                  </a:lnTo>
                  <a:close/>
                </a:path>
              </a:pathLst>
            </a:custGeom>
            <a:blipFill>
              <a:blip r:embed="rId6">
                <a:extLst>
                  <a:ext uri="{96DAC541-7B7A-43D3-8B79-37D633B846F1}">
                    <asvg:svgBlip xmlns:asvg="http://schemas.microsoft.com/office/drawing/2016/SVG/main" r:embed="rId7"/>
                  </a:ext>
                </a:extLst>
              </a:blip>
              <a:stretch>
                <a:fillRect l="-15676" t="-53953" r="-46523" b="0"/>
              </a:stretch>
            </a:blipFill>
            <a:ln w="104775" cap="sq">
              <a:solidFill>
                <a:srgbClr val="FEC622"/>
              </a:solidFill>
              <a:prstDash val="solid"/>
              <a:miter/>
            </a:ln>
          </p:spPr>
        </p:sp>
        <p:sp>
          <p:nvSpPr>
            <p:cNvPr name="TextBox 10" id="10"/>
            <p:cNvSpPr txBox="true"/>
            <p:nvPr/>
          </p:nvSpPr>
          <p:spPr>
            <a:xfrm rot="0">
              <a:off x="474936" y="534718"/>
              <a:ext cx="9432708" cy="7273395"/>
            </a:xfrm>
            <a:prstGeom prst="rect">
              <a:avLst/>
            </a:prstGeom>
          </p:spPr>
          <p:txBody>
            <a:bodyPr anchor="t" rtlCol="false" tIns="0" lIns="0" bIns="0" rIns="0">
              <a:spAutoFit/>
            </a:bodyPr>
            <a:lstStyle/>
            <a:p>
              <a:pPr algn="l">
                <a:lnSpc>
                  <a:spcPts val="4365"/>
                </a:lnSpc>
              </a:pPr>
              <a:r>
                <a:rPr lang="en-US" sz="2567" b="true">
                  <a:solidFill>
                    <a:srgbClr val="000000"/>
                  </a:solidFill>
                  <a:latin typeface="Montserrat Bold"/>
                  <a:ea typeface="Montserrat Bold"/>
                  <a:cs typeface="Montserrat Bold"/>
                  <a:sym typeface="Montserrat Bold"/>
                </a:rPr>
                <a:t>Why Fine-Tuning for Fake News?</a:t>
              </a:r>
            </a:p>
            <a:p>
              <a:pPr algn="l">
                <a:lnSpc>
                  <a:spcPts val="4365"/>
                </a:lnSpc>
              </a:pPr>
              <a:r>
                <a:rPr lang="en-US" sz="2567">
                  <a:solidFill>
                    <a:srgbClr val="000000"/>
                  </a:solidFill>
                  <a:latin typeface="Montserrat"/>
                  <a:ea typeface="Montserrat"/>
                  <a:cs typeface="Montserrat"/>
                  <a:sym typeface="Montserrat"/>
                </a:rPr>
                <a:t>Fake news often has recurring patterns, suc</a:t>
              </a:r>
              <a:r>
                <a:rPr lang="en-US" sz="2567">
                  <a:solidFill>
                    <a:srgbClr val="000000"/>
                  </a:solidFill>
                  <a:latin typeface="Montserrat"/>
                  <a:ea typeface="Montserrat"/>
                  <a:cs typeface="Montserrat"/>
                  <a:sym typeface="Montserrat"/>
                </a:rPr>
                <a:t>h</a:t>
              </a:r>
              <a:r>
                <a:rPr lang="en-US" sz="2567">
                  <a:solidFill>
                    <a:srgbClr val="000000"/>
                  </a:solidFill>
                  <a:latin typeface="Montserrat"/>
                  <a:ea typeface="Montserrat"/>
                  <a:cs typeface="Montserrat"/>
                  <a:sym typeface="Montserrat"/>
                </a:rPr>
                <a:t> as exaggerated claims, unusual sources, or emotional wording.</a:t>
              </a:r>
            </a:p>
            <a:p>
              <a:pPr algn="l">
                <a:lnSpc>
                  <a:spcPts val="4365"/>
                </a:lnSpc>
              </a:pPr>
              <a:r>
                <a:rPr lang="en-US" sz="2567">
                  <a:solidFill>
                    <a:srgbClr val="000000"/>
                  </a:solidFill>
                  <a:latin typeface="Montserrat"/>
                  <a:ea typeface="Montserrat"/>
                  <a:cs typeface="Montserrat"/>
                  <a:sym typeface="Montserrat"/>
                </a:rPr>
                <a:t>Fin</a:t>
              </a:r>
              <a:r>
                <a:rPr lang="en-US" sz="2567">
                  <a:solidFill>
                    <a:srgbClr val="000000"/>
                  </a:solidFill>
                  <a:latin typeface="Montserrat"/>
                  <a:ea typeface="Montserrat"/>
                  <a:cs typeface="Montserrat"/>
                  <a:sym typeface="Montserrat"/>
                </a:rPr>
                <a:t>e-tuning allows the model to:</a:t>
              </a:r>
            </a:p>
            <a:p>
              <a:pPr algn="l" marL="554426" indent="-277213" lvl="1">
                <a:lnSpc>
                  <a:spcPts val="4365"/>
                </a:lnSpc>
                <a:buFont typeface="Arial"/>
                <a:buChar char="•"/>
              </a:pPr>
              <a:r>
                <a:rPr lang="en-US" sz="2567">
                  <a:solidFill>
                    <a:srgbClr val="000000"/>
                  </a:solidFill>
                  <a:latin typeface="Montserrat"/>
                  <a:ea typeface="Montserrat"/>
                  <a:cs typeface="Montserrat"/>
                  <a:sym typeface="Montserrat"/>
                </a:rPr>
                <a:t>Learn these patterns directly</a:t>
              </a:r>
            </a:p>
            <a:p>
              <a:pPr algn="l" marL="554426" indent="-277213" lvl="1">
                <a:lnSpc>
                  <a:spcPts val="4365"/>
                </a:lnSpc>
                <a:buFont typeface="Arial"/>
                <a:buChar char="•"/>
              </a:pPr>
              <a:r>
                <a:rPr lang="en-US" sz="2567">
                  <a:solidFill>
                    <a:srgbClr val="000000"/>
                  </a:solidFill>
                  <a:latin typeface="Montserrat"/>
                  <a:ea typeface="Montserrat"/>
                  <a:cs typeface="Montserrat"/>
                  <a:sym typeface="Montserrat"/>
                </a:rPr>
                <a:t>M</a:t>
              </a:r>
              <a:r>
                <a:rPr lang="en-US" sz="2567">
                  <a:solidFill>
                    <a:srgbClr val="000000"/>
                  </a:solidFill>
                  <a:latin typeface="Montserrat"/>
                  <a:ea typeface="Montserrat"/>
                  <a:cs typeface="Montserrat"/>
                  <a:sym typeface="Montserrat"/>
                </a:rPr>
                <a:t>ake confid</a:t>
              </a:r>
              <a:r>
                <a:rPr lang="en-US" sz="2567">
                  <a:solidFill>
                    <a:srgbClr val="000000"/>
                  </a:solidFill>
                  <a:latin typeface="Montserrat"/>
                  <a:ea typeface="Montserrat"/>
                  <a:cs typeface="Montserrat"/>
                  <a:sym typeface="Montserrat"/>
                </a:rPr>
                <a:t>ent cl</a:t>
              </a:r>
              <a:r>
                <a:rPr lang="en-US" sz="2567">
                  <a:solidFill>
                    <a:srgbClr val="000000"/>
                  </a:solidFill>
                  <a:latin typeface="Montserrat"/>
                  <a:ea typeface="Montserrat"/>
                  <a:cs typeface="Montserrat"/>
                  <a:sym typeface="Montserrat"/>
                </a:rPr>
                <a:t>assifications </a:t>
              </a:r>
            </a:p>
            <a:p>
              <a:pPr algn="l" marL="554426" indent="-277213" lvl="1">
                <a:lnSpc>
                  <a:spcPts val="4365"/>
                </a:lnSpc>
                <a:buFont typeface="Arial"/>
                <a:buChar char="•"/>
              </a:pPr>
              <a:r>
                <a:rPr lang="en-US" sz="2567">
                  <a:solidFill>
                    <a:srgbClr val="000000"/>
                  </a:solidFill>
                  <a:latin typeface="Montserrat"/>
                  <a:ea typeface="Montserrat"/>
                  <a:cs typeface="Montserrat"/>
                  <a:sym typeface="Montserrat"/>
                </a:rPr>
                <a:t>Perform better than generic prompting in high-stakes situations</a:t>
              </a:r>
            </a:p>
            <a:p>
              <a:pPr algn="l">
                <a:lnSpc>
                  <a:spcPts val="4365"/>
                </a:lnSpc>
              </a:pP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376484" y="2554208"/>
            <a:ext cx="15284027" cy="7144431"/>
          </a:xfrm>
          <a:custGeom>
            <a:avLst/>
            <a:gdLst/>
            <a:ahLst/>
            <a:cxnLst/>
            <a:rect r="r" b="b" t="t" l="l"/>
            <a:pathLst>
              <a:path h="7144431" w="15284027">
                <a:moveTo>
                  <a:pt x="0" y="0"/>
                </a:moveTo>
                <a:lnTo>
                  <a:pt x="15284027" y="0"/>
                </a:lnTo>
                <a:lnTo>
                  <a:pt x="15284027" y="7144431"/>
                </a:lnTo>
                <a:lnTo>
                  <a:pt x="0" y="7144431"/>
                </a:lnTo>
                <a:lnTo>
                  <a:pt x="0" y="0"/>
                </a:lnTo>
                <a:close/>
              </a:path>
            </a:pathLst>
          </a:custGeom>
          <a:blipFill>
            <a:blip r:embed="rId6">
              <a:extLst>
                <a:ext uri="{96DAC541-7B7A-43D3-8B79-37D633B846F1}">
                  <asvg:svgBlip xmlns:asvg="http://schemas.microsoft.com/office/drawing/2016/SVG/main" r:embed="rId7"/>
                </a:ext>
              </a:extLst>
            </a:blip>
            <a:stretch>
              <a:fillRect l="-12763" t="-103080" r="-17307" b="-10135"/>
            </a:stretch>
          </a:blipFill>
          <a:ln w="104775" cap="sq">
            <a:solidFill>
              <a:srgbClr val="FEC622"/>
            </a:solidFill>
            <a:prstDash val="solid"/>
            <a:miter/>
          </a:ln>
        </p:spPr>
      </p:sp>
      <p:sp>
        <p:nvSpPr>
          <p:cNvPr name="Freeform 5" id="5"/>
          <p:cNvSpPr/>
          <p:nvPr/>
        </p:nvSpPr>
        <p:spPr>
          <a:xfrm flipH="false" flipV="false" rot="0">
            <a:off x="10306579" y="5143500"/>
            <a:ext cx="6298235" cy="4368318"/>
          </a:xfrm>
          <a:custGeom>
            <a:avLst/>
            <a:gdLst/>
            <a:ahLst/>
            <a:cxnLst/>
            <a:rect r="r" b="b" t="t" l="l"/>
            <a:pathLst>
              <a:path h="4368318" w="6298235">
                <a:moveTo>
                  <a:pt x="0" y="0"/>
                </a:moveTo>
                <a:lnTo>
                  <a:pt x="6298234" y="0"/>
                </a:lnTo>
                <a:lnTo>
                  <a:pt x="6298234" y="4368318"/>
                </a:lnTo>
                <a:lnTo>
                  <a:pt x="0" y="4368318"/>
                </a:lnTo>
                <a:lnTo>
                  <a:pt x="0" y="0"/>
                </a:lnTo>
                <a:close/>
              </a:path>
            </a:pathLst>
          </a:custGeom>
          <a:blipFill>
            <a:blip r:embed="rId8"/>
            <a:stretch>
              <a:fillRect l="-5754" t="-34571" r="-8774" b="-30555"/>
            </a:stretch>
          </a:blipFill>
        </p:spPr>
      </p:sp>
      <p:sp>
        <p:nvSpPr>
          <p:cNvPr name="TextBox 6" id="6"/>
          <p:cNvSpPr txBox="true"/>
          <p:nvPr/>
        </p:nvSpPr>
        <p:spPr>
          <a:xfrm rot="0">
            <a:off x="1706236" y="2790764"/>
            <a:ext cx="9271709" cy="6591292"/>
          </a:xfrm>
          <a:prstGeom prst="rect">
            <a:avLst/>
          </a:prstGeom>
        </p:spPr>
        <p:txBody>
          <a:bodyPr anchor="t" rtlCol="false" tIns="0" lIns="0" bIns="0" rIns="0">
            <a:spAutoFit/>
          </a:bodyPr>
          <a:lstStyle/>
          <a:p>
            <a:pPr algn="l">
              <a:lnSpc>
                <a:spcPts val="4359"/>
              </a:lnSpc>
            </a:pPr>
            <a:r>
              <a:rPr lang="en-US" sz="2564" b="true">
                <a:solidFill>
                  <a:srgbClr val="000000"/>
                </a:solidFill>
                <a:latin typeface="Montserrat Bold"/>
                <a:ea typeface="Montserrat Bold"/>
                <a:cs typeface="Montserrat Bold"/>
                <a:sym typeface="Montserrat Bold"/>
              </a:rPr>
              <a:t>What is LoRA (Low-Rank Adaptation)?</a:t>
            </a:r>
          </a:p>
          <a:p>
            <a:pPr algn="l">
              <a:lnSpc>
                <a:spcPts val="4359"/>
              </a:lnSpc>
            </a:pPr>
            <a:r>
              <a:rPr lang="en-US" sz="2564">
                <a:solidFill>
                  <a:srgbClr val="000000"/>
                </a:solidFill>
                <a:latin typeface="Montserrat"/>
                <a:ea typeface="Montserrat"/>
                <a:cs typeface="Montserrat"/>
                <a:sym typeface="Montserrat"/>
              </a:rPr>
              <a:t>LoRA is a method for </a:t>
            </a:r>
            <a:r>
              <a:rPr lang="en-US" sz="2564" b="true">
                <a:solidFill>
                  <a:srgbClr val="000000"/>
                </a:solidFill>
                <a:latin typeface="Montserrat Bold"/>
                <a:ea typeface="Montserrat Bold"/>
                <a:cs typeface="Montserrat Bold"/>
                <a:sym typeface="Montserrat Bold"/>
              </a:rPr>
              <a:t>efficient fine-tuning</a:t>
            </a:r>
            <a:r>
              <a:rPr lang="en-US" sz="2564">
                <a:solidFill>
                  <a:srgbClr val="000000"/>
                </a:solidFill>
                <a:latin typeface="Montserrat"/>
                <a:ea typeface="Montserrat"/>
                <a:cs typeface="Montserrat"/>
                <a:sym typeface="Montserrat"/>
              </a:rPr>
              <a:t> of LLMs.</a:t>
            </a:r>
          </a:p>
          <a:p>
            <a:pPr algn="l">
              <a:lnSpc>
                <a:spcPts val="4359"/>
              </a:lnSpc>
            </a:pPr>
            <a:r>
              <a:rPr lang="en-US" sz="2564">
                <a:solidFill>
                  <a:srgbClr val="000000"/>
                </a:solidFill>
                <a:latin typeface="Montserrat"/>
                <a:ea typeface="Montserrat"/>
                <a:cs typeface="Montserrat"/>
                <a:sym typeface="Montserrat"/>
              </a:rPr>
              <a:t>Instead of updating all the billions of parameters in a model, LoRA </a:t>
            </a:r>
            <a:r>
              <a:rPr lang="en-US" sz="2564" b="true">
                <a:solidFill>
                  <a:srgbClr val="000000"/>
                </a:solidFill>
                <a:latin typeface="Montserrat Bold"/>
                <a:ea typeface="Montserrat Bold"/>
                <a:cs typeface="Montserrat Bold"/>
                <a:sym typeface="Montserrat Bold"/>
              </a:rPr>
              <a:t>freezes the original model</a:t>
            </a:r>
            <a:r>
              <a:rPr lang="en-US" sz="2564">
                <a:solidFill>
                  <a:srgbClr val="000000"/>
                </a:solidFill>
                <a:latin typeface="Montserrat"/>
                <a:ea typeface="Montserrat"/>
                <a:cs typeface="Montserrat"/>
                <a:sym typeface="Montserrat"/>
              </a:rPr>
              <a:t> and adds a </a:t>
            </a:r>
            <a:r>
              <a:rPr lang="en-US" sz="2564" b="true">
                <a:solidFill>
                  <a:srgbClr val="000000"/>
                </a:solidFill>
                <a:latin typeface="Montserrat Bold"/>
                <a:ea typeface="Montserrat Bold"/>
                <a:cs typeface="Montserrat Bold"/>
                <a:sym typeface="Montserrat Bold"/>
              </a:rPr>
              <a:t>few small trainable matrices</a:t>
            </a:r>
            <a:r>
              <a:rPr lang="en-US" sz="2564">
                <a:solidFill>
                  <a:srgbClr val="000000"/>
                </a:solidFill>
                <a:latin typeface="Montserrat"/>
                <a:ea typeface="Montserrat"/>
                <a:cs typeface="Montserrat"/>
                <a:sym typeface="Montserrat"/>
              </a:rPr>
              <a:t> (called low-rank adapters). </a:t>
            </a:r>
          </a:p>
          <a:p>
            <a:pPr algn="l">
              <a:lnSpc>
                <a:spcPts val="4359"/>
              </a:lnSpc>
            </a:pPr>
            <a:r>
              <a:rPr lang="en-US" sz="2564">
                <a:solidFill>
                  <a:srgbClr val="000000"/>
                </a:solidFill>
                <a:latin typeface="Montserrat"/>
                <a:ea typeface="Montserrat"/>
                <a:cs typeface="Montserrat"/>
                <a:sym typeface="Montserrat"/>
              </a:rPr>
              <a:t>These adapters learn the task-specific behavior.</a:t>
            </a:r>
          </a:p>
          <a:p>
            <a:pPr algn="l">
              <a:lnSpc>
                <a:spcPts val="4359"/>
              </a:lnSpc>
            </a:pPr>
            <a:r>
              <a:rPr lang="en-US" sz="2564">
                <a:solidFill>
                  <a:srgbClr val="000000"/>
                </a:solidFill>
                <a:latin typeface="Montserrat"/>
                <a:ea typeface="Montserrat"/>
                <a:cs typeface="Montserrat"/>
                <a:sym typeface="Montserrat"/>
              </a:rPr>
              <a:t>This makes the process:</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Faster</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Cheaper</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Less memory-intensive</a:t>
            </a:r>
          </a:p>
          <a:p>
            <a:pPr algn="l" marL="553609" indent="-276804" lvl="1">
              <a:lnSpc>
                <a:spcPts val="4359"/>
              </a:lnSpc>
              <a:buFont typeface="Arial"/>
              <a:buChar char="•"/>
            </a:pPr>
            <a:r>
              <a:rPr lang="en-US" sz="2564">
                <a:solidFill>
                  <a:srgbClr val="000000"/>
                </a:solidFill>
                <a:latin typeface="Montserrat"/>
                <a:ea typeface="Montserrat"/>
                <a:cs typeface="Montserrat"/>
                <a:sym typeface="Montserrat"/>
              </a:rPr>
              <a:t>And allows you to switch between tasks easily by swapping adapters.</a:t>
            </a:r>
          </a:p>
        </p:txBody>
      </p:sp>
      <p:sp>
        <p:nvSpPr>
          <p:cNvPr name="TextBox 7" id="7"/>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FINE-TUNE PRE-TRAINED MODEL</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Freeform 4" id="4"/>
          <p:cNvSpPr/>
          <p:nvPr/>
        </p:nvSpPr>
        <p:spPr>
          <a:xfrm flipH="false" flipV="false" rot="0">
            <a:off x="1376484" y="2554208"/>
            <a:ext cx="11254676" cy="7068658"/>
          </a:xfrm>
          <a:custGeom>
            <a:avLst/>
            <a:gdLst/>
            <a:ahLst/>
            <a:cxnLst/>
            <a:rect r="r" b="b" t="t" l="l"/>
            <a:pathLst>
              <a:path h="7068658" w="11254676">
                <a:moveTo>
                  <a:pt x="0" y="0"/>
                </a:moveTo>
                <a:lnTo>
                  <a:pt x="11254675" y="0"/>
                </a:lnTo>
                <a:lnTo>
                  <a:pt x="11254675" y="7068657"/>
                </a:lnTo>
                <a:lnTo>
                  <a:pt x="0" y="7068657"/>
                </a:lnTo>
                <a:lnTo>
                  <a:pt x="0" y="0"/>
                </a:lnTo>
                <a:close/>
              </a:path>
            </a:pathLst>
          </a:custGeom>
          <a:blipFill>
            <a:blip r:embed="rId6">
              <a:extLst>
                <a:ext uri="{96DAC541-7B7A-43D3-8B79-37D633B846F1}">
                  <asvg:svgBlip xmlns:asvg="http://schemas.microsoft.com/office/drawing/2016/SVG/main" r:embed="rId7"/>
                </a:ext>
              </a:extLst>
            </a:blip>
            <a:stretch>
              <a:fillRect l="-18875" t="-113458" r="-73483" b="-21223"/>
            </a:stretch>
          </a:blipFill>
          <a:ln w="104775" cap="sq">
            <a:solidFill>
              <a:srgbClr val="FEC622"/>
            </a:solidFill>
            <a:prstDash val="solid"/>
            <a:miter/>
          </a:ln>
        </p:spPr>
      </p:sp>
      <p:sp>
        <p:nvSpPr>
          <p:cNvPr name="TextBox 5" id="5"/>
          <p:cNvSpPr txBox="true"/>
          <p:nvPr/>
        </p:nvSpPr>
        <p:spPr>
          <a:xfrm rot="0">
            <a:off x="1706236" y="2790764"/>
            <a:ext cx="9944774" cy="6591292"/>
          </a:xfrm>
          <a:prstGeom prst="rect">
            <a:avLst/>
          </a:prstGeom>
        </p:spPr>
        <p:txBody>
          <a:bodyPr anchor="t" rtlCol="false" tIns="0" lIns="0" bIns="0" rIns="0">
            <a:spAutoFit/>
          </a:bodyPr>
          <a:lstStyle/>
          <a:p>
            <a:pPr algn="l">
              <a:lnSpc>
                <a:spcPts val="4359"/>
              </a:lnSpc>
            </a:pPr>
            <a:r>
              <a:rPr lang="en-US" sz="2564" b="true">
                <a:solidFill>
                  <a:srgbClr val="000000"/>
                </a:solidFill>
                <a:latin typeface="Montserrat Bold"/>
                <a:ea typeface="Montserrat Bold"/>
                <a:cs typeface="Montserrat Bold"/>
                <a:sym typeface="Montserrat Bold"/>
              </a:rPr>
              <a:t>How Does the Fine-Tuning Process Using LoRA Work?</a:t>
            </a:r>
          </a:p>
          <a:p>
            <a:pPr algn="l">
              <a:lnSpc>
                <a:spcPts val="4359"/>
              </a:lnSpc>
            </a:pPr>
            <a:r>
              <a:rPr lang="en-US" sz="2564">
                <a:solidFill>
                  <a:srgbClr val="000000"/>
                </a:solidFill>
                <a:latin typeface="Montserrat"/>
                <a:ea typeface="Montserrat"/>
                <a:cs typeface="Montserrat"/>
                <a:sym typeface="Montserrat"/>
              </a:rPr>
              <a:t>1. Start with a pre-trained model (LLaMA-3.1)</a:t>
            </a:r>
          </a:p>
          <a:p>
            <a:pPr algn="l">
              <a:lnSpc>
                <a:spcPts val="4359"/>
              </a:lnSpc>
            </a:pPr>
            <a:r>
              <a:rPr lang="en-US" sz="2564">
                <a:solidFill>
                  <a:srgbClr val="000000"/>
                </a:solidFill>
                <a:latin typeface="Montserrat"/>
                <a:ea typeface="Montserrat"/>
                <a:cs typeface="Montserrat"/>
                <a:sym typeface="Montserrat"/>
              </a:rPr>
              <a:t>2. Insert LoRA adapters into specific layers of the model</a:t>
            </a:r>
            <a:r>
              <a:rPr lang="en-US" sz="2564" b="true">
                <a:solidFill>
                  <a:srgbClr val="000000"/>
                </a:solidFill>
                <a:latin typeface="Montserrat Bold"/>
                <a:ea typeface="Montserrat Bold"/>
                <a:cs typeface="Montserrat Bold"/>
                <a:sym typeface="Montserrat Bold"/>
              </a:rPr>
              <a:t> </a:t>
            </a:r>
            <a:r>
              <a:rPr lang="en-US" sz="2564">
                <a:solidFill>
                  <a:srgbClr val="000000"/>
                </a:solidFill>
                <a:latin typeface="Montserrat"/>
                <a:ea typeface="Montserrat"/>
                <a:cs typeface="Montserrat"/>
                <a:sym typeface="Montserrat"/>
              </a:rPr>
              <a:t>-</a:t>
            </a:r>
          </a:p>
          <a:p>
            <a:pPr algn="l">
              <a:lnSpc>
                <a:spcPts val="4359"/>
              </a:lnSpc>
            </a:pPr>
            <a:r>
              <a:rPr lang="en-US" sz="2564" b="true">
                <a:solidFill>
                  <a:srgbClr val="000000"/>
                </a:solidFill>
                <a:latin typeface="Montserrat Bold"/>
                <a:ea typeface="Montserrat Bold"/>
                <a:cs typeface="Montserrat Bold"/>
                <a:sym typeface="Montserrat Bold"/>
              </a:rPr>
              <a:t>    these are the only parts that will be trained</a:t>
            </a:r>
          </a:p>
          <a:p>
            <a:pPr algn="l">
              <a:lnSpc>
                <a:spcPts val="4359"/>
              </a:lnSpc>
            </a:pPr>
            <a:r>
              <a:rPr lang="en-US" sz="2564">
                <a:solidFill>
                  <a:srgbClr val="000000"/>
                </a:solidFill>
                <a:latin typeface="Montserrat"/>
                <a:ea typeface="Montserrat"/>
                <a:cs typeface="Montserrat"/>
                <a:sym typeface="Montserrat"/>
              </a:rPr>
              <a:t>3. Prepare your labeled dataset</a:t>
            </a:r>
          </a:p>
          <a:p>
            <a:pPr algn="l">
              <a:lnSpc>
                <a:spcPts val="4359"/>
              </a:lnSpc>
            </a:pPr>
            <a:r>
              <a:rPr lang="en-US" sz="2564">
                <a:solidFill>
                  <a:srgbClr val="000000"/>
                </a:solidFill>
                <a:latin typeface="Montserrat"/>
                <a:ea typeface="Montserrat"/>
                <a:cs typeface="Montserrat"/>
                <a:sym typeface="Montserrat"/>
              </a:rPr>
              <a:t>     </a:t>
            </a:r>
            <a:r>
              <a:rPr lang="en-US" sz="2564">
                <a:solidFill>
                  <a:srgbClr val="000000"/>
                </a:solidFill>
                <a:latin typeface="Montserrat"/>
                <a:ea typeface="Montserrat"/>
                <a:cs typeface="Montserrat"/>
                <a:sym typeface="Montserrat"/>
              </a:rPr>
              <a:t>For example: news samples with labels like REAL or FAKE</a:t>
            </a:r>
          </a:p>
          <a:p>
            <a:pPr algn="l">
              <a:lnSpc>
                <a:spcPts val="4359"/>
              </a:lnSpc>
            </a:pPr>
            <a:r>
              <a:rPr lang="en-US" sz="2564">
                <a:solidFill>
                  <a:srgbClr val="000000"/>
                </a:solidFill>
                <a:latin typeface="Montserrat"/>
                <a:ea typeface="Montserrat"/>
                <a:cs typeface="Montserrat"/>
                <a:sym typeface="Montserrat"/>
              </a:rPr>
              <a:t>4. </a:t>
            </a:r>
            <a:r>
              <a:rPr lang="en-US" sz="2564">
                <a:solidFill>
                  <a:srgbClr val="000000"/>
                </a:solidFill>
                <a:latin typeface="Montserrat"/>
                <a:ea typeface="Montserrat"/>
                <a:cs typeface="Montserrat"/>
                <a:sym typeface="Montserrat"/>
              </a:rPr>
              <a:t>Train the adapters </a:t>
            </a:r>
          </a:p>
          <a:p>
            <a:pPr algn="l">
              <a:lnSpc>
                <a:spcPts val="4359"/>
              </a:lnSpc>
            </a:pPr>
            <a:r>
              <a:rPr lang="en-US" sz="2564">
                <a:solidFill>
                  <a:srgbClr val="000000"/>
                </a:solidFill>
                <a:latin typeface="Montserrat"/>
                <a:ea typeface="Montserrat"/>
                <a:cs typeface="Montserrat"/>
                <a:sym typeface="Montserrat"/>
              </a:rPr>
              <a:t>     The base model remains frozen, and only the small LoRA </a:t>
            </a:r>
          </a:p>
          <a:p>
            <a:pPr algn="l">
              <a:lnSpc>
                <a:spcPts val="4359"/>
              </a:lnSpc>
            </a:pPr>
            <a:r>
              <a:rPr lang="en-US" sz="2564">
                <a:solidFill>
                  <a:srgbClr val="000000"/>
                </a:solidFill>
                <a:latin typeface="Montserrat"/>
                <a:ea typeface="Montserrat"/>
                <a:cs typeface="Montserrat"/>
                <a:sym typeface="Montserrat"/>
              </a:rPr>
              <a:t>      matrices are updated.</a:t>
            </a:r>
          </a:p>
          <a:p>
            <a:pPr algn="l">
              <a:lnSpc>
                <a:spcPts val="4359"/>
              </a:lnSpc>
            </a:pPr>
            <a:r>
              <a:rPr lang="en-US" sz="2564">
                <a:solidFill>
                  <a:srgbClr val="000000"/>
                </a:solidFill>
                <a:latin typeface="Montserrat"/>
                <a:ea typeface="Montserrat"/>
                <a:cs typeface="Montserrat"/>
                <a:sym typeface="Montserrat"/>
              </a:rPr>
              <a:t>5. </a:t>
            </a:r>
            <a:r>
              <a:rPr lang="en-US" sz="2564">
                <a:solidFill>
                  <a:srgbClr val="000000"/>
                </a:solidFill>
                <a:latin typeface="Montserrat"/>
                <a:ea typeface="Montserrat"/>
                <a:cs typeface="Montserrat"/>
                <a:sym typeface="Montserrat"/>
              </a:rPr>
              <a:t>Use t</a:t>
            </a:r>
            <a:r>
              <a:rPr lang="en-US" sz="2564">
                <a:solidFill>
                  <a:srgbClr val="000000"/>
                </a:solidFill>
                <a:latin typeface="Montserrat"/>
                <a:ea typeface="Montserrat"/>
                <a:cs typeface="Montserrat"/>
                <a:sym typeface="Montserrat"/>
              </a:rPr>
              <a:t>he adapted model for inference</a:t>
            </a:r>
          </a:p>
          <a:p>
            <a:pPr algn="l">
              <a:lnSpc>
                <a:spcPts val="4359"/>
              </a:lnSpc>
            </a:pPr>
            <a:r>
              <a:rPr lang="en-US" sz="2564">
                <a:solidFill>
                  <a:srgbClr val="000000"/>
                </a:solidFill>
                <a:latin typeface="Montserrat"/>
                <a:ea typeface="Montserrat"/>
                <a:cs typeface="Montserrat"/>
                <a:sym typeface="Montserrat"/>
              </a:rPr>
              <a:t>    The model now generates task-specific predictions, like  </a:t>
            </a:r>
          </a:p>
          <a:p>
            <a:pPr algn="l">
              <a:lnSpc>
                <a:spcPts val="4359"/>
              </a:lnSpc>
            </a:pPr>
            <a:r>
              <a:rPr lang="en-US" sz="2564">
                <a:solidFill>
                  <a:srgbClr val="000000"/>
                </a:solidFill>
                <a:latin typeface="Montserrat"/>
                <a:ea typeface="Montserrat"/>
                <a:cs typeface="Montserrat"/>
                <a:sym typeface="Montserrat"/>
              </a:rPr>
              <a:t>    completing "label: FAKE" or "label: REAL"</a:t>
            </a:r>
          </a:p>
        </p:txBody>
      </p:sp>
      <p:sp>
        <p:nvSpPr>
          <p:cNvPr name="TextBox 6" id="6"/>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FINE-TUNE PRE-TRAINED MODEL</a:t>
            </a:r>
          </a:p>
        </p:txBody>
      </p:sp>
      <p:grpSp>
        <p:nvGrpSpPr>
          <p:cNvPr name="Group 7" id="7"/>
          <p:cNvGrpSpPr/>
          <p:nvPr/>
        </p:nvGrpSpPr>
        <p:grpSpPr>
          <a:xfrm rot="0">
            <a:off x="12288220" y="2768315"/>
            <a:ext cx="5832452" cy="6854550"/>
            <a:chOff x="0" y="0"/>
            <a:chExt cx="7776603" cy="9139400"/>
          </a:xfrm>
        </p:grpSpPr>
        <p:grpSp>
          <p:nvGrpSpPr>
            <p:cNvPr name="Group 8" id="8"/>
            <p:cNvGrpSpPr/>
            <p:nvPr/>
          </p:nvGrpSpPr>
          <p:grpSpPr>
            <a:xfrm rot="0">
              <a:off x="40593" y="3885672"/>
              <a:ext cx="5127020" cy="512702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774700"/>
              </a:xfrm>
              <a:prstGeom prst="rect">
                <a:avLst/>
              </a:prstGeom>
            </p:spPr>
            <p:txBody>
              <a:bodyPr anchor="ctr" rtlCol="false" tIns="50800" lIns="50800" bIns="50800" rIns="50800"/>
              <a:lstStyle/>
              <a:p>
                <a:pPr algn="ctr">
                  <a:lnSpc>
                    <a:spcPts val="3910"/>
                  </a:lnSpc>
                </a:pPr>
              </a:p>
            </p:txBody>
          </p:sp>
        </p:grpSp>
        <p:grpSp>
          <p:nvGrpSpPr>
            <p:cNvPr name="Group 11" id="11"/>
            <p:cNvGrpSpPr/>
            <p:nvPr/>
          </p:nvGrpSpPr>
          <p:grpSpPr>
            <a:xfrm rot="0">
              <a:off x="0" y="0"/>
              <a:ext cx="7776603" cy="777660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38100"/>
                <a:ext cx="660400" cy="774700"/>
              </a:xfrm>
              <a:prstGeom prst="rect">
                <a:avLst/>
              </a:prstGeom>
            </p:spPr>
            <p:txBody>
              <a:bodyPr anchor="ctr" rtlCol="false" tIns="50800" lIns="50800" bIns="50800" rIns="50800"/>
              <a:lstStyle/>
              <a:p>
                <a:pPr algn="ctr">
                  <a:lnSpc>
                    <a:spcPts val="3910"/>
                  </a:lnSpc>
                </a:pPr>
              </a:p>
            </p:txBody>
          </p:sp>
        </p:grpSp>
        <p:sp>
          <p:nvSpPr>
            <p:cNvPr name="Freeform 14" id="14"/>
            <p:cNvSpPr/>
            <p:nvPr/>
          </p:nvSpPr>
          <p:spPr>
            <a:xfrm flipH="false" flipV="false" rot="0">
              <a:off x="303946" y="969928"/>
              <a:ext cx="7168712" cy="8169472"/>
            </a:xfrm>
            <a:custGeom>
              <a:avLst/>
              <a:gdLst/>
              <a:ahLst/>
              <a:cxnLst/>
              <a:rect r="r" b="b" t="t" l="l"/>
              <a:pathLst>
                <a:path h="8169472" w="7168712">
                  <a:moveTo>
                    <a:pt x="0" y="0"/>
                  </a:moveTo>
                  <a:lnTo>
                    <a:pt x="7168712" y="0"/>
                  </a:lnTo>
                  <a:lnTo>
                    <a:pt x="7168712" y="8169472"/>
                  </a:lnTo>
                  <a:lnTo>
                    <a:pt x="0" y="81694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TextBox 4" id="4"/>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FINE TUNING - EVALUATION</a:t>
            </a:r>
          </a:p>
        </p:txBody>
      </p:sp>
      <p:grpSp>
        <p:nvGrpSpPr>
          <p:cNvPr name="Group 5" id="5"/>
          <p:cNvGrpSpPr/>
          <p:nvPr/>
        </p:nvGrpSpPr>
        <p:grpSpPr>
          <a:xfrm rot="0">
            <a:off x="1028700" y="2836816"/>
            <a:ext cx="7540452" cy="6068080"/>
            <a:chOff x="0" y="0"/>
            <a:chExt cx="10053936" cy="8090773"/>
          </a:xfrm>
        </p:grpSpPr>
        <p:sp>
          <p:nvSpPr>
            <p:cNvPr name="Freeform 6" id="6"/>
            <p:cNvSpPr/>
            <p:nvPr/>
          </p:nvSpPr>
          <p:spPr>
            <a:xfrm flipH="false" flipV="false" rot="0">
              <a:off x="0" y="-578930"/>
              <a:ext cx="7440874" cy="10063851"/>
            </a:xfrm>
            <a:custGeom>
              <a:avLst/>
              <a:gdLst/>
              <a:ahLst/>
              <a:cxnLst/>
              <a:rect r="r" b="b" t="t" l="l"/>
              <a:pathLst>
                <a:path h="10063851" w="7440874">
                  <a:moveTo>
                    <a:pt x="0" y="0"/>
                  </a:moveTo>
                  <a:lnTo>
                    <a:pt x="7440874" y="0"/>
                  </a:lnTo>
                  <a:lnTo>
                    <a:pt x="7440874" y="10063851"/>
                  </a:lnTo>
                  <a:lnTo>
                    <a:pt x="0" y="10063851"/>
                  </a:lnTo>
                  <a:lnTo>
                    <a:pt x="0" y="0"/>
                  </a:lnTo>
                  <a:close/>
                </a:path>
              </a:pathLst>
            </a:custGeom>
            <a:blipFill>
              <a:blip r:embed="rId6">
                <a:extLst>
                  <a:ext uri="{96DAC541-7B7A-43D3-8B79-37D633B846F1}">
                    <asvg:svgBlip xmlns:asvg="http://schemas.microsoft.com/office/drawing/2016/SVG/main" r:embed="rId7"/>
                  </a:ext>
                </a:extLst>
              </a:blip>
              <a:stretch>
                <a:fillRect l="-49859" t="-28239" r="-131599" b="-31217"/>
              </a:stretch>
            </a:blipFill>
            <a:ln w="76200" cap="sq">
              <a:solidFill>
                <a:srgbClr val="FEC622"/>
              </a:solidFill>
              <a:prstDash val="solid"/>
              <a:miter/>
            </a:ln>
          </p:spPr>
        </p:sp>
        <p:sp>
          <p:nvSpPr>
            <p:cNvPr name="TextBox 7" id="7"/>
            <p:cNvSpPr txBox="true"/>
            <p:nvPr/>
          </p:nvSpPr>
          <p:spPr>
            <a:xfrm rot="0">
              <a:off x="469141" y="603932"/>
              <a:ext cx="6243596" cy="654081"/>
            </a:xfrm>
            <a:prstGeom prst="rect">
              <a:avLst/>
            </a:prstGeom>
          </p:spPr>
          <p:txBody>
            <a:bodyPr anchor="t" rtlCol="false" tIns="0" lIns="0" bIns="0" rIns="0">
              <a:spAutoFit/>
            </a:bodyPr>
            <a:lstStyle/>
            <a:p>
              <a:pPr algn="l">
                <a:lnSpc>
                  <a:spcPts val="4112"/>
                </a:lnSpc>
                <a:spcBef>
                  <a:spcPct val="0"/>
                </a:spcBef>
              </a:pPr>
              <a:r>
                <a:rPr lang="en-US" b="true" sz="2937">
                  <a:solidFill>
                    <a:srgbClr val="000000"/>
                  </a:solidFill>
                  <a:latin typeface="Montserrat Bold"/>
                  <a:ea typeface="Montserrat Bold"/>
                  <a:cs typeface="Montserrat Bold"/>
                  <a:sym typeface="Montserrat Bold"/>
                </a:rPr>
                <a:t>Title</a:t>
              </a:r>
              <a:r>
                <a:rPr lang="en-US" b="true" sz="2937">
                  <a:solidFill>
                    <a:srgbClr val="000000"/>
                  </a:solidFill>
                  <a:latin typeface="Montserrat Bold"/>
                  <a:ea typeface="Montserrat Bold"/>
                  <a:cs typeface="Montserrat Bold"/>
                  <a:sym typeface="Montserrat Bold"/>
                </a:rPr>
                <a:t> &amp; Text</a:t>
              </a:r>
            </a:p>
          </p:txBody>
        </p:sp>
      </p:grpSp>
      <p:graphicFrame>
        <p:nvGraphicFramePr>
          <p:cNvPr name="Table 8" id="8"/>
          <p:cNvGraphicFramePr>
            <a:graphicFrameLocks noGrp="true"/>
          </p:cNvGraphicFramePr>
          <p:nvPr/>
        </p:nvGraphicFramePr>
        <p:xfrm>
          <a:off x="416869" y="1174645"/>
          <a:ext cx="4877720" cy="5626228"/>
        </p:xfrm>
        <a:graphic>
          <a:graphicData uri="http://schemas.openxmlformats.org/drawingml/2006/table">
            <a:tbl>
              <a:tblPr/>
              <a:tblGrid>
                <a:gridCol w="2438860"/>
                <a:gridCol w="2438860"/>
              </a:tblGrid>
              <a:tr h="1125246">
                <a:tc>
                  <a:txBody>
                    <a:bodyPr anchor="t" rtlCol="false"/>
                    <a:lstStyle/>
                    <a:p>
                      <a:pPr algn="ctr">
                        <a:lnSpc>
                          <a:spcPts val="3608"/>
                        </a:lnSpc>
                        <a:defRPr/>
                      </a:pPr>
                      <a:r>
                        <a:rPr lang="en-US" sz="2577" b="true">
                          <a:solidFill>
                            <a:srgbClr val="000000"/>
                          </a:solidFill>
                          <a:latin typeface="Montserrat Bold"/>
                          <a:ea typeface="Montserrat Bold"/>
                          <a:cs typeface="Montserrat Bold"/>
                          <a:sym typeface="Montserrat Bold"/>
                        </a:rPr>
                        <a:t>Accuracy</a:t>
                      </a:r>
                      <a:endParaRPr lang="en-US" sz="1100"/>
                    </a:p>
                  </a:txBody>
                  <a:tcPr marL="213505" marR="213505" marT="213505" marB="213505" anchor="ctr">
                    <a:lnL cmpd="sng" algn="ctr" cap="flat" w="42701">
                      <a:solidFill>
                        <a:srgbClr val="000000"/>
                      </a:solidFill>
                      <a:prstDash val="solid"/>
                      <a:round/>
                      <a:headEnd type="none" w="med" len="med"/>
                      <a:tailEnd type="none" w="med" len="med"/>
                    </a:lnL>
                    <a:lnR cmpd="sng" algn="ctr" cap="flat" w="42701">
                      <a:solidFill>
                        <a:srgbClr val="000000"/>
                      </a:solidFill>
                      <a:prstDash val="solid"/>
                      <a:round/>
                      <a:headEnd type="none" w="med" len="med"/>
                      <a:tailEnd type="none" w="med" len="med"/>
                    </a:lnR>
                    <a:lnT cmpd="sng" algn="ctr" cap="flat" w="42701">
                      <a:solidFill>
                        <a:srgbClr val="000000"/>
                      </a:solidFill>
                      <a:prstDash val="solid"/>
                      <a:round/>
                      <a:headEnd type="none" w="med" len="med"/>
                      <a:tailEnd type="none" w="med" len="med"/>
                    </a:lnT>
                    <a:lnB cmpd="sng" algn="ctr" cap="flat" w="42701">
                      <a:solidFill>
                        <a:srgbClr val="000000"/>
                      </a:solidFill>
                      <a:prstDash val="solid"/>
                      <a:round/>
                      <a:headEnd type="none" w="med" len="med"/>
                      <a:tailEnd type="none" w="med" len="med"/>
                    </a:lnB>
                  </a:tcPr>
                </a:tc>
                <a:tc>
                  <a:txBody>
                    <a:bodyPr anchor="t" rtlCol="false"/>
                    <a:lstStyle/>
                    <a:p>
                      <a:pPr algn="ctr">
                        <a:lnSpc>
                          <a:spcPts val="3608"/>
                        </a:lnSpc>
                        <a:defRPr/>
                      </a:pPr>
                      <a:r>
                        <a:rPr lang="en-US" sz="2577">
                          <a:solidFill>
                            <a:srgbClr val="000000"/>
                          </a:solidFill>
                          <a:latin typeface="Montserrat"/>
                          <a:ea typeface="Montserrat"/>
                          <a:cs typeface="Montserrat"/>
                          <a:sym typeface="Montserrat"/>
                        </a:rPr>
                        <a:t>0.44</a:t>
                      </a:r>
                      <a:endParaRPr lang="en-US" sz="1100"/>
                    </a:p>
                  </a:txBody>
                  <a:tcPr marL="213505" marR="213505" marT="213505" marB="213505" anchor="ctr">
                    <a:lnL cmpd="sng" algn="ctr" cap="flat" w="42701">
                      <a:solidFill>
                        <a:srgbClr val="000000"/>
                      </a:solidFill>
                      <a:prstDash val="solid"/>
                      <a:round/>
                      <a:headEnd type="none" w="med" len="med"/>
                      <a:tailEnd type="none" w="med" len="med"/>
                    </a:lnL>
                    <a:lnR cmpd="sng" algn="ctr" cap="flat" w="42701">
                      <a:solidFill>
                        <a:srgbClr val="000000"/>
                      </a:solidFill>
                      <a:prstDash val="solid"/>
                      <a:round/>
                      <a:headEnd type="none" w="med" len="med"/>
                      <a:tailEnd type="none" w="med" len="med"/>
                    </a:lnR>
                    <a:lnT cmpd="sng" algn="ctr" cap="flat" w="42701">
                      <a:solidFill>
                        <a:srgbClr val="000000"/>
                      </a:solidFill>
                      <a:prstDash val="solid"/>
                      <a:round/>
                      <a:headEnd type="none" w="med" len="med"/>
                      <a:tailEnd type="none" w="med" len="med"/>
                    </a:lnT>
                    <a:lnB cmpd="sng" algn="ctr" cap="flat" w="42701">
                      <a:solidFill>
                        <a:srgbClr val="000000"/>
                      </a:solidFill>
                      <a:prstDash val="solid"/>
                      <a:round/>
                      <a:headEnd type="none" w="med" len="med"/>
                      <a:tailEnd type="none" w="med" len="med"/>
                    </a:lnB>
                  </a:tcPr>
                </a:tc>
              </a:tr>
              <a:tr h="1125246">
                <a:tc>
                  <a:txBody>
                    <a:bodyPr anchor="t" rtlCol="false"/>
                    <a:lstStyle/>
                    <a:p>
                      <a:pPr algn="ctr">
                        <a:lnSpc>
                          <a:spcPts val="3608"/>
                        </a:lnSpc>
                        <a:defRPr/>
                      </a:pPr>
                      <a:r>
                        <a:rPr lang="en-US" sz="2577" b="true">
                          <a:solidFill>
                            <a:srgbClr val="000000"/>
                          </a:solidFill>
                          <a:latin typeface="Montserrat Bold"/>
                          <a:ea typeface="Montserrat Bold"/>
                          <a:cs typeface="Montserrat Bold"/>
                          <a:sym typeface="Montserrat Bold"/>
                        </a:rPr>
                        <a:t>Precision</a:t>
                      </a:r>
                      <a:endParaRPr lang="en-US" sz="1100"/>
                    </a:p>
                  </a:txBody>
                  <a:tcPr marL="213505" marR="213505" marT="213505" marB="213505" anchor="ctr">
                    <a:lnL cmpd="sng" algn="ctr" cap="flat" w="42701">
                      <a:solidFill>
                        <a:srgbClr val="000000"/>
                      </a:solidFill>
                      <a:prstDash val="solid"/>
                      <a:round/>
                      <a:headEnd type="none" w="med" len="med"/>
                      <a:tailEnd type="none" w="med" len="med"/>
                    </a:lnL>
                    <a:lnR cmpd="sng" algn="ctr" cap="flat" w="42701">
                      <a:solidFill>
                        <a:srgbClr val="000000"/>
                      </a:solidFill>
                      <a:prstDash val="solid"/>
                      <a:round/>
                      <a:headEnd type="none" w="med" len="med"/>
                      <a:tailEnd type="none" w="med" len="med"/>
                    </a:lnR>
                    <a:lnT cmpd="sng" algn="ctr" cap="flat" w="42701">
                      <a:solidFill>
                        <a:srgbClr val="000000"/>
                      </a:solidFill>
                      <a:prstDash val="solid"/>
                      <a:round/>
                      <a:headEnd type="none" w="med" len="med"/>
                      <a:tailEnd type="none" w="med" len="med"/>
                    </a:lnT>
                    <a:lnB cmpd="sng" algn="ctr" cap="flat" w="42701">
                      <a:solidFill>
                        <a:srgbClr val="000000"/>
                      </a:solidFill>
                      <a:prstDash val="solid"/>
                      <a:round/>
                      <a:headEnd type="none" w="med" len="med"/>
                      <a:tailEnd type="none" w="med" len="med"/>
                    </a:lnB>
                  </a:tcPr>
                </a:tc>
                <a:tc>
                  <a:txBody>
                    <a:bodyPr anchor="t" rtlCol="false"/>
                    <a:lstStyle/>
                    <a:p>
                      <a:pPr algn="ctr">
                        <a:lnSpc>
                          <a:spcPts val="3608"/>
                        </a:lnSpc>
                        <a:defRPr/>
                      </a:pPr>
                      <a:r>
                        <a:rPr lang="en-US" sz="2577">
                          <a:solidFill>
                            <a:srgbClr val="000000"/>
                          </a:solidFill>
                          <a:latin typeface="Montserrat"/>
                          <a:ea typeface="Montserrat"/>
                          <a:cs typeface="Montserrat"/>
                          <a:sym typeface="Montserrat"/>
                        </a:rPr>
                        <a:t>0.44</a:t>
                      </a:r>
                      <a:endParaRPr lang="en-US" sz="1100"/>
                    </a:p>
                  </a:txBody>
                  <a:tcPr marL="213505" marR="213505" marT="213505" marB="213505" anchor="ctr">
                    <a:lnL cmpd="sng" algn="ctr" cap="flat" w="42701">
                      <a:solidFill>
                        <a:srgbClr val="000000"/>
                      </a:solidFill>
                      <a:prstDash val="solid"/>
                      <a:round/>
                      <a:headEnd type="none" w="med" len="med"/>
                      <a:tailEnd type="none" w="med" len="med"/>
                    </a:lnL>
                    <a:lnR cmpd="sng" algn="ctr" cap="flat" w="42701">
                      <a:solidFill>
                        <a:srgbClr val="000000"/>
                      </a:solidFill>
                      <a:prstDash val="solid"/>
                      <a:round/>
                      <a:headEnd type="none" w="med" len="med"/>
                      <a:tailEnd type="none" w="med" len="med"/>
                    </a:lnR>
                    <a:lnT cmpd="sng" algn="ctr" cap="flat" w="42701">
                      <a:solidFill>
                        <a:srgbClr val="000000"/>
                      </a:solidFill>
                      <a:prstDash val="solid"/>
                      <a:round/>
                      <a:headEnd type="none" w="med" len="med"/>
                      <a:tailEnd type="none" w="med" len="med"/>
                    </a:lnT>
                    <a:lnB cmpd="sng" algn="ctr" cap="flat" w="42701">
                      <a:solidFill>
                        <a:srgbClr val="000000"/>
                      </a:solidFill>
                      <a:prstDash val="solid"/>
                      <a:round/>
                      <a:headEnd type="none" w="med" len="med"/>
                      <a:tailEnd type="none" w="med" len="med"/>
                    </a:lnB>
                  </a:tcPr>
                </a:tc>
              </a:tr>
              <a:tr h="1125246">
                <a:tc>
                  <a:txBody>
                    <a:bodyPr anchor="t" rtlCol="false"/>
                    <a:lstStyle/>
                    <a:p>
                      <a:pPr algn="ctr">
                        <a:lnSpc>
                          <a:spcPts val="3608"/>
                        </a:lnSpc>
                        <a:defRPr/>
                      </a:pPr>
                      <a:r>
                        <a:rPr lang="en-US" sz="2577" b="true">
                          <a:solidFill>
                            <a:srgbClr val="000000"/>
                          </a:solidFill>
                          <a:latin typeface="Montserrat Bold"/>
                          <a:ea typeface="Montserrat Bold"/>
                          <a:cs typeface="Montserrat Bold"/>
                          <a:sym typeface="Montserrat Bold"/>
                        </a:rPr>
                        <a:t>Recall</a:t>
                      </a:r>
                      <a:endParaRPr lang="en-US" sz="1100"/>
                    </a:p>
                  </a:txBody>
                  <a:tcPr marL="213505" marR="213505" marT="213505" marB="213505" anchor="ctr">
                    <a:lnL cmpd="sng" algn="ctr" cap="flat" w="42701">
                      <a:solidFill>
                        <a:srgbClr val="000000"/>
                      </a:solidFill>
                      <a:prstDash val="solid"/>
                      <a:round/>
                      <a:headEnd type="none" w="med" len="med"/>
                      <a:tailEnd type="none" w="med" len="med"/>
                    </a:lnL>
                    <a:lnR cmpd="sng" algn="ctr" cap="flat" w="42701">
                      <a:solidFill>
                        <a:srgbClr val="000000"/>
                      </a:solidFill>
                      <a:prstDash val="solid"/>
                      <a:round/>
                      <a:headEnd type="none" w="med" len="med"/>
                      <a:tailEnd type="none" w="med" len="med"/>
                    </a:lnR>
                    <a:lnT cmpd="sng" algn="ctr" cap="flat" w="42701">
                      <a:solidFill>
                        <a:srgbClr val="000000"/>
                      </a:solidFill>
                      <a:prstDash val="solid"/>
                      <a:round/>
                      <a:headEnd type="none" w="med" len="med"/>
                      <a:tailEnd type="none" w="med" len="med"/>
                    </a:lnT>
                    <a:lnB cmpd="sng" algn="ctr" cap="flat" w="42701">
                      <a:solidFill>
                        <a:srgbClr val="000000"/>
                      </a:solidFill>
                      <a:prstDash val="solid"/>
                      <a:round/>
                      <a:headEnd type="none" w="med" len="med"/>
                      <a:tailEnd type="none" w="med" len="med"/>
                    </a:lnB>
                  </a:tcPr>
                </a:tc>
                <a:tc>
                  <a:txBody>
                    <a:bodyPr anchor="t" rtlCol="false"/>
                    <a:lstStyle/>
                    <a:p>
                      <a:pPr algn="ctr">
                        <a:lnSpc>
                          <a:spcPts val="3608"/>
                        </a:lnSpc>
                        <a:defRPr/>
                      </a:pPr>
                      <a:r>
                        <a:rPr lang="en-US" sz="2577">
                          <a:solidFill>
                            <a:srgbClr val="000000"/>
                          </a:solidFill>
                          <a:latin typeface="Montserrat"/>
                          <a:ea typeface="Montserrat"/>
                          <a:cs typeface="Montserrat"/>
                          <a:sym typeface="Montserrat"/>
                        </a:rPr>
                        <a:t>1.0</a:t>
                      </a:r>
                      <a:endParaRPr lang="en-US" sz="1100"/>
                    </a:p>
                  </a:txBody>
                  <a:tcPr marL="213505" marR="213505" marT="213505" marB="213505" anchor="ctr">
                    <a:lnL cmpd="sng" algn="ctr" cap="flat" w="42701">
                      <a:solidFill>
                        <a:srgbClr val="000000"/>
                      </a:solidFill>
                      <a:prstDash val="solid"/>
                      <a:round/>
                      <a:headEnd type="none" w="med" len="med"/>
                      <a:tailEnd type="none" w="med" len="med"/>
                    </a:lnL>
                    <a:lnR cmpd="sng" algn="ctr" cap="flat" w="42701">
                      <a:solidFill>
                        <a:srgbClr val="000000"/>
                      </a:solidFill>
                      <a:prstDash val="solid"/>
                      <a:round/>
                      <a:headEnd type="none" w="med" len="med"/>
                      <a:tailEnd type="none" w="med" len="med"/>
                    </a:lnR>
                    <a:lnT cmpd="sng" algn="ctr" cap="flat" w="42701">
                      <a:solidFill>
                        <a:srgbClr val="000000"/>
                      </a:solidFill>
                      <a:prstDash val="solid"/>
                      <a:round/>
                      <a:headEnd type="none" w="med" len="med"/>
                      <a:tailEnd type="none" w="med" len="med"/>
                    </a:lnT>
                    <a:lnB cmpd="sng" algn="ctr" cap="flat" w="42701">
                      <a:solidFill>
                        <a:srgbClr val="000000"/>
                      </a:solidFill>
                      <a:prstDash val="solid"/>
                      <a:round/>
                      <a:headEnd type="none" w="med" len="med"/>
                      <a:tailEnd type="none" w="med" len="med"/>
                    </a:lnB>
                  </a:tcPr>
                </a:tc>
              </a:tr>
              <a:tr h="1125246">
                <a:tc>
                  <a:txBody>
                    <a:bodyPr anchor="t" rtlCol="false"/>
                    <a:lstStyle/>
                    <a:p>
                      <a:pPr algn="ctr">
                        <a:lnSpc>
                          <a:spcPts val="3608"/>
                        </a:lnSpc>
                        <a:defRPr/>
                      </a:pPr>
                      <a:r>
                        <a:rPr lang="en-US" sz="2577" b="true">
                          <a:solidFill>
                            <a:srgbClr val="000000"/>
                          </a:solidFill>
                          <a:latin typeface="Montserrat Bold"/>
                          <a:ea typeface="Montserrat Bold"/>
                          <a:cs typeface="Montserrat Bold"/>
                          <a:sym typeface="Montserrat Bold"/>
                        </a:rPr>
                        <a:t>F1 Score</a:t>
                      </a:r>
                      <a:endParaRPr lang="en-US" sz="1100"/>
                    </a:p>
                  </a:txBody>
                  <a:tcPr marL="213505" marR="213505" marT="213505" marB="213505" anchor="ctr">
                    <a:lnL cmpd="sng" algn="ctr" cap="flat" w="42701">
                      <a:solidFill>
                        <a:srgbClr val="000000"/>
                      </a:solidFill>
                      <a:prstDash val="solid"/>
                      <a:round/>
                      <a:headEnd type="none" w="med" len="med"/>
                      <a:tailEnd type="none" w="med" len="med"/>
                    </a:lnL>
                    <a:lnR cmpd="sng" algn="ctr" cap="flat" w="42701">
                      <a:solidFill>
                        <a:srgbClr val="000000"/>
                      </a:solidFill>
                      <a:prstDash val="solid"/>
                      <a:round/>
                      <a:headEnd type="none" w="med" len="med"/>
                      <a:tailEnd type="none" w="med" len="med"/>
                    </a:lnR>
                    <a:lnT cmpd="sng" algn="ctr" cap="flat" w="42701">
                      <a:solidFill>
                        <a:srgbClr val="000000"/>
                      </a:solidFill>
                      <a:prstDash val="solid"/>
                      <a:round/>
                      <a:headEnd type="none" w="med" len="med"/>
                      <a:tailEnd type="none" w="med" len="med"/>
                    </a:lnT>
                    <a:lnB cmpd="sng" algn="ctr" cap="flat" w="42701">
                      <a:solidFill>
                        <a:srgbClr val="000000"/>
                      </a:solidFill>
                      <a:prstDash val="solid"/>
                      <a:round/>
                      <a:headEnd type="none" w="med" len="med"/>
                      <a:tailEnd type="none" w="med" len="med"/>
                    </a:lnB>
                  </a:tcPr>
                </a:tc>
                <a:tc>
                  <a:txBody>
                    <a:bodyPr anchor="t" rtlCol="false"/>
                    <a:lstStyle/>
                    <a:p>
                      <a:pPr algn="ctr">
                        <a:lnSpc>
                          <a:spcPts val="3608"/>
                        </a:lnSpc>
                        <a:defRPr/>
                      </a:pPr>
                      <a:r>
                        <a:rPr lang="en-US" sz="2577">
                          <a:solidFill>
                            <a:srgbClr val="000000"/>
                          </a:solidFill>
                          <a:latin typeface="Montserrat"/>
                          <a:ea typeface="Montserrat"/>
                          <a:cs typeface="Montserrat"/>
                          <a:sym typeface="Montserrat"/>
                        </a:rPr>
                        <a:t>0.61</a:t>
                      </a:r>
                      <a:endParaRPr lang="en-US" sz="1100"/>
                    </a:p>
                  </a:txBody>
                  <a:tcPr marL="213505" marR="213505" marT="213505" marB="213505" anchor="ctr">
                    <a:lnL cmpd="sng" algn="ctr" cap="flat" w="42701">
                      <a:solidFill>
                        <a:srgbClr val="000000"/>
                      </a:solidFill>
                      <a:prstDash val="solid"/>
                      <a:round/>
                      <a:headEnd type="none" w="med" len="med"/>
                      <a:tailEnd type="none" w="med" len="med"/>
                    </a:lnL>
                    <a:lnR cmpd="sng" algn="ctr" cap="flat" w="42701">
                      <a:solidFill>
                        <a:srgbClr val="000000"/>
                      </a:solidFill>
                      <a:prstDash val="solid"/>
                      <a:round/>
                      <a:headEnd type="none" w="med" len="med"/>
                      <a:tailEnd type="none" w="med" len="med"/>
                    </a:lnR>
                    <a:lnT cmpd="sng" algn="ctr" cap="flat" w="42701">
                      <a:solidFill>
                        <a:srgbClr val="000000"/>
                      </a:solidFill>
                      <a:prstDash val="solid"/>
                      <a:round/>
                      <a:headEnd type="none" w="med" len="med"/>
                      <a:tailEnd type="none" w="med" len="med"/>
                    </a:lnT>
                    <a:lnB cmpd="sng" algn="ctr" cap="flat" w="42701">
                      <a:solidFill>
                        <a:srgbClr val="000000"/>
                      </a:solidFill>
                      <a:prstDash val="solid"/>
                      <a:round/>
                      <a:headEnd type="none" w="med" len="med"/>
                      <a:tailEnd type="none" w="med" len="med"/>
                    </a:lnB>
                  </a:tcPr>
                </a:tc>
              </a:tr>
              <a:tr h="1125246">
                <a:tc>
                  <a:txBody>
                    <a:bodyPr anchor="t" rtlCol="false"/>
                    <a:lstStyle/>
                    <a:p>
                      <a:pPr algn="ctr">
                        <a:lnSpc>
                          <a:spcPts val="3608"/>
                        </a:lnSpc>
                        <a:defRPr/>
                      </a:pPr>
                      <a:r>
                        <a:rPr lang="en-US" sz="2577" b="true">
                          <a:solidFill>
                            <a:srgbClr val="000000"/>
                          </a:solidFill>
                          <a:latin typeface="Montserrat Bold"/>
                          <a:ea typeface="Montserrat Bold"/>
                          <a:cs typeface="Montserrat Bold"/>
                          <a:sym typeface="Montserrat Bold"/>
                        </a:rPr>
                        <a:t>FPR</a:t>
                      </a:r>
                      <a:endParaRPr lang="en-US" sz="1100"/>
                    </a:p>
                  </a:txBody>
                  <a:tcPr marL="213505" marR="213505" marT="213505" marB="213505" anchor="ctr">
                    <a:lnL cmpd="sng" algn="ctr" cap="flat" w="42701">
                      <a:solidFill>
                        <a:srgbClr val="000000"/>
                      </a:solidFill>
                      <a:prstDash val="solid"/>
                      <a:round/>
                      <a:headEnd type="none" w="med" len="med"/>
                      <a:tailEnd type="none" w="med" len="med"/>
                    </a:lnL>
                    <a:lnR cmpd="sng" algn="ctr" cap="flat" w="42701">
                      <a:solidFill>
                        <a:srgbClr val="000000"/>
                      </a:solidFill>
                      <a:prstDash val="solid"/>
                      <a:round/>
                      <a:headEnd type="none" w="med" len="med"/>
                      <a:tailEnd type="none" w="med" len="med"/>
                    </a:lnR>
                    <a:lnT cmpd="sng" algn="ctr" cap="flat" w="42701">
                      <a:solidFill>
                        <a:srgbClr val="000000"/>
                      </a:solidFill>
                      <a:prstDash val="solid"/>
                      <a:round/>
                      <a:headEnd type="none" w="med" len="med"/>
                      <a:tailEnd type="none" w="med" len="med"/>
                    </a:lnT>
                    <a:lnB cmpd="sng" algn="ctr" cap="flat" w="42701">
                      <a:solidFill>
                        <a:srgbClr val="000000"/>
                      </a:solidFill>
                      <a:prstDash val="solid"/>
                      <a:round/>
                      <a:headEnd type="none" w="med" len="med"/>
                      <a:tailEnd type="none" w="med" len="med"/>
                    </a:lnB>
                  </a:tcPr>
                </a:tc>
                <a:tc>
                  <a:txBody>
                    <a:bodyPr anchor="t" rtlCol="false"/>
                    <a:lstStyle/>
                    <a:p>
                      <a:pPr algn="ctr">
                        <a:lnSpc>
                          <a:spcPts val="3608"/>
                        </a:lnSpc>
                        <a:defRPr/>
                      </a:pPr>
                      <a:r>
                        <a:rPr lang="en-US" sz="2577">
                          <a:solidFill>
                            <a:srgbClr val="000000"/>
                          </a:solidFill>
                          <a:latin typeface="Montserrat"/>
                          <a:ea typeface="Montserrat"/>
                          <a:cs typeface="Montserrat"/>
                          <a:sym typeface="Montserrat"/>
                        </a:rPr>
                        <a:t>1.0</a:t>
                      </a:r>
                      <a:endParaRPr lang="en-US" sz="1100"/>
                    </a:p>
                  </a:txBody>
                  <a:tcPr marL="213505" marR="213505" marT="213505" marB="213505" anchor="ctr">
                    <a:lnL cmpd="sng" algn="ctr" cap="flat" w="42701">
                      <a:solidFill>
                        <a:srgbClr val="000000"/>
                      </a:solidFill>
                      <a:prstDash val="solid"/>
                      <a:round/>
                      <a:headEnd type="none" w="med" len="med"/>
                      <a:tailEnd type="none" w="med" len="med"/>
                    </a:lnL>
                    <a:lnR cmpd="sng" algn="ctr" cap="flat" w="42701">
                      <a:solidFill>
                        <a:srgbClr val="000000"/>
                      </a:solidFill>
                      <a:prstDash val="solid"/>
                      <a:round/>
                      <a:headEnd type="none" w="med" len="med"/>
                      <a:tailEnd type="none" w="med" len="med"/>
                    </a:lnR>
                    <a:lnT cmpd="sng" algn="ctr" cap="flat" w="42701">
                      <a:solidFill>
                        <a:srgbClr val="000000"/>
                      </a:solidFill>
                      <a:prstDash val="solid"/>
                      <a:round/>
                      <a:headEnd type="none" w="med" len="med"/>
                      <a:tailEnd type="none" w="med" len="med"/>
                    </a:lnT>
                    <a:lnB cmpd="sng" algn="ctr" cap="flat" w="42701">
                      <a:solidFill>
                        <a:srgbClr val="000000"/>
                      </a:solidFill>
                      <a:prstDash val="solid"/>
                      <a:round/>
                      <a:headEnd type="none" w="med" len="med"/>
                      <a:tailEnd type="none" w="med" len="med"/>
                    </a:lnB>
                  </a:tcPr>
                </a:tc>
              </a:tr>
            </a:tbl>
          </a:graphicData>
        </a:graphic>
      </p:graphicFrame>
      <p:sp>
        <p:nvSpPr>
          <p:cNvPr name="Freeform 9" id="9"/>
          <p:cNvSpPr/>
          <p:nvPr/>
        </p:nvSpPr>
        <p:spPr>
          <a:xfrm flipH="false" flipV="false" rot="0">
            <a:off x="6785490" y="2384711"/>
            <a:ext cx="8366739" cy="7551739"/>
          </a:xfrm>
          <a:custGeom>
            <a:avLst/>
            <a:gdLst/>
            <a:ahLst/>
            <a:cxnLst/>
            <a:rect r="r" b="b" t="t" l="l"/>
            <a:pathLst>
              <a:path h="7551739" w="8366739">
                <a:moveTo>
                  <a:pt x="0" y="0"/>
                </a:moveTo>
                <a:lnTo>
                  <a:pt x="8366739" y="0"/>
                </a:lnTo>
                <a:lnTo>
                  <a:pt x="8366739" y="7551739"/>
                </a:lnTo>
                <a:lnTo>
                  <a:pt x="0" y="7551739"/>
                </a:lnTo>
                <a:lnTo>
                  <a:pt x="0" y="0"/>
                </a:lnTo>
                <a:close/>
              </a:path>
            </a:pathLst>
          </a:custGeom>
          <a:blipFill>
            <a:blip r:embed="rId6">
              <a:extLst>
                <a:ext uri="{96DAC541-7B7A-43D3-8B79-37D633B846F1}">
                  <asvg:svgBlip xmlns:asvg="http://schemas.microsoft.com/office/drawing/2016/SVG/main" r:embed="rId7"/>
                </a:ext>
              </a:extLst>
            </a:blip>
            <a:stretch>
              <a:fillRect l="-30498" t="-14447" r="-4313" b="0"/>
            </a:stretch>
          </a:blipFill>
          <a:ln w="76200" cap="sq">
            <a:solidFill>
              <a:srgbClr val="FEC622"/>
            </a:solidFill>
            <a:prstDash val="solid"/>
            <a:miter/>
          </a:ln>
        </p:spPr>
      </p:sp>
      <p:sp>
        <p:nvSpPr>
          <p:cNvPr name="TextBox 10" id="10"/>
          <p:cNvSpPr txBox="true"/>
          <p:nvPr/>
        </p:nvSpPr>
        <p:spPr>
          <a:xfrm rot="0">
            <a:off x="7295209" y="3140596"/>
            <a:ext cx="7686988" cy="6117704"/>
          </a:xfrm>
          <a:prstGeom prst="rect">
            <a:avLst/>
          </a:prstGeom>
        </p:spPr>
        <p:txBody>
          <a:bodyPr anchor="t" rtlCol="false" tIns="0" lIns="0" bIns="0" rIns="0">
            <a:spAutoFit/>
          </a:bodyPr>
          <a:lstStyle/>
          <a:p>
            <a:pPr algn="l">
              <a:lnSpc>
                <a:spcPts val="3500"/>
              </a:lnSpc>
            </a:pPr>
          </a:p>
          <a:p>
            <a:pPr algn="l">
              <a:lnSpc>
                <a:spcPts val="3500"/>
              </a:lnSpc>
              <a:spcBef>
                <a:spcPct val="0"/>
              </a:spcBef>
            </a:pPr>
            <a:r>
              <a:rPr lang="en-US" sz="2500">
                <a:solidFill>
                  <a:srgbClr val="000000"/>
                </a:solidFill>
                <a:latin typeface="Montserrat"/>
                <a:ea typeface="Montserrat"/>
                <a:cs typeface="Montserrat"/>
                <a:sym typeface="Montserrat"/>
              </a:rPr>
              <a:t>T</a:t>
            </a:r>
            <a:r>
              <a:rPr lang="en-US" sz="2500">
                <a:solidFill>
                  <a:srgbClr val="000000"/>
                </a:solidFill>
                <a:latin typeface="Montserrat"/>
                <a:ea typeface="Montserrat"/>
                <a:cs typeface="Montserrat"/>
                <a:sym typeface="Montserrat"/>
              </a:rPr>
              <a:t>he current fine-tuned model classifies all test examples as fake (1), i</a:t>
            </a:r>
            <a:r>
              <a:rPr lang="en-US" sz="2500">
                <a:solidFill>
                  <a:srgbClr val="000000"/>
                </a:solidFill>
                <a:latin typeface="Montserrat"/>
                <a:ea typeface="Montserrat"/>
                <a:cs typeface="Montserrat"/>
                <a:sym typeface="Montserrat"/>
              </a:rPr>
              <a:t>nd</a:t>
            </a:r>
            <a:r>
              <a:rPr lang="en-US" sz="2500">
                <a:solidFill>
                  <a:srgbClr val="000000"/>
                </a:solidFill>
                <a:latin typeface="Montserrat"/>
                <a:ea typeface="Montserrat"/>
                <a:cs typeface="Montserrat"/>
                <a:sym typeface="Montserrat"/>
              </a:rPr>
              <a:t>i</a:t>
            </a:r>
            <a:r>
              <a:rPr lang="en-US" sz="2500">
                <a:solidFill>
                  <a:srgbClr val="000000"/>
                </a:solidFill>
                <a:latin typeface="Montserrat"/>
                <a:ea typeface="Montserrat"/>
                <a:cs typeface="Montserrat"/>
                <a:sym typeface="Montserrat"/>
              </a:rPr>
              <a:t>cat</a:t>
            </a:r>
            <a:r>
              <a:rPr lang="en-US" sz="2500">
                <a:solidFill>
                  <a:srgbClr val="000000"/>
                </a:solidFill>
                <a:latin typeface="Montserrat"/>
                <a:ea typeface="Montserrat"/>
                <a:cs typeface="Montserrat"/>
                <a:sym typeface="Montserrat"/>
              </a:rPr>
              <a:t>ing a significant bias toward the positive class.</a:t>
            </a:r>
          </a:p>
          <a:p>
            <a:pPr algn="l" marL="539751" indent="-269876" lvl="1">
              <a:lnSpc>
                <a:spcPts val="3500"/>
              </a:lnSpc>
              <a:spcBef>
                <a:spcPct val="0"/>
              </a:spcBef>
              <a:buFont typeface="Arial"/>
              <a:buChar char="•"/>
            </a:pPr>
            <a:r>
              <a:rPr lang="en-US" sz="2500">
                <a:solidFill>
                  <a:srgbClr val="000000"/>
                </a:solidFill>
                <a:latin typeface="Montserrat"/>
                <a:ea typeface="Montserrat"/>
                <a:cs typeface="Montserrat"/>
                <a:sym typeface="Montserrat"/>
              </a:rPr>
              <a:t>Recall</a:t>
            </a:r>
            <a:r>
              <a:rPr lang="en-US" sz="2500">
                <a:solidFill>
                  <a:srgbClr val="000000"/>
                </a:solidFill>
                <a:latin typeface="Montserrat"/>
                <a:ea typeface="Montserrat"/>
                <a:cs typeface="Montserrat"/>
                <a:sym typeface="Montserrat"/>
              </a:rPr>
              <a:t>: 100%</a:t>
            </a:r>
            <a:r>
              <a:rPr lang="en-US" sz="2500">
                <a:solidFill>
                  <a:srgbClr val="000000"/>
                </a:solidFill>
                <a:latin typeface="Montserrat"/>
                <a:ea typeface="Montserrat"/>
                <a:cs typeface="Montserrat"/>
                <a:sym typeface="Montserrat"/>
              </a:rPr>
              <a:t>, but </a:t>
            </a:r>
            <a:r>
              <a:rPr lang="en-US" sz="2500">
                <a:solidFill>
                  <a:srgbClr val="000000"/>
                </a:solidFill>
                <a:latin typeface="Montserrat"/>
                <a:ea typeface="Montserrat"/>
                <a:cs typeface="Montserrat"/>
                <a:sym typeface="Montserrat"/>
              </a:rPr>
              <a:t>Precision: </a:t>
            </a:r>
            <a:r>
              <a:rPr lang="en-US" sz="2500">
                <a:solidFill>
                  <a:srgbClr val="000000"/>
                </a:solidFill>
                <a:latin typeface="Montserrat"/>
                <a:ea typeface="Montserrat"/>
                <a:cs typeface="Montserrat"/>
                <a:sym typeface="Montserrat"/>
              </a:rPr>
              <a:t>only 44.4%</a:t>
            </a:r>
          </a:p>
          <a:p>
            <a:pPr algn="l" marL="539751" indent="-269876" lvl="1">
              <a:lnSpc>
                <a:spcPts val="3500"/>
              </a:lnSpc>
              <a:spcBef>
                <a:spcPct val="0"/>
              </a:spcBef>
              <a:buFont typeface="Arial"/>
              <a:buChar char="•"/>
            </a:pPr>
            <a:r>
              <a:rPr lang="en-US" sz="2500">
                <a:solidFill>
                  <a:srgbClr val="000000"/>
                </a:solidFill>
                <a:latin typeface="Montserrat"/>
                <a:ea typeface="Montserrat"/>
                <a:cs typeface="Montserrat"/>
                <a:sym typeface="Montserrat"/>
              </a:rPr>
              <a:t>False Positive Rate: 100%, </a:t>
            </a:r>
            <a:r>
              <a:rPr lang="en-US" sz="2500">
                <a:solidFill>
                  <a:srgbClr val="000000"/>
                </a:solidFill>
                <a:latin typeface="Montserrat"/>
                <a:ea typeface="Montserrat"/>
                <a:cs typeface="Montserrat"/>
                <a:sym typeface="Montserrat"/>
              </a:rPr>
              <a:t>show</a:t>
            </a:r>
            <a:r>
              <a:rPr lang="en-US" sz="2500">
                <a:solidFill>
                  <a:srgbClr val="000000"/>
                </a:solidFill>
                <a:latin typeface="Montserrat"/>
                <a:ea typeface="Montserrat"/>
                <a:cs typeface="Montserrat"/>
                <a:sym typeface="Montserrat"/>
              </a:rPr>
              <a:t>ing no ability to detect negative cases</a:t>
            </a:r>
          </a:p>
          <a:p>
            <a:pPr algn="l" marL="539751" indent="-269876" lvl="1">
              <a:lnSpc>
                <a:spcPts val="3500"/>
              </a:lnSpc>
              <a:spcBef>
                <a:spcPct val="0"/>
              </a:spcBef>
              <a:buFont typeface="Arial"/>
              <a:buChar char="•"/>
            </a:pPr>
            <a:r>
              <a:rPr lang="en-US" sz="2500">
                <a:solidFill>
                  <a:srgbClr val="000000"/>
                </a:solidFill>
                <a:latin typeface="Montserrat"/>
                <a:ea typeface="Montserrat"/>
                <a:cs typeface="Montserrat"/>
                <a:sym typeface="Montserrat"/>
              </a:rPr>
              <a:t>Accuracy and F1 score a</a:t>
            </a:r>
            <a:r>
              <a:rPr lang="en-US" sz="2500">
                <a:solidFill>
                  <a:srgbClr val="000000"/>
                </a:solidFill>
                <a:latin typeface="Montserrat"/>
                <a:ea typeface="Montserrat"/>
                <a:cs typeface="Montserrat"/>
                <a:sym typeface="Montserrat"/>
              </a:rPr>
              <a:t>pp</a:t>
            </a:r>
            <a:r>
              <a:rPr lang="en-US" sz="2500">
                <a:solidFill>
                  <a:srgbClr val="000000"/>
                </a:solidFill>
                <a:latin typeface="Montserrat"/>
                <a:ea typeface="Montserrat"/>
                <a:cs typeface="Montserrat"/>
                <a:sym typeface="Montserrat"/>
              </a:rPr>
              <a:t>e</a:t>
            </a:r>
            <a:r>
              <a:rPr lang="en-US" sz="2500">
                <a:solidFill>
                  <a:srgbClr val="000000"/>
                </a:solidFill>
                <a:latin typeface="Montserrat"/>
                <a:ea typeface="Montserrat"/>
                <a:cs typeface="Montserrat"/>
                <a:sym typeface="Montserrat"/>
              </a:rPr>
              <a:t>ar</a:t>
            </a:r>
            <a:r>
              <a:rPr lang="en-US" sz="2500">
                <a:solidFill>
                  <a:srgbClr val="000000"/>
                </a:solidFill>
                <a:latin typeface="Montserrat"/>
                <a:ea typeface="Montserrat"/>
                <a:cs typeface="Montserrat"/>
                <a:sym typeface="Montserrat"/>
              </a:rPr>
              <a:t> moderate but </a:t>
            </a:r>
            <a:r>
              <a:rPr lang="en-US" sz="2500">
                <a:solidFill>
                  <a:srgbClr val="000000"/>
                </a:solidFill>
                <a:latin typeface="Montserrat"/>
                <a:ea typeface="Montserrat"/>
                <a:cs typeface="Montserrat"/>
                <a:sym typeface="Montserrat"/>
              </a:rPr>
              <a:t>are </a:t>
            </a:r>
            <a:r>
              <a:rPr lang="en-US" sz="2500">
                <a:solidFill>
                  <a:srgbClr val="000000"/>
                </a:solidFill>
                <a:latin typeface="Montserrat"/>
                <a:ea typeface="Montserrat"/>
                <a:cs typeface="Montserrat"/>
                <a:sym typeface="Montserrat"/>
              </a:rPr>
              <a:t>misleading due to class imbalance</a:t>
            </a:r>
          </a:p>
          <a:p>
            <a:pPr algn="l">
              <a:lnSpc>
                <a:spcPts val="3500"/>
              </a:lnSpc>
              <a:spcBef>
                <a:spcPct val="0"/>
              </a:spcBef>
            </a:pPr>
          </a:p>
          <a:p>
            <a:pPr algn="l">
              <a:lnSpc>
                <a:spcPts val="3500"/>
              </a:lnSpc>
              <a:spcBef>
                <a:spcPct val="0"/>
              </a:spcBef>
            </a:pPr>
            <a:r>
              <a:rPr lang="en-US" sz="2500">
                <a:solidFill>
                  <a:srgbClr val="000000"/>
                </a:solidFill>
                <a:latin typeface="Montserrat"/>
                <a:ea typeface="Montserrat"/>
                <a:cs typeface="Montserrat"/>
                <a:sym typeface="Montserrat"/>
              </a:rPr>
              <a:t>Due to time and resource </a:t>
            </a:r>
            <a:r>
              <a:rPr lang="en-US" sz="2500">
                <a:solidFill>
                  <a:srgbClr val="000000"/>
                </a:solidFill>
                <a:latin typeface="Montserrat"/>
                <a:ea typeface="Montserrat"/>
                <a:cs typeface="Montserrat"/>
                <a:sym typeface="Montserrat"/>
              </a:rPr>
              <a:t>con</a:t>
            </a:r>
            <a:r>
              <a:rPr lang="en-US" sz="2500">
                <a:solidFill>
                  <a:srgbClr val="000000"/>
                </a:solidFill>
                <a:latin typeface="Montserrat"/>
                <a:ea typeface="Montserrat"/>
                <a:cs typeface="Montserrat"/>
                <a:sym typeface="Montserrat"/>
              </a:rPr>
              <a:t>str</a:t>
            </a:r>
            <a:r>
              <a:rPr lang="en-US" sz="2500">
                <a:solidFill>
                  <a:srgbClr val="000000"/>
                </a:solidFill>
                <a:latin typeface="Montserrat"/>
                <a:ea typeface="Montserrat"/>
                <a:cs typeface="Montserrat"/>
                <a:sym typeface="Montserrat"/>
              </a:rPr>
              <a:t>a</a:t>
            </a:r>
            <a:r>
              <a:rPr lang="en-US" sz="2500">
                <a:solidFill>
                  <a:srgbClr val="000000"/>
                </a:solidFill>
                <a:latin typeface="Montserrat"/>
                <a:ea typeface="Montserrat"/>
                <a:cs typeface="Montserrat"/>
                <a:sym typeface="Montserrat"/>
              </a:rPr>
              <a:t>i</a:t>
            </a:r>
            <a:r>
              <a:rPr lang="en-US" sz="2500">
                <a:solidFill>
                  <a:srgbClr val="000000"/>
                </a:solidFill>
                <a:latin typeface="Montserrat"/>
                <a:ea typeface="Montserrat"/>
                <a:cs typeface="Montserrat"/>
                <a:sym typeface="Montserrat"/>
              </a:rPr>
              <a:t>n</a:t>
            </a:r>
            <a:r>
              <a:rPr lang="en-US" sz="2500">
                <a:solidFill>
                  <a:srgbClr val="000000"/>
                </a:solidFill>
                <a:latin typeface="Montserrat"/>
                <a:ea typeface="Montserrat"/>
                <a:cs typeface="Montserrat"/>
                <a:sym typeface="Montserrat"/>
              </a:rPr>
              <a:t>ts, we </a:t>
            </a:r>
            <a:r>
              <a:rPr lang="en-US" sz="2500">
                <a:solidFill>
                  <a:srgbClr val="000000"/>
                </a:solidFill>
                <a:latin typeface="Montserrat"/>
                <a:ea typeface="Montserrat"/>
                <a:cs typeface="Montserrat"/>
                <a:sym typeface="Montserrat"/>
              </a:rPr>
              <a:t>were </a:t>
            </a:r>
            <a:r>
              <a:rPr lang="en-US" sz="2500">
                <a:solidFill>
                  <a:srgbClr val="000000"/>
                </a:solidFill>
                <a:latin typeface="Montserrat"/>
                <a:ea typeface="Montserrat"/>
                <a:cs typeface="Montserrat"/>
                <a:sym typeface="Montserrat"/>
              </a:rPr>
              <a:t>u</a:t>
            </a:r>
            <a:r>
              <a:rPr lang="en-US" sz="2500">
                <a:solidFill>
                  <a:srgbClr val="000000"/>
                </a:solidFill>
                <a:latin typeface="Montserrat"/>
                <a:ea typeface="Montserrat"/>
                <a:cs typeface="Montserrat"/>
                <a:sym typeface="Montserrat"/>
              </a:rPr>
              <a:t>nab</a:t>
            </a:r>
            <a:r>
              <a:rPr lang="en-US" sz="2500">
                <a:solidFill>
                  <a:srgbClr val="000000"/>
                </a:solidFill>
                <a:latin typeface="Montserrat"/>
                <a:ea typeface="Montserrat"/>
                <a:cs typeface="Montserrat"/>
                <a:sym typeface="Montserrat"/>
              </a:rPr>
              <a:t>l</a:t>
            </a:r>
            <a:r>
              <a:rPr lang="en-US" sz="2500">
                <a:solidFill>
                  <a:srgbClr val="000000"/>
                </a:solidFill>
                <a:latin typeface="Montserrat"/>
                <a:ea typeface="Montserrat"/>
                <a:cs typeface="Montserrat"/>
                <a:sym typeface="Montserrat"/>
              </a:rPr>
              <a:t>e </a:t>
            </a:r>
            <a:r>
              <a:rPr lang="en-US" sz="2500">
                <a:solidFill>
                  <a:srgbClr val="000000"/>
                </a:solidFill>
                <a:latin typeface="Montserrat"/>
                <a:ea typeface="Montserrat"/>
                <a:cs typeface="Montserrat"/>
                <a:sym typeface="Montserrat"/>
              </a:rPr>
              <a:t>t</a:t>
            </a:r>
            <a:r>
              <a:rPr lang="en-US" sz="2500">
                <a:solidFill>
                  <a:srgbClr val="000000"/>
                </a:solidFill>
                <a:latin typeface="Montserrat"/>
                <a:ea typeface="Montserrat"/>
                <a:cs typeface="Montserrat"/>
                <a:sym typeface="Montserrat"/>
              </a:rPr>
              <a:t>o</a:t>
            </a:r>
            <a:r>
              <a:rPr lang="en-US" sz="2500">
                <a:solidFill>
                  <a:srgbClr val="000000"/>
                </a:solidFill>
                <a:latin typeface="Montserrat"/>
                <a:ea typeface="Montserrat"/>
                <a:cs typeface="Montserrat"/>
                <a:sym typeface="Montserrat"/>
              </a:rPr>
              <a:t> </a:t>
            </a:r>
            <a:r>
              <a:rPr lang="en-US" sz="2500">
                <a:solidFill>
                  <a:srgbClr val="000000"/>
                </a:solidFill>
                <a:latin typeface="Montserrat"/>
                <a:ea typeface="Montserrat"/>
                <a:cs typeface="Montserrat"/>
                <a:sym typeface="Montserrat"/>
              </a:rPr>
              <a:t>fu</a:t>
            </a:r>
            <a:r>
              <a:rPr lang="en-US" sz="2500">
                <a:solidFill>
                  <a:srgbClr val="000000"/>
                </a:solidFill>
                <a:latin typeface="Montserrat"/>
                <a:ea typeface="Montserrat"/>
                <a:cs typeface="Montserrat"/>
                <a:sym typeface="Montserrat"/>
              </a:rPr>
              <a:t>r</a:t>
            </a:r>
            <a:r>
              <a:rPr lang="en-US" sz="2500">
                <a:solidFill>
                  <a:srgbClr val="000000"/>
                </a:solidFill>
                <a:latin typeface="Montserrat"/>
                <a:ea typeface="Montserrat"/>
                <a:cs typeface="Montserrat"/>
                <a:sym typeface="Montserrat"/>
              </a:rPr>
              <a:t>ther refin</a:t>
            </a:r>
            <a:r>
              <a:rPr lang="en-US" sz="2500">
                <a:solidFill>
                  <a:srgbClr val="000000"/>
                </a:solidFill>
                <a:latin typeface="Montserrat"/>
                <a:ea typeface="Montserrat"/>
                <a:cs typeface="Montserrat"/>
                <a:sym typeface="Montserrat"/>
              </a:rPr>
              <a:t>e the fine-tuning process.</a:t>
            </a:r>
          </a:p>
          <a:p>
            <a:pPr algn="l">
              <a:lnSpc>
                <a:spcPts val="3500"/>
              </a:lnSpc>
              <a:spcBef>
                <a:spcPct val="0"/>
              </a:spcBef>
            </a:pPr>
            <a:r>
              <a:rPr lang="en-US" sz="2500">
                <a:solidFill>
                  <a:srgbClr val="000000"/>
                </a:solidFill>
                <a:latin typeface="Montserrat"/>
                <a:ea typeface="Montserrat"/>
                <a:cs typeface="Montserrat"/>
                <a:sym typeface="Montserrat"/>
              </a:rPr>
              <a:t>This limitation should be addressed in future work.</a:t>
            </a:r>
          </a:p>
        </p:txBody>
      </p:sp>
      <p:sp>
        <p:nvSpPr>
          <p:cNvPr name="TextBox 11" id="11"/>
          <p:cNvSpPr txBox="true"/>
          <p:nvPr/>
        </p:nvSpPr>
        <p:spPr>
          <a:xfrm rot="0">
            <a:off x="7295209" y="2989668"/>
            <a:ext cx="4682697" cy="504812"/>
          </a:xfrm>
          <a:prstGeom prst="rect">
            <a:avLst/>
          </a:prstGeom>
        </p:spPr>
        <p:txBody>
          <a:bodyPr anchor="t" rtlCol="false" tIns="0" lIns="0" bIns="0" rIns="0">
            <a:spAutoFit/>
          </a:bodyPr>
          <a:lstStyle/>
          <a:p>
            <a:pPr algn="l">
              <a:lnSpc>
                <a:spcPts val="4112"/>
              </a:lnSpc>
              <a:spcBef>
                <a:spcPct val="0"/>
              </a:spcBef>
            </a:pPr>
            <a:r>
              <a:rPr lang="en-US" b="true" sz="2937">
                <a:solidFill>
                  <a:srgbClr val="000000"/>
                </a:solidFill>
                <a:latin typeface="Montserrat Bold"/>
                <a:ea typeface="Montserrat Bold"/>
                <a:cs typeface="Montserrat Bold"/>
                <a:sym typeface="Montserrat Bold"/>
              </a:rPr>
              <a:t>Issues: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317" t="0" r="-3317" b="0"/>
            </a:stretch>
          </a:blipFill>
        </p:spPr>
      </p:sp>
      <p:sp>
        <p:nvSpPr>
          <p:cNvPr name="Freeform 3" id="3"/>
          <p:cNvSpPr/>
          <p:nvPr/>
        </p:nvSpPr>
        <p:spPr>
          <a:xfrm flipH="false" flipV="false" rot="0">
            <a:off x="-201253" y="-1345560"/>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4">
              <a:extLst>
                <a:ext uri="{96DAC541-7B7A-43D3-8B79-37D633B846F1}">
                  <asvg:svgBlip xmlns:asvg="http://schemas.microsoft.com/office/drawing/2016/SVG/main" r:embed="rId5"/>
                </a:ext>
              </a:extLst>
            </a:blip>
            <a:stretch>
              <a:fillRect l="0" t="-192211" r="0" b="-182709"/>
            </a:stretch>
          </a:blipFill>
          <a:ln w="190500" cap="sq">
            <a:solidFill>
              <a:srgbClr val="FEC622"/>
            </a:solidFill>
            <a:prstDash val="solid"/>
            <a:miter/>
          </a:ln>
        </p:spPr>
      </p:sp>
      <p:sp>
        <p:nvSpPr>
          <p:cNvPr name="TextBox 4" id="4"/>
          <p:cNvSpPr txBox="true"/>
          <p:nvPr/>
        </p:nvSpPr>
        <p:spPr>
          <a:xfrm rot="0">
            <a:off x="1028700" y="545783"/>
            <a:ext cx="16601144" cy="870585"/>
          </a:xfrm>
          <a:prstGeom prst="rect">
            <a:avLst/>
          </a:prstGeom>
        </p:spPr>
        <p:txBody>
          <a:bodyPr anchor="t" rtlCol="false" tIns="0" lIns="0" bIns="0" rIns="0">
            <a:spAutoFit/>
          </a:bodyPr>
          <a:lstStyle/>
          <a:p>
            <a:pPr algn="l">
              <a:lnSpc>
                <a:spcPts val="7140"/>
              </a:lnSpc>
              <a:spcBef>
                <a:spcPct val="0"/>
              </a:spcBef>
            </a:pPr>
            <a:r>
              <a:rPr lang="en-US" b="true" sz="5100">
                <a:solidFill>
                  <a:srgbClr val="000000"/>
                </a:solidFill>
                <a:latin typeface="Montserrat Bold"/>
                <a:ea typeface="Montserrat Bold"/>
                <a:cs typeface="Montserrat Bold"/>
                <a:sym typeface="Montserrat Bold"/>
              </a:rPr>
              <a:t>CONCLUSIONS</a:t>
            </a:r>
          </a:p>
        </p:txBody>
      </p:sp>
      <p:grpSp>
        <p:nvGrpSpPr>
          <p:cNvPr name="Group 5" id="5"/>
          <p:cNvGrpSpPr/>
          <p:nvPr/>
        </p:nvGrpSpPr>
        <p:grpSpPr>
          <a:xfrm rot="0">
            <a:off x="2330330" y="2403417"/>
            <a:ext cx="13997884" cy="7177047"/>
            <a:chOff x="0" y="0"/>
            <a:chExt cx="18663846" cy="9569396"/>
          </a:xfrm>
        </p:grpSpPr>
        <p:sp>
          <p:nvSpPr>
            <p:cNvPr name="Freeform 6" id="6"/>
            <p:cNvSpPr/>
            <p:nvPr/>
          </p:nvSpPr>
          <p:spPr>
            <a:xfrm flipH="false" flipV="false" rot="0">
              <a:off x="0" y="0"/>
              <a:ext cx="18663846" cy="9569396"/>
            </a:xfrm>
            <a:custGeom>
              <a:avLst/>
              <a:gdLst/>
              <a:ahLst/>
              <a:cxnLst/>
              <a:rect r="r" b="b" t="t" l="l"/>
              <a:pathLst>
                <a:path h="9569396" w="18663846">
                  <a:moveTo>
                    <a:pt x="0" y="0"/>
                  </a:moveTo>
                  <a:lnTo>
                    <a:pt x="18663846" y="0"/>
                  </a:lnTo>
                  <a:lnTo>
                    <a:pt x="18663846" y="9569396"/>
                  </a:lnTo>
                  <a:lnTo>
                    <a:pt x="0" y="9569396"/>
                  </a:lnTo>
                  <a:lnTo>
                    <a:pt x="0" y="0"/>
                  </a:lnTo>
                  <a:close/>
                </a:path>
              </a:pathLst>
            </a:custGeom>
            <a:blipFill>
              <a:blip r:embed="rId6">
                <a:extLst>
                  <a:ext uri="{96DAC541-7B7A-43D3-8B79-37D633B846F1}">
                    <asvg:svgBlip xmlns:asvg="http://schemas.microsoft.com/office/drawing/2016/SVG/main" r:embed="rId7"/>
                  </a:ext>
                </a:extLst>
              </a:blip>
              <a:stretch>
                <a:fillRect l="-12557" t="-87578" r="-15412" b="-3667"/>
              </a:stretch>
            </a:blipFill>
            <a:ln w="104775" cap="sq">
              <a:solidFill>
                <a:srgbClr val="FEC622"/>
              </a:solidFill>
              <a:prstDash val="solid"/>
              <a:miter/>
            </a:ln>
          </p:spPr>
        </p:sp>
        <p:sp>
          <p:nvSpPr>
            <p:cNvPr name="TextBox 7" id="7"/>
            <p:cNvSpPr txBox="true"/>
            <p:nvPr/>
          </p:nvSpPr>
          <p:spPr>
            <a:xfrm rot="0">
              <a:off x="1387705" y="617162"/>
              <a:ext cx="15888435" cy="8348989"/>
            </a:xfrm>
            <a:prstGeom prst="rect">
              <a:avLst/>
            </a:prstGeom>
          </p:spPr>
          <p:txBody>
            <a:bodyPr anchor="t" rtlCol="false" tIns="0" lIns="0" bIns="0" rIns="0">
              <a:spAutoFit/>
            </a:bodyPr>
            <a:lstStyle/>
            <a:p>
              <a:pPr algn="l" marL="850690" indent="-425345" lvl="1">
                <a:lnSpc>
                  <a:spcPts val="5516"/>
                </a:lnSpc>
                <a:buFont typeface="Arial"/>
                <a:buChar char="•"/>
              </a:pPr>
              <a:r>
                <a:rPr lang="en-US" sz="3940">
                  <a:solidFill>
                    <a:srgbClr val="000000"/>
                  </a:solidFill>
                  <a:latin typeface="Montserrat"/>
                  <a:ea typeface="Montserrat"/>
                  <a:cs typeface="Montserrat"/>
                  <a:sym typeface="Montserrat"/>
                </a:rPr>
                <a:t>The models we presented can power a browser plugin that classifies news articles.</a:t>
              </a:r>
            </a:p>
            <a:p>
              <a:pPr algn="l" marL="850690" indent="-425345" lvl="1">
                <a:lnSpc>
                  <a:spcPts val="5516"/>
                </a:lnSpc>
                <a:buFont typeface="Arial"/>
                <a:buChar char="•"/>
              </a:pPr>
              <a:r>
                <a:rPr lang="en-US" sz="3940">
                  <a:solidFill>
                    <a:srgbClr val="000000"/>
                  </a:solidFill>
                  <a:latin typeface="Montserrat"/>
                  <a:ea typeface="Montserrat"/>
                  <a:cs typeface="Montserrat"/>
                  <a:sym typeface="Montserrat"/>
                </a:rPr>
                <a:t>The tool can be further developed to display a confidence score indicating the reliability of each article.</a:t>
              </a:r>
            </a:p>
            <a:p>
              <a:pPr algn="l" marL="850690" indent="-425345" lvl="1">
                <a:lnSpc>
                  <a:spcPts val="5516"/>
                </a:lnSpc>
                <a:buFont typeface="Arial"/>
                <a:buChar char="•"/>
              </a:pPr>
              <a:r>
                <a:rPr lang="en-US" sz="3940">
                  <a:solidFill>
                    <a:srgbClr val="000000"/>
                  </a:solidFill>
                  <a:latin typeface="Montserrat"/>
                  <a:ea typeface="Montserrat"/>
                  <a:cs typeface="Montserrat"/>
                  <a:sym typeface="Montserrat"/>
                </a:rPr>
                <a:t>Useful for readers, journalists or researchers who want quick, model-based insights.</a:t>
              </a:r>
            </a:p>
            <a:p>
              <a:pPr algn="l" marL="850690" indent="-425345" lvl="1">
                <a:lnSpc>
                  <a:spcPts val="5516"/>
                </a:lnSpc>
                <a:buFont typeface="Arial"/>
                <a:buChar char="•"/>
              </a:pPr>
              <a:r>
                <a:rPr lang="en-US" sz="3940">
                  <a:solidFill>
                    <a:srgbClr val="000000"/>
                  </a:solidFill>
                  <a:latin typeface="Montserrat"/>
                  <a:ea typeface="Montserrat"/>
                  <a:cs typeface="Montserrat"/>
                  <a:sym typeface="Montserrat"/>
                </a:rPr>
                <a:t>Combining methods can improve accuracy in real-world scenarios.</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17" t="0" r="-3317" b="0"/>
            </a:stretch>
          </a:blipFill>
        </p:spPr>
      </p:sp>
      <p:sp>
        <p:nvSpPr>
          <p:cNvPr name="Freeform 3" id="3"/>
          <p:cNvSpPr/>
          <p:nvPr/>
        </p:nvSpPr>
        <p:spPr>
          <a:xfrm flipH="false" flipV="false" rot="0">
            <a:off x="-821309" y="8608426"/>
            <a:ext cx="19930617" cy="3215659"/>
          </a:xfrm>
          <a:custGeom>
            <a:avLst/>
            <a:gdLst/>
            <a:ahLst/>
            <a:cxnLst/>
            <a:rect r="r" b="b" t="t" l="l"/>
            <a:pathLst>
              <a:path h="3215659" w="19930617">
                <a:moveTo>
                  <a:pt x="0" y="0"/>
                </a:moveTo>
                <a:lnTo>
                  <a:pt x="19930618" y="0"/>
                </a:lnTo>
                <a:lnTo>
                  <a:pt x="19930618" y="3215659"/>
                </a:lnTo>
                <a:lnTo>
                  <a:pt x="0" y="3215659"/>
                </a:lnTo>
                <a:lnTo>
                  <a:pt x="0" y="0"/>
                </a:lnTo>
                <a:close/>
              </a:path>
            </a:pathLst>
          </a:custGeom>
          <a:blipFill>
            <a:blip r:embed="rId3">
              <a:extLst>
                <a:ext uri="{96DAC541-7B7A-43D3-8B79-37D633B846F1}">
                  <asvg:svgBlip xmlns:asvg="http://schemas.microsoft.com/office/drawing/2016/SVG/main" r:embed="rId4"/>
                </a:ext>
              </a:extLst>
            </a:blip>
            <a:stretch>
              <a:fillRect l="0" t="-192211" r="0" b="-182709"/>
            </a:stretch>
          </a:blipFill>
          <a:ln w="190500" cap="sq">
            <a:solidFill>
              <a:srgbClr val="FEC622"/>
            </a:solidFill>
            <a:prstDash val="solid"/>
            <a:miter/>
          </a:ln>
        </p:spPr>
      </p:sp>
      <p:grpSp>
        <p:nvGrpSpPr>
          <p:cNvPr name="Group 4" id="4"/>
          <p:cNvGrpSpPr/>
          <p:nvPr/>
        </p:nvGrpSpPr>
        <p:grpSpPr>
          <a:xfrm rot="839324">
            <a:off x="-1225746" y="8253820"/>
            <a:ext cx="4125934" cy="3069472"/>
            <a:chOff x="0" y="0"/>
            <a:chExt cx="3778781" cy="2811209"/>
          </a:xfrm>
        </p:grpSpPr>
        <p:sp>
          <p:nvSpPr>
            <p:cNvPr name="Freeform 5" id="5"/>
            <p:cNvSpPr/>
            <p:nvPr/>
          </p:nvSpPr>
          <p:spPr>
            <a:xfrm flipH="false" flipV="false" rot="0">
              <a:off x="0" y="0"/>
              <a:ext cx="3778781" cy="2811209"/>
            </a:xfrm>
            <a:custGeom>
              <a:avLst/>
              <a:gdLst/>
              <a:ahLst/>
              <a:cxnLst/>
              <a:rect r="r" b="b" t="t" l="l"/>
              <a:pathLst>
                <a:path h="2811209" w="3778781">
                  <a:moveTo>
                    <a:pt x="3778781" y="1858239"/>
                  </a:moveTo>
                  <a:lnTo>
                    <a:pt x="0" y="2811209"/>
                  </a:lnTo>
                  <a:lnTo>
                    <a:pt x="0" y="952969"/>
                  </a:lnTo>
                  <a:lnTo>
                    <a:pt x="3778781" y="0"/>
                  </a:lnTo>
                  <a:close/>
                </a:path>
              </a:pathLst>
            </a:custGeom>
            <a:solidFill>
              <a:srgbClr val="FEC622"/>
            </a:solidFill>
            <a:ln cap="sq" w="12700">
              <a:solidFill>
                <a:srgbClr val="000000"/>
              </a:solidFill>
              <a:prstDash val="solid"/>
              <a:miter/>
            </a:ln>
          </p:spPr>
        </p:sp>
      </p:grpSp>
      <p:sp>
        <p:nvSpPr>
          <p:cNvPr name="TextBox 6" id="6"/>
          <p:cNvSpPr txBox="true"/>
          <p:nvPr/>
        </p:nvSpPr>
        <p:spPr>
          <a:xfrm rot="0">
            <a:off x="3564777" y="8814098"/>
            <a:ext cx="8601920" cy="1193800"/>
          </a:xfrm>
          <a:prstGeom prst="rect">
            <a:avLst/>
          </a:prstGeom>
        </p:spPr>
        <p:txBody>
          <a:bodyPr anchor="t" rtlCol="false" tIns="0" lIns="0" bIns="0" rIns="0">
            <a:spAutoFit/>
          </a:bodyPr>
          <a:lstStyle/>
          <a:p>
            <a:pPr algn="l" marL="0" indent="0" lvl="0">
              <a:lnSpc>
                <a:spcPts val="9799"/>
              </a:lnSpc>
              <a:spcBef>
                <a:spcPct val="0"/>
              </a:spcBef>
            </a:pPr>
            <a:r>
              <a:rPr lang="en-US" b="true" sz="6999">
                <a:solidFill>
                  <a:srgbClr val="000000"/>
                </a:solidFill>
                <a:latin typeface="Montserrat Bold"/>
                <a:ea typeface="Montserrat Bold"/>
                <a:cs typeface="Montserrat Bold"/>
                <a:sym typeface="Montserrat Bold"/>
              </a:rPr>
              <a:t>ANY QUESTIONS?</a:t>
            </a:r>
          </a:p>
        </p:txBody>
      </p:sp>
      <p:sp>
        <p:nvSpPr>
          <p:cNvPr name="Freeform 7" id="7"/>
          <p:cNvSpPr/>
          <p:nvPr/>
        </p:nvSpPr>
        <p:spPr>
          <a:xfrm flipH="false" flipV="false" rot="0">
            <a:off x="676126" y="2148246"/>
            <a:ext cx="5777303" cy="5914858"/>
          </a:xfrm>
          <a:custGeom>
            <a:avLst/>
            <a:gdLst/>
            <a:ahLst/>
            <a:cxnLst/>
            <a:rect r="r" b="b" t="t" l="l"/>
            <a:pathLst>
              <a:path h="5914858" w="5777303">
                <a:moveTo>
                  <a:pt x="0" y="0"/>
                </a:moveTo>
                <a:lnTo>
                  <a:pt x="5777303" y="0"/>
                </a:lnTo>
                <a:lnTo>
                  <a:pt x="5777303" y="5914858"/>
                </a:lnTo>
                <a:lnTo>
                  <a:pt x="0" y="5914858"/>
                </a:lnTo>
                <a:lnTo>
                  <a:pt x="0" y="0"/>
                </a:lnTo>
                <a:close/>
              </a:path>
            </a:pathLst>
          </a:custGeom>
          <a:blipFill>
            <a:blip r:embed="rId5">
              <a:extLst>
                <a:ext uri="{96DAC541-7B7A-43D3-8B79-37D633B846F1}">
                  <asvg:svgBlip xmlns:asvg="http://schemas.microsoft.com/office/drawing/2016/SVG/main" r:embed="rId6"/>
                </a:ext>
              </a:extLst>
            </a:blip>
            <a:stretch>
              <a:fillRect l="-229858" t="-333507" r="-269828" b="-30692"/>
            </a:stretch>
          </a:blipFill>
        </p:spPr>
      </p:sp>
      <p:sp>
        <p:nvSpPr>
          <p:cNvPr name="Freeform 8" id="8"/>
          <p:cNvSpPr/>
          <p:nvPr/>
        </p:nvSpPr>
        <p:spPr>
          <a:xfrm flipH="false" flipV="false" rot="0">
            <a:off x="1800420" y="826441"/>
            <a:ext cx="3700019" cy="3788115"/>
          </a:xfrm>
          <a:custGeom>
            <a:avLst/>
            <a:gdLst/>
            <a:ahLst/>
            <a:cxnLst/>
            <a:rect r="r" b="b" t="t" l="l"/>
            <a:pathLst>
              <a:path h="3788115" w="3700019">
                <a:moveTo>
                  <a:pt x="0" y="0"/>
                </a:moveTo>
                <a:lnTo>
                  <a:pt x="3700020" y="0"/>
                </a:lnTo>
                <a:lnTo>
                  <a:pt x="3700020" y="3788115"/>
                </a:lnTo>
                <a:lnTo>
                  <a:pt x="0" y="3788115"/>
                </a:lnTo>
                <a:lnTo>
                  <a:pt x="0" y="0"/>
                </a:lnTo>
                <a:close/>
              </a:path>
            </a:pathLst>
          </a:custGeom>
          <a:blipFill>
            <a:blip r:embed="rId5">
              <a:extLst>
                <a:ext uri="{96DAC541-7B7A-43D3-8B79-37D633B846F1}">
                  <asvg:svgBlip xmlns:asvg="http://schemas.microsoft.com/office/drawing/2016/SVG/main" r:embed="rId6"/>
                </a:ext>
              </a:extLst>
            </a:blip>
            <a:stretch>
              <a:fillRect l="-229858" t="-333507" r="-269828" b="-30692"/>
            </a:stretch>
          </a:blipFill>
        </p:spPr>
      </p:sp>
      <p:sp>
        <p:nvSpPr>
          <p:cNvPr name="Freeform 9" id="9"/>
          <p:cNvSpPr/>
          <p:nvPr/>
        </p:nvSpPr>
        <p:spPr>
          <a:xfrm flipH="false" flipV="false" rot="0">
            <a:off x="1425352" y="1602924"/>
            <a:ext cx="6147328" cy="7005502"/>
          </a:xfrm>
          <a:custGeom>
            <a:avLst/>
            <a:gdLst/>
            <a:ahLst/>
            <a:cxnLst/>
            <a:rect r="r" b="b" t="t" l="l"/>
            <a:pathLst>
              <a:path h="7005502" w="6147328">
                <a:moveTo>
                  <a:pt x="0" y="0"/>
                </a:moveTo>
                <a:lnTo>
                  <a:pt x="6147328" y="0"/>
                </a:lnTo>
                <a:lnTo>
                  <a:pt x="6147328" y="7005502"/>
                </a:lnTo>
                <a:lnTo>
                  <a:pt x="0" y="70055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0" id="10"/>
          <p:cNvGrpSpPr>
            <a:grpSpLocks noChangeAspect="true"/>
          </p:cNvGrpSpPr>
          <p:nvPr/>
        </p:nvGrpSpPr>
        <p:grpSpPr>
          <a:xfrm rot="0">
            <a:off x="7818760" y="1028700"/>
            <a:ext cx="9440540" cy="7579726"/>
            <a:chOff x="0" y="0"/>
            <a:chExt cx="7467600" cy="5995670"/>
          </a:xfrm>
        </p:grpSpPr>
        <p:sp>
          <p:nvSpPr>
            <p:cNvPr name="Freeform 11" id="11"/>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12" id="12"/>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name="Freeform 13" id="13"/>
            <p:cNvSpPr/>
            <p:nvPr/>
          </p:nvSpPr>
          <p:spPr>
            <a:xfrm flipH="false" flipV="false" rot="0">
              <a:off x="2429510" y="5210810"/>
              <a:ext cx="2606040" cy="791210"/>
            </a:xfrm>
            <a:custGeom>
              <a:avLst/>
              <a:gdLst/>
              <a:ahLst/>
              <a:cxnLst/>
              <a:rect r="r" b="b" t="t" l="l"/>
              <a:pathLst>
                <a:path h="791210" w="260604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BBBBBB"/>
            </a:solidFill>
          </p:spPr>
        </p:sp>
        <p:sp>
          <p:nvSpPr>
            <p:cNvPr name="Freeform 14" id="14"/>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solidFill>
              <a:srgbClr val="FFFFFF"/>
            </a:solidFill>
            <a:ln w="12700">
              <a:solidFill>
                <a:srgbClr val="000000"/>
              </a:solidFill>
            </a:ln>
          </p:spPr>
        </p:sp>
      </p:grpSp>
      <p:sp>
        <p:nvSpPr>
          <p:cNvPr name="TextBox 15" id="15"/>
          <p:cNvSpPr txBox="true"/>
          <p:nvPr/>
        </p:nvSpPr>
        <p:spPr>
          <a:xfrm rot="0">
            <a:off x="6699327" y="1336224"/>
            <a:ext cx="11679406" cy="4840247"/>
          </a:xfrm>
          <a:prstGeom prst="rect">
            <a:avLst/>
          </a:prstGeom>
        </p:spPr>
        <p:txBody>
          <a:bodyPr anchor="t" rtlCol="false" tIns="0" lIns="0" bIns="0" rIns="0">
            <a:spAutoFit/>
          </a:bodyPr>
          <a:lstStyle/>
          <a:p>
            <a:pPr algn="ctr">
              <a:lnSpc>
                <a:spcPts val="19453"/>
              </a:lnSpc>
            </a:pPr>
            <a:r>
              <a:rPr lang="en-US" sz="13895" b="true">
                <a:solidFill>
                  <a:srgbClr val="000000"/>
                </a:solidFill>
                <a:latin typeface="Montserrat Bold"/>
                <a:ea typeface="Montserrat Bold"/>
                <a:cs typeface="Montserrat Bold"/>
                <a:sym typeface="Montserrat Bold"/>
              </a:rPr>
              <a:t>THANK</a:t>
            </a:r>
            <a:r>
              <a:rPr lang="en-US" sz="13895" b="true">
                <a:solidFill>
                  <a:srgbClr val="000000"/>
                </a:solidFill>
                <a:latin typeface="Montserrat Bold"/>
                <a:ea typeface="Montserrat Bold"/>
                <a:cs typeface="Montserrat Bold"/>
                <a:sym typeface="Montserrat Bold"/>
              </a:rPr>
              <a:t> </a:t>
            </a:r>
          </a:p>
          <a:p>
            <a:pPr algn="ctr" marL="0" indent="0" lvl="0">
              <a:lnSpc>
                <a:spcPts val="19453"/>
              </a:lnSpc>
              <a:spcBef>
                <a:spcPct val="0"/>
              </a:spcBef>
            </a:pPr>
            <a:r>
              <a:rPr lang="en-US" b="true" sz="13895">
                <a:solidFill>
                  <a:srgbClr val="000000"/>
                </a:solidFill>
                <a:latin typeface="Montserrat Bold"/>
                <a:ea typeface="Montserrat Bold"/>
                <a:cs typeface="Montserrat Bold"/>
                <a:sym typeface="Montserrat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DAGpgA-4mP0</dc:identifier>
  <dcterms:modified xsi:type="dcterms:W3CDTF">2011-08-01T06:04:30Z</dcterms:modified>
  <cp:revision>1</cp:revision>
  <dc:title>Onboarding</dc:title>
</cp:coreProperties>
</file>